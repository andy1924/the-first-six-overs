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claim, not on the method. One line: 1,227 IPL matches, two questions — did the toss matter, did the powerplay matter. Answer up front: toss barely, powerplay clearly. Detail follows.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eight beats once, quickly, then move on. This is the map the rest of the deck walks: title, aim, theory, data and its source, cleaning, implementation, analysis, conclusion.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stakes: this is a claim everyone repeats. We treat it as a hypothesis.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sections. Aim, theory, data, implementation, analysis, conclusion.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six questions in two rows. Emphasise the leakage rule — it is the design decision that makes the model honest.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Small slide, big point: pre-registered hypotheses. α = 0.05 throughout.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Necessary context before any number: what the powerplay is, and why it is a trade-off rather than a free run-scoring window.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The importance is the trade-off: attacking raises the ceiling and the variance at the same time. That is why wickets later turn out to matter more than runs.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slides: the description and its reference, then the cleaning rules.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Cricsheet is the reference dataset for cricket analytics. Stress that this is the full population of completed IPL matches, so the confidence intervals describe the league, not an experiment.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slide for reproducibility. The single script reads the raw JSON and regenerates every number in this deck — no manual steps, and the raw download is never written to.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Tooling slide. Short: packages, outputs, and the guarantee that everything is traceable.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slide — keep it to a minute. The point is auditability: no spreadsheet steps, no hand-tuned numbers.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of the talk — eight slides. Pace: roughly one minute each, more on the heatmap and the regression.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Descriptive slide. Two things to say: the mean sits above the median because a few innings explode, and the excess kurtosis tells you the tails matter. This is why the analysis uses bands and a logistic model rather than the mean alone.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number everyone expects to be bigger. 51.3% against 48.7% — a 2.6 point gap. The confidence interval runs from 48.5 to 54.1, so 50% is well inside it, and the chi-square p-value of 0.183 means we cannot reject independence. The toss is a coin.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Secondary finding, flagged as such: among toss winners, electing to field is associated with an 8.5-point higher win rate. Two caveats — it is recomputed from the cleaned CSV rather than part of the pre-registered toss test, and teams that choose to bat may differ systematically. Association, not proof.</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Significant, but look at the violin plots — the overlap is enormous. Statistically significant is not the same as useful for prediction. That distinction sets up the heatmap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most important chart in the deck. Hold on it. The vertical axis — runs — matters far less than the horizontal axis — wickets. A team that is 60 for none wins about 77% of the time; a team that is 60 for three, roughly 35%. Protection beats acceleration.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caution for the room: the goodness-of-fit p-value near 0.002 was recomputed from the cleaned CSV, so quote it as approximate. The qualitative result is what matters — the tails are thinner than Poisson, which means wicket loss is a managed, deliberate process, not a memoryless one.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that answers RQ6. Wickets carry the signal, runs carry a smaller one, and the toss confidence interval sits across 1.0 — no effect. Note the honest caveat: an odds ratio of 0.60 is an association, not a lever.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confounder slide in disguise. If the powerplay caused wins, the teams with high run rates would convert consistently. They do not.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verdict, then spend real time on the limitations. Exam answers live here.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six rows quickly, land on RQ6, then say the verdict sentence verbatim. This is the sentence the grader is looking for.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skip this slide — for a statistics module it is often where the marks are. Association is not causation, and the reverse path is subtle: a team that is cruising protects wickets, so part of the effect runs the other way.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verdict and stop. Invite questions on the bowling side: wicket protection looks like the real lever, and the next version of this study should test it properly.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2E9"/>
        </a:solidFill>
        <a:effectLst/>
      </p:bgPr>
    </p:bg>
    <p:spTree>
      <p:nvGrpSpPr>
        <p:cNvPr id="1" name=""/>
        <p:cNvGrpSpPr/>
        <p:nvPr/>
      </p:nvGrpSpPr>
      <p:grpSpPr/>
      <p:sp>
        <p:nvSpPr>
          <p:cNvPr id="2" name="TextBox 1"/>
          <p:cNvSpPr txBox="1"/>
          <p:nvPr/>
        </p:nvSpPr>
        <p:spPr>
          <a:xfrm>
            <a:off x="658368" y="420624"/>
            <a:ext cx="7315200"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A8102F"/>
                </a:solidFill>
                <a:latin typeface="Consolas"/>
              </a:rPr>
              <a:t>MINI PROJECT · PROBABILITY &amp; STATISTICS</a:t>
            </a:r>
          </a:p>
        </p:txBody>
      </p:sp>
      <p:sp>
        <p:nvSpPr>
          <p:cNvPr id="3" name="TextBox 2"/>
          <p:cNvSpPr txBox="1"/>
          <p:nvPr/>
        </p:nvSpPr>
        <p:spPr>
          <a:xfrm>
            <a:off x="7692847" y="420624"/>
            <a:ext cx="3840480" cy="274320"/>
          </a:xfrm>
          <a:prstGeom prst="rect">
            <a:avLst/>
          </a:prstGeom>
          <a:noFill/>
        </p:spPr>
        <p:txBody>
          <a:bodyPr wrap="square" anchor="t" lIns="0" rIns="0" tIns="0" bIns="0">
            <a:noAutofit/>
          </a:bodyPr>
          <a:lstStyle/>
          <a:p>
            <a:pPr algn="r">
              <a:spcBef>
                <a:spcPts val="0"/>
              </a:spcBef>
              <a:spcAft>
                <a:spcPts val="0"/>
              </a:spcAft>
            </a:pPr>
            <a:r>
              <a:rPr sz="850" b="0" i="0" spc="150">
                <a:solidFill>
                  <a:srgbClr val="8C8375"/>
                </a:solidFill>
                <a:latin typeface="Consolas"/>
              </a:rPr>
              <a:t>CRICSHEET · IPL 2008–2025</a:t>
            </a:r>
          </a:p>
        </p:txBody>
      </p:sp>
      <p:sp>
        <p:nvSpPr>
          <p:cNvPr id="4" name="TextBox 3"/>
          <p:cNvSpPr txBox="1"/>
          <p:nvPr/>
        </p:nvSpPr>
        <p:spPr>
          <a:xfrm>
            <a:off x="658368" y="1847088"/>
            <a:ext cx="10058400" cy="1371600"/>
          </a:xfrm>
          <a:prstGeom prst="rect">
            <a:avLst/>
          </a:prstGeom>
          <a:noFill/>
        </p:spPr>
        <p:txBody>
          <a:bodyPr wrap="square" anchor="t" lIns="0" rIns="0" tIns="0" bIns="0">
            <a:noAutofit/>
          </a:bodyPr>
          <a:lstStyle/>
          <a:p>
            <a:pPr algn="l">
              <a:lnSpc>
                <a:spcPct val="96000"/>
              </a:lnSpc>
              <a:spcBef>
                <a:spcPts val="0"/>
              </a:spcBef>
              <a:spcAft>
                <a:spcPts val="0"/>
              </a:spcAft>
            </a:pPr>
            <a:r>
              <a:rPr sz="5800" b="0" i="0" spc="-120">
                <a:solidFill>
                  <a:srgbClr val="16130F"/>
                </a:solidFill>
                <a:latin typeface="Palatino Linotype"/>
              </a:rPr>
              <a:t>The First </a:t>
            </a:r>
            <a:r>
              <a:rPr sz="5800" b="0" i="0" spc="-120">
                <a:solidFill>
                  <a:srgbClr val="A8102F"/>
                </a:solidFill>
                <a:latin typeface="Palatino Linotype"/>
              </a:rPr>
              <a:t>Six </a:t>
            </a:r>
            <a:r>
              <a:rPr sz="5800" b="0" i="0" spc="-120">
                <a:solidFill>
                  <a:srgbClr val="16130F"/>
                </a:solidFill>
                <a:latin typeface="Palatino Linotype"/>
              </a:rPr>
              <a:t>Overs</a:t>
            </a:r>
          </a:p>
        </p:txBody>
      </p:sp>
      <p:sp>
        <p:nvSpPr>
          <p:cNvPr id="5" name="Rectangle 4"/>
          <p:cNvSpPr/>
          <p:nvPr/>
        </p:nvSpPr>
        <p:spPr>
          <a:xfrm>
            <a:off x="658368" y="3310128"/>
            <a:ext cx="1051560" cy="27432"/>
          </a:xfrm>
          <a:prstGeom prst="rect">
            <a:avLst/>
          </a:prstGeom>
          <a:solidFill>
            <a:srgbClr val="161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602736"/>
            <a:ext cx="7680960" cy="1280160"/>
          </a:xfrm>
          <a:prstGeom prst="rect">
            <a:avLst/>
          </a:prstGeom>
          <a:noFill/>
        </p:spPr>
        <p:txBody>
          <a:bodyPr wrap="square" anchor="t" lIns="0" rIns="0" tIns="0" bIns="0">
            <a:noAutofit/>
          </a:bodyPr>
          <a:lstStyle/>
          <a:p>
            <a:pPr algn="l">
              <a:lnSpc>
                <a:spcPct val="144000"/>
              </a:lnSpc>
              <a:spcBef>
                <a:spcPts val="0"/>
              </a:spcBef>
              <a:spcAft>
                <a:spcPts val="0"/>
              </a:spcAft>
            </a:pPr>
            <a:r>
              <a:rPr sz="1450" b="0" i="0">
                <a:solidFill>
                  <a:srgbClr val="16130F"/>
                </a:solidFill>
                <a:latin typeface="Georgia"/>
              </a:rPr>
              <a:t>Broadcasts say the powerplay sets up the match. This project tests that claim with </a:t>
            </a:r>
            <a:r>
              <a:rPr sz="1450" b="1" i="0">
                <a:solidFill>
                  <a:srgbClr val="16130F"/>
                </a:solidFill>
                <a:latin typeface="Georgia"/>
              </a:rPr>
              <a:t>1,227 IPL matches</a:t>
            </a:r>
            <a:r>
              <a:rPr sz="1450" b="0" i="0">
                <a:solidFill>
                  <a:srgbClr val="16130F"/>
                </a:solidFill>
                <a:latin typeface="Georgia"/>
              </a:rPr>
              <a:t> — and finds the toss is close to worthless, while </a:t>
            </a:r>
            <a:r>
              <a:rPr sz="1450" b="1" i="0">
                <a:solidFill>
                  <a:srgbClr val="16130F"/>
                </a:solidFill>
                <a:latin typeface="Georgia"/>
              </a:rPr>
              <a:t>wickets lost</a:t>
            </a:r>
            <a:r>
              <a:rPr sz="1450" b="0" i="0">
                <a:solidFill>
                  <a:srgbClr val="16130F"/>
                </a:solidFill>
                <a:latin typeface="Georgia"/>
              </a:rPr>
              <a:t> in the first six overs are not.</a:t>
            </a:r>
          </a:p>
        </p:txBody>
      </p:sp>
      <p:cxnSp>
        <p:nvCxnSpPr>
          <p:cNvPr id="7" name="Connector 6"/>
          <p:cNvCxnSpPr/>
          <p:nvPr/>
        </p:nvCxnSpPr>
        <p:spPr>
          <a:xfrm>
            <a:off x="658368" y="5358384"/>
            <a:ext cx="10874959" cy="0"/>
          </a:xfrm>
          <a:prstGeom prst="line">
            <a:avLst/>
          </a:prstGeom>
          <a:ln w="9525">
            <a:solidFill>
              <a:srgbClr val="D9D1C0"/>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5504688"/>
            <a:ext cx="10874959" cy="274320"/>
          </a:xfrm>
          <a:prstGeom prst="rect">
            <a:avLst/>
          </a:prstGeom>
          <a:noFill/>
        </p:spPr>
        <p:txBody>
          <a:bodyPr wrap="square" anchor="t" lIns="0" rIns="0" tIns="0" bIns="0">
            <a:noAutofit/>
          </a:bodyPr>
          <a:lstStyle/>
          <a:p>
            <a:pPr algn="l">
              <a:spcBef>
                <a:spcPts val="0"/>
              </a:spcBef>
              <a:spcAft>
                <a:spcPts val="0"/>
              </a:spcAft>
            </a:pPr>
            <a:r>
              <a:rPr sz="850" b="0" i="0" spc="140">
                <a:solidFill>
                  <a:srgbClr val="8C8375"/>
                </a:solidFill>
                <a:latin typeface="Consolas"/>
              </a:rPr>
              <a:t>2,454 TEAM INNINGS</a:t>
            </a:r>
            <a:r>
              <a:rPr sz="850" b="0" i="0">
                <a:solidFill>
                  <a:srgbClr val="D9D1C0"/>
                </a:solidFill>
                <a:latin typeface="Consolas"/>
              </a:rPr>
              <a:t>      ·      </a:t>
            </a:r>
            <a:r>
              <a:rPr sz="850" b="0" i="0" spc="140">
                <a:solidFill>
                  <a:srgbClr val="8C8375"/>
                </a:solidFill>
                <a:latin typeface="Consolas"/>
              </a:rPr>
              <a:t>18 SEASONS · 15 TEAMS · 60 VENUES</a:t>
            </a:r>
            <a:r>
              <a:rPr sz="850" b="0" i="0">
                <a:solidFill>
                  <a:srgbClr val="D9D1C0"/>
                </a:solidFill>
                <a:latin typeface="Consolas"/>
              </a:rPr>
              <a:t>      ·      </a:t>
            </a:r>
            <a:r>
              <a:rPr sz="850" b="0" i="0" spc="140">
                <a:solidFill>
                  <a:srgbClr val="8C8375"/>
                </a:solidFill>
                <a:latin typeface="Consolas"/>
              </a:rPr>
              <a:t>R · ONE REPRODUCIBLE SCRIPT</a:t>
            </a:r>
          </a:p>
        </p:txBody>
      </p:sp>
    </p:spTree>
  </p:cSld>
  <p:clrMapOvr>
    <a:masterClrMapping/>
  </p:clrMapOvr>
  <p:transition spd="med">
    <p:push dir="u"/>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2E9"/>
        </a:solidFill>
        <a:effectLst/>
      </p:bgPr>
    </p:bg>
    <p:spTree>
      <p:nvGrpSpPr>
        <p:cNvPr id="1" name=""/>
        <p:cNvGrpSpPr/>
        <p:nvPr/>
      </p:nvGrpSpPr>
      <p:grpSpPr/>
      <p:sp>
        <p:nvSpPr>
          <p:cNvPr id="2" name="TextBox 1"/>
          <p:cNvSpPr txBox="1"/>
          <p:nvPr/>
        </p:nvSpPr>
        <p:spPr>
          <a:xfrm>
            <a:off x="658368" y="420624"/>
            <a:ext cx="5669280"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8C8375"/>
                </a:solidFill>
                <a:latin typeface="Consolas"/>
              </a:rPr>
              <a:t>CONTENTS</a:t>
            </a:r>
          </a:p>
        </p:txBody>
      </p:sp>
      <p:sp>
        <p:nvSpPr>
          <p:cNvPr id="3" name="TextBox 2"/>
          <p:cNvSpPr txBox="1"/>
          <p:nvPr/>
        </p:nvSpPr>
        <p:spPr>
          <a:xfrm>
            <a:off x="6961327" y="420624"/>
            <a:ext cx="4572000" cy="274320"/>
          </a:xfrm>
          <a:prstGeom prst="rect">
            <a:avLst/>
          </a:prstGeom>
          <a:noFill/>
        </p:spPr>
        <p:txBody>
          <a:bodyPr wrap="square" anchor="t" lIns="0" rIns="0" tIns="0" bIns="0">
            <a:noAutofit/>
          </a:bodyPr>
          <a:lstStyle/>
          <a:p>
            <a:pPr algn="r">
              <a:spcBef>
                <a:spcPts val="0"/>
              </a:spcBef>
              <a:spcAft>
                <a:spcPts val="0"/>
              </a:spcAft>
            </a:pPr>
            <a:r>
              <a:rPr sz="850" b="0" i="0" spc="150">
                <a:solidFill>
                  <a:srgbClr val="8C8375"/>
                </a:solidFill>
                <a:latin typeface="Consolas"/>
              </a:rPr>
              <a:t>02 / 26</a:t>
            </a:r>
          </a:p>
        </p:txBody>
      </p:sp>
      <p:sp>
        <p:nvSpPr>
          <p:cNvPr id="4" name="TextBox 3"/>
          <p:cNvSpPr txBox="1"/>
          <p:nvPr/>
        </p:nvSpPr>
        <p:spPr>
          <a:xfrm>
            <a:off x="658368" y="841248"/>
            <a:ext cx="8778240" cy="868680"/>
          </a:xfrm>
          <a:prstGeom prst="rect">
            <a:avLst/>
          </a:prstGeom>
          <a:noFill/>
        </p:spPr>
        <p:txBody>
          <a:bodyPr wrap="square" anchor="t" lIns="0" rIns="0" tIns="0" bIns="0">
            <a:noAutofit/>
          </a:bodyPr>
          <a:lstStyle/>
          <a:p>
            <a:pPr algn="l">
              <a:lnSpc>
                <a:spcPct val="102000"/>
              </a:lnSpc>
              <a:spcBef>
                <a:spcPts val="0"/>
              </a:spcBef>
              <a:spcAft>
                <a:spcPts val="0"/>
              </a:spcAft>
            </a:pPr>
            <a:r>
              <a:rPr sz="2600" b="0" i="0" spc="-30">
                <a:solidFill>
                  <a:srgbClr val="16130F"/>
                </a:solidFill>
                <a:latin typeface="Palatino Linotype"/>
              </a:rPr>
              <a:t>Eight beats, in the order the brief asks for.</a:t>
            </a:r>
          </a:p>
        </p:txBody>
      </p:sp>
      <p:sp>
        <p:nvSpPr>
          <p:cNvPr id="5" name="Rectangle 4"/>
          <p:cNvSpPr/>
          <p:nvPr/>
        </p:nvSpPr>
        <p:spPr>
          <a:xfrm>
            <a:off x="658368" y="1883664"/>
            <a:ext cx="5117439" cy="22860"/>
          </a:xfrm>
          <a:prstGeom prst="rect">
            <a:avLst/>
          </a:prstGeom>
          <a:solidFill>
            <a:srgbClr val="161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993392"/>
            <a:ext cx="402336"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A8102F"/>
                </a:solidFill>
                <a:latin typeface="Consolas"/>
              </a:rPr>
              <a:t>01</a:t>
            </a:r>
          </a:p>
        </p:txBody>
      </p:sp>
      <p:sp>
        <p:nvSpPr>
          <p:cNvPr id="7" name="TextBox 6"/>
          <p:cNvSpPr txBox="1"/>
          <p:nvPr/>
        </p:nvSpPr>
        <p:spPr>
          <a:xfrm>
            <a:off x="1133856" y="1965960"/>
            <a:ext cx="4641951" cy="292608"/>
          </a:xfrm>
          <a:prstGeom prst="rect">
            <a:avLst/>
          </a:prstGeom>
          <a:noFill/>
        </p:spPr>
        <p:txBody>
          <a:bodyPr wrap="square" anchor="t" lIns="0" rIns="0" tIns="0" bIns="0">
            <a:noAutofit/>
          </a:bodyPr>
          <a:lstStyle/>
          <a:p>
            <a:pPr algn="l">
              <a:spcBef>
                <a:spcPts val="0"/>
              </a:spcBef>
              <a:spcAft>
                <a:spcPts val="0"/>
              </a:spcAft>
            </a:pPr>
            <a:r>
              <a:rPr sz="1300" b="0" i="0" spc="-10">
                <a:solidFill>
                  <a:srgbClr val="16130F"/>
                </a:solidFill>
                <a:latin typeface="Palatino Linotype"/>
              </a:rPr>
              <a:t>Project title</a:t>
            </a:r>
          </a:p>
        </p:txBody>
      </p:sp>
      <p:sp>
        <p:nvSpPr>
          <p:cNvPr id="8" name="TextBox 7"/>
          <p:cNvSpPr txBox="1"/>
          <p:nvPr/>
        </p:nvSpPr>
        <p:spPr>
          <a:xfrm>
            <a:off x="1133856" y="2286000"/>
            <a:ext cx="4641951" cy="329184"/>
          </a:xfrm>
          <a:prstGeom prst="rect">
            <a:avLst/>
          </a:prstGeom>
          <a:noFill/>
        </p:spPr>
        <p:txBody>
          <a:bodyPr wrap="square" anchor="t" lIns="0" rIns="0" tIns="0" bIns="0">
            <a:noAutofit/>
          </a:bodyPr>
          <a:lstStyle/>
          <a:p>
            <a:pPr algn="l">
              <a:lnSpc>
                <a:spcPct val="120000"/>
              </a:lnSpc>
              <a:spcBef>
                <a:spcPts val="0"/>
              </a:spcBef>
              <a:spcAft>
                <a:spcPts val="0"/>
              </a:spcAft>
            </a:pPr>
            <a:r>
              <a:rPr sz="1050" b="0" i="0">
                <a:solidFill>
                  <a:srgbClr val="5B5347"/>
                </a:solidFill>
                <a:latin typeface="Georgia"/>
              </a:rPr>
              <a:t>The First Six Overs</a:t>
            </a:r>
          </a:p>
        </p:txBody>
      </p:sp>
      <p:sp>
        <p:nvSpPr>
          <p:cNvPr id="9" name="Rectangle 8"/>
          <p:cNvSpPr/>
          <p:nvPr/>
        </p:nvSpPr>
        <p:spPr>
          <a:xfrm>
            <a:off x="658368" y="2852928"/>
            <a:ext cx="5117439" cy="22860"/>
          </a:xfrm>
          <a:prstGeom prst="rect">
            <a:avLst/>
          </a:prstGeom>
          <a:solidFill>
            <a:srgbClr val="161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962656"/>
            <a:ext cx="402336"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A8102F"/>
                </a:solidFill>
                <a:latin typeface="Consolas"/>
              </a:rPr>
              <a:t>02</a:t>
            </a:r>
          </a:p>
        </p:txBody>
      </p:sp>
      <p:sp>
        <p:nvSpPr>
          <p:cNvPr id="11" name="TextBox 10"/>
          <p:cNvSpPr txBox="1"/>
          <p:nvPr/>
        </p:nvSpPr>
        <p:spPr>
          <a:xfrm>
            <a:off x="1133856" y="2935224"/>
            <a:ext cx="4641951" cy="292608"/>
          </a:xfrm>
          <a:prstGeom prst="rect">
            <a:avLst/>
          </a:prstGeom>
          <a:noFill/>
        </p:spPr>
        <p:txBody>
          <a:bodyPr wrap="square" anchor="t" lIns="0" rIns="0" tIns="0" bIns="0">
            <a:noAutofit/>
          </a:bodyPr>
          <a:lstStyle/>
          <a:p>
            <a:pPr algn="l">
              <a:spcBef>
                <a:spcPts val="0"/>
              </a:spcBef>
              <a:spcAft>
                <a:spcPts val="0"/>
              </a:spcAft>
            </a:pPr>
            <a:r>
              <a:rPr sz="1300" b="0" i="0" spc="-10">
                <a:solidFill>
                  <a:srgbClr val="16130F"/>
                </a:solidFill>
                <a:latin typeface="Palatino Linotype"/>
              </a:rPr>
              <a:t>Aim / problem statement</a:t>
            </a:r>
          </a:p>
        </p:txBody>
      </p:sp>
      <p:sp>
        <p:nvSpPr>
          <p:cNvPr id="12" name="TextBox 11"/>
          <p:cNvSpPr txBox="1"/>
          <p:nvPr/>
        </p:nvSpPr>
        <p:spPr>
          <a:xfrm>
            <a:off x="1133856" y="3255264"/>
            <a:ext cx="4641951" cy="329184"/>
          </a:xfrm>
          <a:prstGeom prst="rect">
            <a:avLst/>
          </a:prstGeom>
          <a:noFill/>
        </p:spPr>
        <p:txBody>
          <a:bodyPr wrap="square" anchor="t" lIns="0" rIns="0" tIns="0" bIns="0">
            <a:noAutofit/>
          </a:bodyPr>
          <a:lstStyle/>
          <a:p>
            <a:pPr algn="l">
              <a:lnSpc>
                <a:spcPct val="120000"/>
              </a:lnSpc>
              <a:spcBef>
                <a:spcPts val="0"/>
              </a:spcBef>
              <a:spcAft>
                <a:spcPts val="0"/>
              </a:spcAft>
            </a:pPr>
            <a:r>
              <a:rPr sz="1050" b="0" i="0">
                <a:solidFill>
                  <a:srgbClr val="5B5347"/>
                </a:solidFill>
                <a:latin typeface="Georgia"/>
              </a:rPr>
              <a:t>Six research questions, no outcome leakage</a:t>
            </a:r>
          </a:p>
        </p:txBody>
      </p:sp>
      <p:sp>
        <p:nvSpPr>
          <p:cNvPr id="13" name="Rectangle 12"/>
          <p:cNvSpPr/>
          <p:nvPr/>
        </p:nvSpPr>
        <p:spPr>
          <a:xfrm>
            <a:off x="658368" y="3822191"/>
            <a:ext cx="5117439" cy="22860"/>
          </a:xfrm>
          <a:prstGeom prst="rect">
            <a:avLst/>
          </a:prstGeom>
          <a:solidFill>
            <a:srgbClr val="161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3931920"/>
            <a:ext cx="402336"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A8102F"/>
                </a:solidFill>
                <a:latin typeface="Consolas"/>
              </a:rPr>
              <a:t>03</a:t>
            </a:r>
          </a:p>
        </p:txBody>
      </p:sp>
      <p:sp>
        <p:nvSpPr>
          <p:cNvPr id="15" name="TextBox 14"/>
          <p:cNvSpPr txBox="1"/>
          <p:nvPr/>
        </p:nvSpPr>
        <p:spPr>
          <a:xfrm>
            <a:off x="1133856" y="3904487"/>
            <a:ext cx="4641951" cy="292608"/>
          </a:xfrm>
          <a:prstGeom prst="rect">
            <a:avLst/>
          </a:prstGeom>
          <a:noFill/>
        </p:spPr>
        <p:txBody>
          <a:bodyPr wrap="square" anchor="t" lIns="0" rIns="0" tIns="0" bIns="0">
            <a:noAutofit/>
          </a:bodyPr>
          <a:lstStyle/>
          <a:p>
            <a:pPr algn="l">
              <a:spcBef>
                <a:spcPts val="0"/>
              </a:spcBef>
              <a:spcAft>
                <a:spcPts val="0"/>
              </a:spcAft>
            </a:pPr>
            <a:r>
              <a:rPr sz="1300" b="0" i="0" spc="-10">
                <a:solidFill>
                  <a:srgbClr val="16130F"/>
                </a:solidFill>
                <a:latin typeface="Palatino Linotype"/>
              </a:rPr>
              <a:t>Domain theory</a:t>
            </a:r>
          </a:p>
        </p:txBody>
      </p:sp>
      <p:sp>
        <p:nvSpPr>
          <p:cNvPr id="16" name="TextBox 15"/>
          <p:cNvSpPr txBox="1"/>
          <p:nvPr/>
        </p:nvSpPr>
        <p:spPr>
          <a:xfrm>
            <a:off x="1133856" y="4224528"/>
            <a:ext cx="4641951" cy="329184"/>
          </a:xfrm>
          <a:prstGeom prst="rect">
            <a:avLst/>
          </a:prstGeom>
          <a:noFill/>
        </p:spPr>
        <p:txBody>
          <a:bodyPr wrap="square" anchor="t" lIns="0" rIns="0" tIns="0" bIns="0">
            <a:noAutofit/>
          </a:bodyPr>
          <a:lstStyle/>
          <a:p>
            <a:pPr algn="l">
              <a:lnSpc>
                <a:spcPct val="120000"/>
              </a:lnSpc>
              <a:spcBef>
                <a:spcPts val="0"/>
              </a:spcBef>
              <a:spcAft>
                <a:spcPts val="0"/>
              </a:spcAft>
            </a:pPr>
            <a:r>
              <a:rPr sz="1050" b="0" i="0">
                <a:solidFill>
                  <a:srgbClr val="5B5347"/>
                </a:solidFill>
                <a:latin typeface="Georgia"/>
              </a:rPr>
              <a:t>Powerplay, fielding restrictions, the toss</a:t>
            </a:r>
          </a:p>
        </p:txBody>
      </p:sp>
      <p:sp>
        <p:nvSpPr>
          <p:cNvPr id="17" name="Rectangle 16"/>
          <p:cNvSpPr/>
          <p:nvPr/>
        </p:nvSpPr>
        <p:spPr>
          <a:xfrm>
            <a:off x="658368" y="4791456"/>
            <a:ext cx="5117439" cy="22860"/>
          </a:xfrm>
          <a:prstGeom prst="rect">
            <a:avLst/>
          </a:prstGeom>
          <a:solidFill>
            <a:srgbClr val="161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4901184"/>
            <a:ext cx="402336"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A8102F"/>
                </a:solidFill>
                <a:latin typeface="Consolas"/>
              </a:rPr>
              <a:t>04</a:t>
            </a:r>
          </a:p>
        </p:txBody>
      </p:sp>
      <p:sp>
        <p:nvSpPr>
          <p:cNvPr id="19" name="TextBox 18"/>
          <p:cNvSpPr txBox="1"/>
          <p:nvPr/>
        </p:nvSpPr>
        <p:spPr>
          <a:xfrm>
            <a:off x="1133856" y="4873752"/>
            <a:ext cx="4641951" cy="292608"/>
          </a:xfrm>
          <a:prstGeom prst="rect">
            <a:avLst/>
          </a:prstGeom>
          <a:noFill/>
        </p:spPr>
        <p:txBody>
          <a:bodyPr wrap="square" anchor="t" lIns="0" rIns="0" tIns="0" bIns="0">
            <a:noAutofit/>
          </a:bodyPr>
          <a:lstStyle/>
          <a:p>
            <a:pPr algn="l">
              <a:spcBef>
                <a:spcPts val="0"/>
              </a:spcBef>
              <a:spcAft>
                <a:spcPts val="0"/>
              </a:spcAft>
            </a:pPr>
            <a:r>
              <a:rPr sz="1300" b="0" i="0" spc="-10">
                <a:solidFill>
                  <a:srgbClr val="16130F"/>
                </a:solidFill>
                <a:latin typeface="Palatino Linotype"/>
              </a:rPr>
              <a:t>Data description with reference</a:t>
            </a:r>
          </a:p>
        </p:txBody>
      </p:sp>
      <p:sp>
        <p:nvSpPr>
          <p:cNvPr id="20" name="TextBox 19"/>
          <p:cNvSpPr txBox="1"/>
          <p:nvPr/>
        </p:nvSpPr>
        <p:spPr>
          <a:xfrm>
            <a:off x="1133856" y="5193792"/>
            <a:ext cx="4641951" cy="329184"/>
          </a:xfrm>
          <a:prstGeom prst="rect">
            <a:avLst/>
          </a:prstGeom>
          <a:noFill/>
        </p:spPr>
        <p:txBody>
          <a:bodyPr wrap="square" anchor="t" lIns="0" rIns="0" tIns="0" bIns="0">
            <a:noAutofit/>
          </a:bodyPr>
          <a:lstStyle/>
          <a:p>
            <a:pPr algn="l">
              <a:lnSpc>
                <a:spcPct val="120000"/>
              </a:lnSpc>
              <a:spcBef>
                <a:spcPts val="0"/>
              </a:spcBef>
              <a:spcAft>
                <a:spcPts val="0"/>
              </a:spcAft>
            </a:pPr>
            <a:r>
              <a:rPr sz="1050" b="0" i="0">
                <a:solidFill>
                  <a:srgbClr val="5B5347"/>
                </a:solidFill>
                <a:latin typeface="Georgia"/>
              </a:rPr>
              <a:t>Cricsheet ball-by-ball IPL · cited in full</a:t>
            </a:r>
          </a:p>
        </p:txBody>
      </p:sp>
      <p:sp>
        <p:nvSpPr>
          <p:cNvPr id="21" name="Rectangle 20"/>
          <p:cNvSpPr/>
          <p:nvPr/>
        </p:nvSpPr>
        <p:spPr>
          <a:xfrm>
            <a:off x="6415887" y="1883664"/>
            <a:ext cx="5117439" cy="22860"/>
          </a:xfrm>
          <a:prstGeom prst="rect">
            <a:avLst/>
          </a:prstGeom>
          <a:solidFill>
            <a:srgbClr val="161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5887" y="1993392"/>
            <a:ext cx="402336"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A8102F"/>
                </a:solidFill>
                <a:latin typeface="Consolas"/>
              </a:rPr>
              <a:t>05</a:t>
            </a:r>
          </a:p>
        </p:txBody>
      </p:sp>
      <p:sp>
        <p:nvSpPr>
          <p:cNvPr id="23" name="TextBox 22"/>
          <p:cNvSpPr txBox="1"/>
          <p:nvPr/>
        </p:nvSpPr>
        <p:spPr>
          <a:xfrm>
            <a:off x="6891375" y="1965960"/>
            <a:ext cx="4641951" cy="292608"/>
          </a:xfrm>
          <a:prstGeom prst="rect">
            <a:avLst/>
          </a:prstGeom>
          <a:noFill/>
        </p:spPr>
        <p:txBody>
          <a:bodyPr wrap="square" anchor="t" lIns="0" rIns="0" tIns="0" bIns="0">
            <a:noAutofit/>
          </a:bodyPr>
          <a:lstStyle/>
          <a:p>
            <a:pPr algn="l">
              <a:spcBef>
                <a:spcPts val="0"/>
              </a:spcBef>
              <a:spcAft>
                <a:spcPts val="0"/>
              </a:spcAft>
            </a:pPr>
            <a:r>
              <a:rPr sz="1300" b="0" i="0" spc="-10">
                <a:solidFill>
                  <a:srgbClr val="16130F"/>
                </a:solidFill>
                <a:latin typeface="Palatino Linotype"/>
              </a:rPr>
              <a:t>Data cleaning</a:t>
            </a:r>
          </a:p>
        </p:txBody>
      </p:sp>
      <p:sp>
        <p:nvSpPr>
          <p:cNvPr id="24" name="TextBox 23"/>
          <p:cNvSpPr txBox="1"/>
          <p:nvPr/>
        </p:nvSpPr>
        <p:spPr>
          <a:xfrm>
            <a:off x="6891375" y="2286000"/>
            <a:ext cx="4641951" cy="329184"/>
          </a:xfrm>
          <a:prstGeom prst="rect">
            <a:avLst/>
          </a:prstGeom>
          <a:noFill/>
        </p:spPr>
        <p:txBody>
          <a:bodyPr wrap="square" anchor="t" lIns="0" rIns="0" tIns="0" bIns="0">
            <a:noAutofit/>
          </a:bodyPr>
          <a:lstStyle/>
          <a:p>
            <a:pPr algn="l">
              <a:lnSpc>
                <a:spcPct val="120000"/>
              </a:lnSpc>
              <a:spcBef>
                <a:spcPts val="0"/>
              </a:spcBef>
              <a:spcAft>
                <a:spcPts val="0"/>
              </a:spcAft>
            </a:pPr>
            <a:r>
              <a:rPr sz="1050" b="0" i="0">
                <a:solidFill>
                  <a:srgbClr val="5B5347"/>
                </a:solidFill>
                <a:latin typeface="Georgia"/>
              </a:rPr>
              <a:t>Filters, standardised names, derived columns</a:t>
            </a:r>
          </a:p>
        </p:txBody>
      </p:sp>
      <p:sp>
        <p:nvSpPr>
          <p:cNvPr id="25" name="Rectangle 24"/>
          <p:cNvSpPr/>
          <p:nvPr/>
        </p:nvSpPr>
        <p:spPr>
          <a:xfrm>
            <a:off x="6415887" y="2852928"/>
            <a:ext cx="5117439" cy="22860"/>
          </a:xfrm>
          <a:prstGeom prst="rect">
            <a:avLst/>
          </a:prstGeom>
          <a:solidFill>
            <a:srgbClr val="161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5887" y="2962656"/>
            <a:ext cx="402336"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A8102F"/>
                </a:solidFill>
                <a:latin typeface="Consolas"/>
              </a:rPr>
              <a:t>06</a:t>
            </a:r>
          </a:p>
        </p:txBody>
      </p:sp>
      <p:sp>
        <p:nvSpPr>
          <p:cNvPr id="27" name="TextBox 26"/>
          <p:cNvSpPr txBox="1"/>
          <p:nvPr/>
        </p:nvSpPr>
        <p:spPr>
          <a:xfrm>
            <a:off x="6891375" y="2935224"/>
            <a:ext cx="4641951" cy="292608"/>
          </a:xfrm>
          <a:prstGeom prst="rect">
            <a:avLst/>
          </a:prstGeom>
          <a:noFill/>
        </p:spPr>
        <p:txBody>
          <a:bodyPr wrap="square" anchor="t" lIns="0" rIns="0" tIns="0" bIns="0">
            <a:noAutofit/>
          </a:bodyPr>
          <a:lstStyle/>
          <a:p>
            <a:pPr algn="l">
              <a:spcBef>
                <a:spcPts val="0"/>
              </a:spcBef>
              <a:spcAft>
                <a:spcPts val="0"/>
              </a:spcAft>
            </a:pPr>
            <a:r>
              <a:rPr sz="1300" b="0" i="0" spc="-10">
                <a:solidFill>
                  <a:srgbClr val="16130F"/>
                </a:solidFill>
                <a:latin typeface="Palatino Linotype"/>
              </a:rPr>
              <a:t>Data implementation</a:t>
            </a:r>
          </a:p>
        </p:txBody>
      </p:sp>
      <p:sp>
        <p:nvSpPr>
          <p:cNvPr id="28" name="TextBox 27"/>
          <p:cNvSpPr txBox="1"/>
          <p:nvPr/>
        </p:nvSpPr>
        <p:spPr>
          <a:xfrm>
            <a:off x="6891375" y="3255264"/>
            <a:ext cx="4641951" cy="329184"/>
          </a:xfrm>
          <a:prstGeom prst="rect">
            <a:avLst/>
          </a:prstGeom>
          <a:noFill/>
        </p:spPr>
        <p:txBody>
          <a:bodyPr wrap="square" anchor="t" lIns="0" rIns="0" tIns="0" bIns="0">
            <a:noAutofit/>
          </a:bodyPr>
          <a:lstStyle/>
          <a:p>
            <a:pPr algn="l">
              <a:lnSpc>
                <a:spcPct val="120000"/>
              </a:lnSpc>
              <a:spcBef>
                <a:spcPts val="0"/>
              </a:spcBef>
              <a:spcAft>
                <a:spcPts val="0"/>
              </a:spcAft>
            </a:pPr>
            <a:r>
              <a:rPr sz="1050" b="0" i="0">
                <a:solidFill>
                  <a:srgbClr val="5B5347"/>
                </a:solidFill>
                <a:latin typeface="Georgia"/>
              </a:rPr>
              <a:t>R · cricketdata, dplyr, ggplot2, broom</a:t>
            </a:r>
          </a:p>
        </p:txBody>
      </p:sp>
      <p:sp>
        <p:nvSpPr>
          <p:cNvPr id="29" name="Rectangle 28"/>
          <p:cNvSpPr/>
          <p:nvPr/>
        </p:nvSpPr>
        <p:spPr>
          <a:xfrm>
            <a:off x="6415887" y="3822191"/>
            <a:ext cx="5117439" cy="22860"/>
          </a:xfrm>
          <a:prstGeom prst="rect">
            <a:avLst/>
          </a:prstGeom>
          <a:solidFill>
            <a:srgbClr val="161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5887" y="3931920"/>
            <a:ext cx="402336"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A8102F"/>
                </a:solidFill>
                <a:latin typeface="Consolas"/>
              </a:rPr>
              <a:t>07</a:t>
            </a:r>
          </a:p>
        </p:txBody>
      </p:sp>
      <p:sp>
        <p:nvSpPr>
          <p:cNvPr id="31" name="TextBox 30"/>
          <p:cNvSpPr txBox="1"/>
          <p:nvPr/>
        </p:nvSpPr>
        <p:spPr>
          <a:xfrm>
            <a:off x="6891375" y="3904487"/>
            <a:ext cx="4641951" cy="292608"/>
          </a:xfrm>
          <a:prstGeom prst="rect">
            <a:avLst/>
          </a:prstGeom>
          <a:noFill/>
        </p:spPr>
        <p:txBody>
          <a:bodyPr wrap="square" anchor="t" lIns="0" rIns="0" tIns="0" bIns="0">
            <a:noAutofit/>
          </a:bodyPr>
          <a:lstStyle/>
          <a:p>
            <a:pPr algn="l">
              <a:spcBef>
                <a:spcPts val="0"/>
              </a:spcBef>
              <a:spcAft>
                <a:spcPts val="0"/>
              </a:spcAft>
            </a:pPr>
            <a:r>
              <a:rPr sz="1300" b="0" i="0" spc="-10">
                <a:solidFill>
                  <a:srgbClr val="16130F"/>
                </a:solidFill>
                <a:latin typeface="Palatino Linotype"/>
              </a:rPr>
              <a:t>Data analysis</a:t>
            </a:r>
          </a:p>
        </p:txBody>
      </p:sp>
      <p:sp>
        <p:nvSpPr>
          <p:cNvPr id="32" name="TextBox 31"/>
          <p:cNvSpPr txBox="1"/>
          <p:nvPr/>
        </p:nvSpPr>
        <p:spPr>
          <a:xfrm>
            <a:off x="6891375" y="4224528"/>
            <a:ext cx="4641951" cy="329184"/>
          </a:xfrm>
          <a:prstGeom prst="rect">
            <a:avLst/>
          </a:prstGeom>
          <a:noFill/>
        </p:spPr>
        <p:txBody>
          <a:bodyPr wrap="square" anchor="t" lIns="0" rIns="0" tIns="0" bIns="0">
            <a:noAutofit/>
          </a:bodyPr>
          <a:lstStyle/>
          <a:p>
            <a:pPr algn="l">
              <a:lnSpc>
                <a:spcPct val="120000"/>
              </a:lnSpc>
              <a:spcBef>
                <a:spcPts val="0"/>
              </a:spcBef>
              <a:spcAft>
                <a:spcPts val="0"/>
              </a:spcAft>
            </a:pPr>
            <a:r>
              <a:rPr sz="1050" b="0" i="0">
                <a:solidFill>
                  <a:srgbClr val="5B5347"/>
                </a:solidFill>
                <a:latin typeface="Georgia"/>
              </a:rPr>
              <a:t>RQ1–RQ6 · tests, bands, regression</a:t>
            </a:r>
          </a:p>
        </p:txBody>
      </p:sp>
      <p:sp>
        <p:nvSpPr>
          <p:cNvPr id="33" name="Rectangle 32"/>
          <p:cNvSpPr/>
          <p:nvPr/>
        </p:nvSpPr>
        <p:spPr>
          <a:xfrm>
            <a:off x="6415887" y="4791456"/>
            <a:ext cx="5117439" cy="22860"/>
          </a:xfrm>
          <a:prstGeom prst="rect">
            <a:avLst/>
          </a:prstGeom>
          <a:solidFill>
            <a:srgbClr val="161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5887" y="4901184"/>
            <a:ext cx="402336"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A8102F"/>
                </a:solidFill>
                <a:latin typeface="Consolas"/>
              </a:rPr>
              <a:t>08</a:t>
            </a:r>
          </a:p>
        </p:txBody>
      </p:sp>
      <p:sp>
        <p:nvSpPr>
          <p:cNvPr id="35" name="TextBox 34"/>
          <p:cNvSpPr txBox="1"/>
          <p:nvPr/>
        </p:nvSpPr>
        <p:spPr>
          <a:xfrm>
            <a:off x="6891375" y="4873752"/>
            <a:ext cx="4641951" cy="292608"/>
          </a:xfrm>
          <a:prstGeom prst="rect">
            <a:avLst/>
          </a:prstGeom>
          <a:noFill/>
        </p:spPr>
        <p:txBody>
          <a:bodyPr wrap="square" anchor="t" lIns="0" rIns="0" tIns="0" bIns="0">
            <a:noAutofit/>
          </a:bodyPr>
          <a:lstStyle/>
          <a:p>
            <a:pPr algn="l">
              <a:spcBef>
                <a:spcPts val="0"/>
              </a:spcBef>
              <a:spcAft>
                <a:spcPts val="0"/>
              </a:spcAft>
            </a:pPr>
            <a:r>
              <a:rPr sz="1300" b="0" i="0" spc="-10">
                <a:solidFill>
                  <a:srgbClr val="16130F"/>
                </a:solidFill>
                <a:latin typeface="Palatino Linotype"/>
              </a:rPr>
              <a:t>Conclusion</a:t>
            </a:r>
          </a:p>
        </p:txBody>
      </p:sp>
      <p:sp>
        <p:nvSpPr>
          <p:cNvPr id="36" name="TextBox 35"/>
          <p:cNvSpPr txBox="1"/>
          <p:nvPr/>
        </p:nvSpPr>
        <p:spPr>
          <a:xfrm>
            <a:off x="6891375" y="5193792"/>
            <a:ext cx="4641951" cy="329184"/>
          </a:xfrm>
          <a:prstGeom prst="rect">
            <a:avLst/>
          </a:prstGeom>
          <a:noFill/>
        </p:spPr>
        <p:txBody>
          <a:bodyPr wrap="square" anchor="t" lIns="0" rIns="0" tIns="0" bIns="0">
            <a:noAutofit/>
          </a:bodyPr>
          <a:lstStyle/>
          <a:p>
            <a:pPr algn="l">
              <a:lnSpc>
                <a:spcPct val="120000"/>
              </a:lnSpc>
              <a:spcBef>
                <a:spcPts val="0"/>
              </a:spcBef>
              <a:spcAft>
                <a:spcPts val="0"/>
              </a:spcAft>
            </a:pPr>
            <a:r>
              <a:rPr sz="1050" b="0" i="0">
                <a:solidFill>
                  <a:srgbClr val="5B5347"/>
                </a:solidFill>
                <a:latin typeface="Georgia"/>
              </a:rPr>
              <a:t>The verdict, the limits, what stays open</a:t>
            </a:r>
          </a:p>
        </p:txBody>
      </p:sp>
      <p:sp>
        <p:nvSpPr>
          <p:cNvPr id="37" name="TextBox 36"/>
          <p:cNvSpPr txBox="1"/>
          <p:nvPr/>
        </p:nvSpPr>
        <p:spPr>
          <a:xfrm>
            <a:off x="658368" y="6272783"/>
            <a:ext cx="10874959" cy="256032"/>
          </a:xfrm>
          <a:prstGeom prst="rect">
            <a:avLst/>
          </a:prstGeom>
          <a:noFill/>
        </p:spPr>
        <p:txBody>
          <a:bodyPr wrap="square" anchor="t" lIns="0" rIns="0" tIns="0" bIns="0">
            <a:noAutofit/>
          </a:bodyPr>
          <a:lstStyle/>
          <a:p>
            <a:pPr algn="l">
              <a:spcBef>
                <a:spcPts val="0"/>
              </a:spcBef>
              <a:spcAft>
                <a:spcPts val="0"/>
              </a:spcAft>
            </a:pPr>
            <a:r>
              <a:rPr sz="850" b="0" i="0" spc="140">
                <a:solidFill>
                  <a:srgbClr val="8C8375"/>
                </a:solidFill>
                <a:latin typeface="Consolas"/>
              </a:rPr>
              <a:t>BEATS 1–8 FOLLOW IN THAT ORDER; EACH OPENS WITH ITS OWN SECTION DIVIDER.</a:t>
            </a:r>
          </a:p>
        </p:txBody>
      </p:sp>
    </p:spTree>
  </p:cSld>
  <p:clrMapOvr>
    <a:masterClrMapping/>
  </p:clrMapOvr>
  <p:transition spd="med">
    <p:push dir="u"/>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2E9"/>
        </a:solidFill>
        <a:effectLst/>
      </p:bgPr>
    </p:bg>
    <p:spTree>
      <p:nvGrpSpPr>
        <p:cNvPr id="1" name=""/>
        <p:cNvGrpSpPr/>
        <p:nvPr/>
      </p:nvGrpSpPr>
      <p:grpSpPr/>
      <p:sp>
        <p:nvSpPr>
          <p:cNvPr id="2" name="TextBox 1"/>
          <p:cNvSpPr txBox="1"/>
          <p:nvPr/>
        </p:nvSpPr>
        <p:spPr>
          <a:xfrm>
            <a:off x="658368" y="420624"/>
            <a:ext cx="5669280"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8C8375"/>
                </a:solidFill>
                <a:latin typeface="Consolas"/>
              </a:rPr>
              <a:t>BEFORE WE START</a:t>
            </a:r>
          </a:p>
        </p:txBody>
      </p:sp>
      <p:sp>
        <p:nvSpPr>
          <p:cNvPr id="3" name="TextBox 2"/>
          <p:cNvSpPr txBox="1"/>
          <p:nvPr/>
        </p:nvSpPr>
        <p:spPr>
          <a:xfrm>
            <a:off x="6961327" y="420624"/>
            <a:ext cx="4572000" cy="274320"/>
          </a:xfrm>
          <a:prstGeom prst="rect">
            <a:avLst/>
          </a:prstGeom>
          <a:noFill/>
        </p:spPr>
        <p:txBody>
          <a:bodyPr wrap="square" anchor="t" lIns="0" rIns="0" tIns="0" bIns="0">
            <a:noAutofit/>
          </a:bodyPr>
          <a:lstStyle/>
          <a:p>
            <a:pPr algn="r">
              <a:spcBef>
                <a:spcPts val="0"/>
              </a:spcBef>
              <a:spcAft>
                <a:spcPts val="0"/>
              </a:spcAft>
            </a:pPr>
            <a:r>
              <a:rPr sz="850" b="0" i="0" spc="150">
                <a:solidFill>
                  <a:srgbClr val="8C8375"/>
                </a:solidFill>
                <a:latin typeface="Consolas"/>
              </a:rPr>
              <a:t>03 / 26</a:t>
            </a:r>
          </a:p>
        </p:txBody>
      </p:sp>
      <p:sp>
        <p:nvSpPr>
          <p:cNvPr id="4" name="TextBox 3"/>
          <p:cNvSpPr txBox="1"/>
          <p:nvPr/>
        </p:nvSpPr>
        <p:spPr>
          <a:xfrm>
            <a:off x="658368" y="1481328"/>
            <a:ext cx="9692640" cy="1737360"/>
          </a:xfrm>
          <a:prstGeom prst="rect">
            <a:avLst/>
          </a:prstGeom>
          <a:noFill/>
        </p:spPr>
        <p:txBody>
          <a:bodyPr wrap="square" anchor="t" lIns="0" rIns="0" tIns="0" bIns="0">
            <a:noAutofit/>
          </a:bodyPr>
          <a:lstStyle/>
          <a:p>
            <a:pPr algn="l">
              <a:lnSpc>
                <a:spcPct val="105000"/>
              </a:lnSpc>
              <a:spcBef>
                <a:spcPts val="0"/>
              </a:spcBef>
              <a:spcAft>
                <a:spcPts val="0"/>
              </a:spcAft>
            </a:pPr>
            <a:r>
              <a:rPr sz="4000" b="0" i="0" spc="-60">
                <a:solidFill>
                  <a:srgbClr val="16130F"/>
                </a:solidFill>
                <a:latin typeface="Palatino Linotype"/>
              </a:rPr>
              <a:t>“Win the powerplay, </a:t>
            </a:r>
            <a:r>
              <a:rPr sz="4000" b="0" i="0" spc="-60">
                <a:solidFill>
                  <a:srgbClr val="A8102F"/>
                </a:solidFill>
                <a:latin typeface="Palatino Linotype"/>
              </a:rPr>
              <a:t>win the match</a:t>
            </a:r>
            <a:r>
              <a:rPr sz="4000" b="0" i="0" spc="-60">
                <a:solidFill>
                  <a:srgbClr val="16130F"/>
                </a:solidFill>
                <a:latin typeface="Palatino Linotype"/>
              </a:rPr>
              <a:t>.”</a:t>
            </a:r>
          </a:p>
        </p:txBody>
      </p:sp>
      <p:sp>
        <p:nvSpPr>
          <p:cNvPr id="5" name="TextBox 4"/>
          <p:cNvSpPr txBox="1"/>
          <p:nvPr/>
        </p:nvSpPr>
        <p:spPr>
          <a:xfrm>
            <a:off x="658368" y="2834640"/>
            <a:ext cx="9144000"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8C8375"/>
                </a:solidFill>
                <a:latin typeface="Consolas"/>
              </a:rPr>
              <a:t>COMMENTARY FOLKLORE — PRESUMED TRUE, NEVER TESTED</a:t>
            </a:r>
          </a:p>
        </p:txBody>
      </p:sp>
      <p:cxnSp>
        <p:nvCxnSpPr>
          <p:cNvPr id="6" name="Connector 5"/>
          <p:cNvCxnSpPr/>
          <p:nvPr/>
        </p:nvCxnSpPr>
        <p:spPr>
          <a:xfrm>
            <a:off x="658368" y="3401568"/>
            <a:ext cx="10874959" cy="0"/>
          </a:xfrm>
          <a:prstGeom prst="line">
            <a:avLst/>
          </a:prstGeom>
          <a:ln w="9525">
            <a:solidFill>
              <a:srgbClr val="D9D1C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3621024"/>
            <a:ext cx="8138160" cy="1280160"/>
          </a:xfrm>
          <a:prstGeom prst="rect">
            <a:avLst/>
          </a:prstGeom>
          <a:noFill/>
        </p:spPr>
        <p:txBody>
          <a:bodyPr wrap="square" anchor="t" lIns="0" rIns="0" tIns="0" bIns="0">
            <a:noAutofit/>
          </a:bodyPr>
          <a:lstStyle/>
          <a:p>
            <a:pPr algn="l">
              <a:lnSpc>
                <a:spcPct val="144000"/>
              </a:lnSpc>
              <a:spcBef>
                <a:spcPts val="0"/>
              </a:spcBef>
              <a:spcAft>
                <a:spcPts val="0"/>
              </a:spcAft>
            </a:pPr>
            <a:r>
              <a:rPr sz="1450" b="0" i="0">
                <a:solidFill>
                  <a:srgbClr val="16130F"/>
                </a:solidFill>
                <a:latin typeface="Georgia"/>
              </a:rPr>
              <a:t>Momentum is an argument from memory. Conditional probability is an argument from data. Six research questions later the folklore survives — but not the half of it that blames the toss.</a:t>
            </a:r>
          </a:p>
        </p:txBody>
      </p:sp>
    </p:spTree>
  </p:cSld>
  <p:clrMapOvr>
    <a:masterClrMapping/>
  </p:clrMapOvr>
  <p:transition spd="med">
    <p:push dir="u"/>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6130F"/>
        </a:solidFill>
        <a:effectLst/>
      </p:bgPr>
    </p:bg>
    <p:spTree>
      <p:nvGrpSpPr>
        <p:cNvPr id="1" name=""/>
        <p:cNvGrpSpPr/>
        <p:nvPr/>
      </p:nvGrpSpPr>
      <p:grpSpPr/>
      <p:sp>
        <p:nvSpPr>
          <p:cNvPr id="2" name="TextBox 1"/>
          <p:cNvSpPr txBox="1"/>
          <p:nvPr/>
        </p:nvSpPr>
        <p:spPr>
          <a:xfrm>
            <a:off x="658368" y="1005840"/>
            <a:ext cx="2926080" cy="3108960"/>
          </a:xfrm>
          <a:prstGeom prst="rect">
            <a:avLst/>
          </a:prstGeom>
          <a:noFill/>
        </p:spPr>
        <p:txBody>
          <a:bodyPr wrap="square" anchor="t" lIns="0" rIns="0" tIns="0" bIns="0">
            <a:noAutofit/>
          </a:bodyPr>
          <a:lstStyle/>
          <a:p>
            <a:pPr algn="l">
              <a:spcBef>
                <a:spcPts val="0"/>
              </a:spcBef>
              <a:spcAft>
                <a:spcPts val="0"/>
              </a:spcAft>
            </a:pPr>
            <a:r>
              <a:rPr sz="15000" b="0" i="0" spc="-600">
                <a:ln w="20000">
                  <a:solidFill>
                    <a:srgbClr val="F6F2E9">
                      <a:alpha val="42000"/>
                    </a:srgbClr>
                  </a:solidFill>
                </a:ln>
                <a:noFill/>
                <a:latin typeface="Palatino Linotype"/>
              </a:rPr>
              <a:t>01</a:t>
            </a:r>
          </a:p>
        </p:txBody>
      </p:sp>
      <p:cxnSp>
        <p:nvCxnSpPr>
          <p:cNvPr id="3" name="Connector 2"/>
          <p:cNvCxnSpPr/>
          <p:nvPr/>
        </p:nvCxnSpPr>
        <p:spPr>
          <a:xfrm>
            <a:off x="3310128" y="2103120"/>
            <a:ext cx="1809103" cy="0"/>
          </a:xfrm>
          <a:prstGeom prst="line">
            <a:avLst/>
          </a:prstGeom>
          <a:ln w="13970">
            <a:solidFill>
              <a:srgbClr val="B9B1A1"/>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3310128" y="2304288"/>
            <a:ext cx="8223199"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E8A2B3"/>
                </a:solidFill>
                <a:latin typeface="Consolas"/>
              </a:rPr>
              <a:t>SECTION 01</a:t>
            </a:r>
          </a:p>
        </p:txBody>
      </p:sp>
      <p:sp>
        <p:nvSpPr>
          <p:cNvPr id="5" name="TextBox 4"/>
          <p:cNvSpPr txBox="1"/>
          <p:nvPr/>
        </p:nvSpPr>
        <p:spPr>
          <a:xfrm>
            <a:off x="3310128" y="2670048"/>
            <a:ext cx="8223199" cy="914400"/>
          </a:xfrm>
          <a:prstGeom prst="rect">
            <a:avLst/>
          </a:prstGeom>
          <a:noFill/>
        </p:spPr>
        <p:txBody>
          <a:bodyPr wrap="square" anchor="t" lIns="0" rIns="0" tIns="0" bIns="0">
            <a:noAutofit/>
          </a:bodyPr>
          <a:lstStyle/>
          <a:p>
            <a:pPr algn="l">
              <a:lnSpc>
                <a:spcPct val="103000"/>
              </a:lnSpc>
              <a:spcBef>
                <a:spcPts val="0"/>
              </a:spcBef>
              <a:spcAft>
                <a:spcPts val="0"/>
              </a:spcAft>
            </a:pPr>
            <a:r>
              <a:rPr sz="4000" b="0" i="0" spc="-60">
                <a:solidFill>
                  <a:srgbClr val="F6F2E9"/>
                </a:solidFill>
                <a:latin typeface="Palatino Linotype"/>
              </a:rPr>
              <a:t>Aim</a:t>
            </a:r>
          </a:p>
        </p:txBody>
      </p:sp>
      <p:sp>
        <p:nvSpPr>
          <p:cNvPr id="6" name="TextBox 5"/>
          <p:cNvSpPr txBox="1"/>
          <p:nvPr/>
        </p:nvSpPr>
        <p:spPr>
          <a:xfrm>
            <a:off x="3310128" y="3639312"/>
            <a:ext cx="7071951" cy="1005840"/>
          </a:xfrm>
          <a:prstGeom prst="rect">
            <a:avLst/>
          </a:prstGeom>
          <a:noFill/>
        </p:spPr>
        <p:txBody>
          <a:bodyPr wrap="square" anchor="t" lIns="0" rIns="0" tIns="0" bIns="0">
            <a:noAutofit/>
          </a:bodyPr>
          <a:lstStyle/>
          <a:p>
            <a:pPr algn="l">
              <a:lnSpc>
                <a:spcPct val="135000"/>
              </a:lnSpc>
              <a:spcBef>
                <a:spcPts val="0"/>
              </a:spcBef>
              <a:spcAft>
                <a:spcPts val="0"/>
              </a:spcAft>
            </a:pPr>
            <a:r>
              <a:rPr sz="1250" b="0" i="0">
                <a:solidFill>
                  <a:srgbClr val="B9B1A1"/>
                </a:solidFill>
                <a:latin typeface="Georgia"/>
              </a:rPr>
              <a:t>Turn a claim made in the commentary box into a testable question about conditional probability.</a:t>
            </a:r>
          </a:p>
        </p:txBody>
      </p:sp>
      <p:sp>
        <p:nvSpPr>
          <p:cNvPr id="7" name="TextBox 6"/>
          <p:cNvSpPr txBox="1"/>
          <p:nvPr/>
        </p:nvSpPr>
        <p:spPr>
          <a:xfrm>
            <a:off x="8790127" y="6227064"/>
            <a:ext cx="2743200" cy="256032"/>
          </a:xfrm>
          <a:prstGeom prst="rect">
            <a:avLst/>
          </a:prstGeom>
          <a:noFill/>
        </p:spPr>
        <p:txBody>
          <a:bodyPr wrap="square" anchor="t" lIns="0" rIns="0" tIns="0" bIns="0">
            <a:noAutofit/>
          </a:bodyPr>
          <a:lstStyle/>
          <a:p>
            <a:pPr algn="r">
              <a:spcBef>
                <a:spcPts val="0"/>
              </a:spcBef>
              <a:spcAft>
                <a:spcPts val="0"/>
              </a:spcAft>
            </a:pPr>
            <a:r>
              <a:rPr sz="850" b="0" i="0" spc="150">
                <a:solidFill>
                  <a:srgbClr val="6E6659"/>
                </a:solidFill>
                <a:latin typeface="Consolas"/>
              </a:rPr>
              <a:t>01 · AIM</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2E9"/>
        </a:solidFill>
        <a:effectLst/>
      </p:bgPr>
    </p:bg>
    <p:spTree>
      <p:nvGrpSpPr>
        <p:cNvPr id="1" name=""/>
        <p:cNvGrpSpPr/>
        <p:nvPr/>
      </p:nvGrpSpPr>
      <p:grpSpPr/>
      <p:sp>
        <p:nvSpPr>
          <p:cNvPr id="2" name="TextBox 1"/>
          <p:cNvSpPr txBox="1"/>
          <p:nvPr/>
        </p:nvSpPr>
        <p:spPr>
          <a:xfrm>
            <a:off x="658368" y="420624"/>
            <a:ext cx="5669280"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8C8375"/>
                </a:solidFill>
                <a:latin typeface="Consolas"/>
              </a:rPr>
              <a:t>01 · AIM</a:t>
            </a:r>
          </a:p>
        </p:txBody>
      </p:sp>
      <p:sp>
        <p:nvSpPr>
          <p:cNvPr id="3" name="TextBox 2"/>
          <p:cNvSpPr txBox="1"/>
          <p:nvPr/>
        </p:nvSpPr>
        <p:spPr>
          <a:xfrm>
            <a:off x="6961327" y="420624"/>
            <a:ext cx="4572000" cy="274320"/>
          </a:xfrm>
          <a:prstGeom prst="rect">
            <a:avLst/>
          </a:prstGeom>
          <a:noFill/>
        </p:spPr>
        <p:txBody>
          <a:bodyPr wrap="square" anchor="t" lIns="0" rIns="0" tIns="0" bIns="0">
            <a:noAutofit/>
          </a:bodyPr>
          <a:lstStyle/>
          <a:p>
            <a:pPr algn="r">
              <a:spcBef>
                <a:spcPts val="0"/>
              </a:spcBef>
              <a:spcAft>
                <a:spcPts val="0"/>
              </a:spcAft>
            </a:pPr>
            <a:r>
              <a:rPr sz="850" b="0" i="0" spc="150">
                <a:solidFill>
                  <a:srgbClr val="8C8375"/>
                </a:solidFill>
                <a:latin typeface="Consolas"/>
              </a:rPr>
              <a:t>PROBLEM STATEMENT · RQ1–RQ6</a:t>
            </a:r>
          </a:p>
        </p:txBody>
      </p:sp>
      <p:sp>
        <p:nvSpPr>
          <p:cNvPr id="4" name="TextBox 3"/>
          <p:cNvSpPr txBox="1"/>
          <p:nvPr/>
        </p:nvSpPr>
        <p:spPr>
          <a:xfrm>
            <a:off x="658368" y="841248"/>
            <a:ext cx="10874959" cy="868680"/>
          </a:xfrm>
          <a:prstGeom prst="rect">
            <a:avLst/>
          </a:prstGeom>
          <a:noFill/>
        </p:spPr>
        <p:txBody>
          <a:bodyPr wrap="square" anchor="t" lIns="0" rIns="0" tIns="0" bIns="0">
            <a:noAutofit/>
          </a:bodyPr>
          <a:lstStyle/>
          <a:p>
            <a:pPr algn="l">
              <a:lnSpc>
                <a:spcPct val="102000"/>
              </a:lnSpc>
              <a:spcBef>
                <a:spcPts val="0"/>
              </a:spcBef>
              <a:spcAft>
                <a:spcPts val="0"/>
              </a:spcAft>
            </a:pPr>
            <a:r>
              <a:rPr sz="2400" b="0" i="0" spc="-30">
                <a:solidFill>
                  <a:srgbClr val="16130F"/>
                </a:solidFill>
                <a:latin typeface="Palatino Linotype"/>
              </a:rPr>
              <a:t>Estimate how the toss and the powerplay are associated with winning.</a:t>
            </a:r>
          </a:p>
        </p:txBody>
      </p:sp>
      <p:sp>
        <p:nvSpPr>
          <p:cNvPr id="5" name="TextBox 4"/>
          <p:cNvSpPr txBox="1"/>
          <p:nvPr/>
        </p:nvSpPr>
        <p:spPr>
          <a:xfrm>
            <a:off x="658368" y="1572768"/>
            <a:ext cx="10607040" cy="1463040"/>
          </a:xfrm>
          <a:prstGeom prst="rect">
            <a:avLst/>
          </a:prstGeom>
          <a:noFill/>
        </p:spPr>
        <p:txBody>
          <a:bodyPr wrap="square" anchor="t" lIns="0" rIns="0" tIns="0" bIns="0">
            <a:noAutofit/>
          </a:bodyPr>
          <a:lstStyle/>
          <a:p>
            <a:pPr algn="l">
              <a:lnSpc>
                <a:spcPct val="142000"/>
              </a:lnSpc>
              <a:spcBef>
                <a:spcPts val="0"/>
              </a:spcBef>
              <a:spcAft>
                <a:spcPts val="0"/>
              </a:spcAft>
            </a:pPr>
            <a:r>
              <a:rPr sz="1150" b="0" i="0">
                <a:solidFill>
                  <a:srgbClr val="5B5347"/>
                </a:solidFill>
                <a:latin typeface="Georgia"/>
              </a:rPr>
              <a:t>The match result is a binary outcome. Every explanatory variable is known by the end of the sixth over, so the model never sees the final score of the match it is predicting — no outcome leakage.</a:t>
            </a:r>
          </a:p>
        </p:txBody>
      </p:sp>
      <p:cxnSp>
        <p:nvCxnSpPr>
          <p:cNvPr id="6" name="Connector 5"/>
          <p:cNvCxnSpPr/>
          <p:nvPr/>
        </p:nvCxnSpPr>
        <p:spPr>
          <a:xfrm>
            <a:off x="658368" y="2249424"/>
            <a:ext cx="10874959" cy="0"/>
          </a:xfrm>
          <a:prstGeom prst="line">
            <a:avLst/>
          </a:prstGeom>
          <a:ln w="9525">
            <a:solidFill>
              <a:srgbClr val="D9D1C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2596896"/>
            <a:ext cx="502920"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A8102F"/>
                </a:solidFill>
                <a:latin typeface="Consolas"/>
              </a:rPr>
              <a:t>RQ1</a:t>
            </a:r>
          </a:p>
        </p:txBody>
      </p:sp>
      <p:sp>
        <p:nvSpPr>
          <p:cNvPr id="8" name="TextBox 7"/>
          <p:cNvSpPr txBox="1"/>
          <p:nvPr/>
        </p:nvSpPr>
        <p:spPr>
          <a:xfrm>
            <a:off x="1225295" y="2569464"/>
            <a:ext cx="4160520" cy="777240"/>
          </a:xfrm>
          <a:prstGeom prst="rect">
            <a:avLst/>
          </a:prstGeom>
          <a:noFill/>
        </p:spPr>
        <p:txBody>
          <a:bodyPr wrap="square" anchor="t" lIns="0" rIns="0" tIns="0" bIns="0">
            <a:noAutofit/>
          </a:bodyPr>
          <a:lstStyle/>
          <a:p>
            <a:pPr algn="l">
              <a:lnSpc>
                <a:spcPct val="124000"/>
              </a:lnSpc>
              <a:spcBef>
                <a:spcPts val="0"/>
              </a:spcBef>
              <a:spcAft>
                <a:spcPts val="0"/>
              </a:spcAft>
            </a:pPr>
            <a:r>
              <a:rPr sz="1150" b="0" i="0">
                <a:solidFill>
                  <a:srgbClr val="5B5347"/>
                </a:solidFill>
                <a:latin typeface="Georgia"/>
              </a:rPr>
              <a:t>Probability of winning after winning the toss?</a:t>
            </a:r>
          </a:p>
          <a:p>
            <a:pPr algn="l">
              <a:lnSpc>
                <a:spcPct val="110000"/>
              </a:lnSpc>
              <a:spcBef>
                <a:spcPts val="300"/>
              </a:spcBef>
              <a:spcAft>
                <a:spcPts val="0"/>
              </a:spcAft>
            </a:pPr>
            <a:r>
              <a:rPr sz="750" b="0" i="0" spc="120">
                <a:solidFill>
                  <a:srgbClr val="8C8375"/>
                </a:solidFill>
                <a:latin typeface="Consolas"/>
              </a:rPr>
              <a:t>CONDITIONAL PROBABILITY · BAYES</a:t>
            </a:r>
          </a:p>
        </p:txBody>
      </p:sp>
      <p:sp>
        <p:nvSpPr>
          <p:cNvPr id="9" name="TextBox 8"/>
          <p:cNvSpPr txBox="1"/>
          <p:nvPr/>
        </p:nvSpPr>
        <p:spPr>
          <a:xfrm>
            <a:off x="6278727" y="2596896"/>
            <a:ext cx="502920"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A8102F"/>
                </a:solidFill>
                <a:latin typeface="Consolas"/>
              </a:rPr>
              <a:t>RQ2</a:t>
            </a:r>
          </a:p>
        </p:txBody>
      </p:sp>
      <p:sp>
        <p:nvSpPr>
          <p:cNvPr id="10" name="TextBox 9"/>
          <p:cNvSpPr txBox="1"/>
          <p:nvPr/>
        </p:nvSpPr>
        <p:spPr>
          <a:xfrm>
            <a:off x="6845655" y="2569464"/>
            <a:ext cx="4160520" cy="777240"/>
          </a:xfrm>
          <a:prstGeom prst="rect">
            <a:avLst/>
          </a:prstGeom>
          <a:noFill/>
        </p:spPr>
        <p:txBody>
          <a:bodyPr wrap="square" anchor="t" lIns="0" rIns="0" tIns="0" bIns="0">
            <a:noAutofit/>
          </a:bodyPr>
          <a:lstStyle/>
          <a:p>
            <a:pPr algn="l">
              <a:lnSpc>
                <a:spcPct val="124000"/>
              </a:lnSpc>
              <a:spcBef>
                <a:spcPts val="0"/>
              </a:spcBef>
              <a:spcAft>
                <a:spcPts val="0"/>
              </a:spcAft>
            </a:pPr>
            <a:r>
              <a:rPr sz="1150" b="0" i="0">
                <a:solidFill>
                  <a:srgbClr val="5B5347"/>
                </a:solidFill>
                <a:latin typeface="Georgia"/>
              </a:rPr>
              <a:t>Is the toss independent of the match result?</a:t>
            </a:r>
          </a:p>
          <a:p>
            <a:pPr algn="l">
              <a:lnSpc>
                <a:spcPct val="110000"/>
              </a:lnSpc>
              <a:spcBef>
                <a:spcPts val="300"/>
              </a:spcBef>
              <a:spcAft>
                <a:spcPts val="0"/>
              </a:spcAft>
            </a:pPr>
            <a:r>
              <a:rPr sz="750" b="0" i="0" spc="120">
                <a:solidFill>
                  <a:srgbClr val="8C8375"/>
                </a:solidFill>
                <a:latin typeface="Consolas"/>
              </a:rPr>
              <a:t>CHI-SQUARE TEST OF INDEPENDENCE</a:t>
            </a:r>
          </a:p>
        </p:txBody>
      </p:sp>
      <p:sp>
        <p:nvSpPr>
          <p:cNvPr id="11" name="TextBox 10"/>
          <p:cNvSpPr txBox="1"/>
          <p:nvPr/>
        </p:nvSpPr>
        <p:spPr>
          <a:xfrm>
            <a:off x="658368" y="3785615"/>
            <a:ext cx="502920"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A8102F"/>
                </a:solidFill>
                <a:latin typeface="Consolas"/>
              </a:rPr>
              <a:t>RQ3</a:t>
            </a:r>
          </a:p>
        </p:txBody>
      </p:sp>
      <p:sp>
        <p:nvSpPr>
          <p:cNvPr id="12" name="TextBox 11"/>
          <p:cNvSpPr txBox="1"/>
          <p:nvPr/>
        </p:nvSpPr>
        <p:spPr>
          <a:xfrm>
            <a:off x="1225295" y="3758183"/>
            <a:ext cx="4160520" cy="777240"/>
          </a:xfrm>
          <a:prstGeom prst="rect">
            <a:avLst/>
          </a:prstGeom>
          <a:noFill/>
        </p:spPr>
        <p:txBody>
          <a:bodyPr wrap="square" anchor="t" lIns="0" rIns="0" tIns="0" bIns="0">
            <a:noAutofit/>
          </a:bodyPr>
          <a:lstStyle/>
          <a:p>
            <a:pPr algn="l">
              <a:lnSpc>
                <a:spcPct val="124000"/>
              </a:lnSpc>
              <a:spcBef>
                <a:spcPts val="0"/>
              </a:spcBef>
              <a:spcAft>
                <a:spcPts val="0"/>
              </a:spcAft>
            </a:pPr>
            <a:r>
              <a:rPr sz="1150" b="0" i="0">
                <a:solidFill>
                  <a:srgbClr val="5B5347"/>
                </a:solidFill>
                <a:latin typeface="Georgia"/>
              </a:rPr>
              <a:t>Do winners score more in the powerplay?</a:t>
            </a:r>
          </a:p>
          <a:p>
            <a:pPr algn="l">
              <a:lnSpc>
                <a:spcPct val="110000"/>
              </a:lnSpc>
              <a:spcBef>
                <a:spcPts val="300"/>
              </a:spcBef>
              <a:spcAft>
                <a:spcPts val="0"/>
              </a:spcAft>
            </a:pPr>
            <a:r>
              <a:rPr sz="750" b="0" i="0" spc="120">
                <a:solidFill>
                  <a:srgbClr val="8C8375"/>
                </a:solidFill>
                <a:latin typeface="Consolas"/>
              </a:rPr>
              <a:t>MEAN · VARIANCE · CI · T-TEST</a:t>
            </a:r>
          </a:p>
        </p:txBody>
      </p:sp>
      <p:sp>
        <p:nvSpPr>
          <p:cNvPr id="13" name="TextBox 12"/>
          <p:cNvSpPr txBox="1"/>
          <p:nvPr/>
        </p:nvSpPr>
        <p:spPr>
          <a:xfrm>
            <a:off x="6278727" y="3785615"/>
            <a:ext cx="502920"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A8102F"/>
                </a:solidFill>
                <a:latin typeface="Consolas"/>
              </a:rPr>
              <a:t>RQ4</a:t>
            </a:r>
          </a:p>
        </p:txBody>
      </p:sp>
      <p:sp>
        <p:nvSpPr>
          <p:cNvPr id="14" name="TextBox 13"/>
          <p:cNvSpPr txBox="1"/>
          <p:nvPr/>
        </p:nvSpPr>
        <p:spPr>
          <a:xfrm>
            <a:off x="6845655" y="3758183"/>
            <a:ext cx="4160520" cy="777240"/>
          </a:xfrm>
          <a:prstGeom prst="rect">
            <a:avLst/>
          </a:prstGeom>
          <a:noFill/>
        </p:spPr>
        <p:txBody>
          <a:bodyPr wrap="square" anchor="t" lIns="0" rIns="0" tIns="0" bIns="0">
            <a:noAutofit/>
          </a:bodyPr>
          <a:lstStyle/>
          <a:p>
            <a:pPr algn="l">
              <a:lnSpc>
                <a:spcPct val="124000"/>
              </a:lnSpc>
              <a:spcBef>
                <a:spcPts val="0"/>
              </a:spcBef>
              <a:spcAft>
                <a:spcPts val="0"/>
              </a:spcAft>
            </a:pPr>
            <a:r>
              <a:rPr sz="1150" b="0" i="0">
                <a:solidFill>
                  <a:srgbClr val="5B5347"/>
                </a:solidFill>
                <a:latin typeface="Georgia"/>
              </a:rPr>
              <a:t>Do powerplay wickets follow Poisson?</a:t>
            </a:r>
          </a:p>
          <a:p>
            <a:pPr algn="l">
              <a:lnSpc>
                <a:spcPct val="110000"/>
              </a:lnSpc>
              <a:spcBef>
                <a:spcPts val="300"/>
              </a:spcBef>
              <a:spcAft>
                <a:spcPts val="0"/>
              </a:spcAft>
            </a:pPr>
            <a:r>
              <a:rPr sz="750" b="0" i="0" spc="120">
                <a:solidFill>
                  <a:srgbClr val="8C8375"/>
                </a:solidFill>
                <a:latin typeface="Consolas"/>
              </a:rPr>
              <a:t>POISSON · GOODNESS OF FIT</a:t>
            </a:r>
          </a:p>
        </p:txBody>
      </p:sp>
      <p:sp>
        <p:nvSpPr>
          <p:cNvPr id="15" name="TextBox 14"/>
          <p:cNvSpPr txBox="1"/>
          <p:nvPr/>
        </p:nvSpPr>
        <p:spPr>
          <a:xfrm>
            <a:off x="658368" y="4974336"/>
            <a:ext cx="502920"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A8102F"/>
                </a:solidFill>
                <a:latin typeface="Consolas"/>
              </a:rPr>
              <a:t>RQ5</a:t>
            </a:r>
          </a:p>
        </p:txBody>
      </p:sp>
      <p:sp>
        <p:nvSpPr>
          <p:cNvPr id="16" name="TextBox 15"/>
          <p:cNvSpPr txBox="1"/>
          <p:nvPr/>
        </p:nvSpPr>
        <p:spPr>
          <a:xfrm>
            <a:off x="1225295" y="4946903"/>
            <a:ext cx="4160520" cy="777240"/>
          </a:xfrm>
          <a:prstGeom prst="rect">
            <a:avLst/>
          </a:prstGeom>
          <a:noFill/>
        </p:spPr>
        <p:txBody>
          <a:bodyPr wrap="square" anchor="t" lIns="0" rIns="0" tIns="0" bIns="0">
            <a:noAutofit/>
          </a:bodyPr>
          <a:lstStyle/>
          <a:p>
            <a:pPr algn="l">
              <a:lnSpc>
                <a:spcPct val="124000"/>
              </a:lnSpc>
              <a:spcBef>
                <a:spcPts val="0"/>
              </a:spcBef>
              <a:spcAft>
                <a:spcPts val="0"/>
              </a:spcAft>
            </a:pPr>
            <a:r>
              <a:rPr sz="1150" b="0" i="0">
                <a:solidFill>
                  <a:srgbClr val="5B5347"/>
                </a:solidFill>
                <a:latin typeface="Georgia"/>
              </a:rPr>
              <a:t>How does win probability move across score and wicket bands?</a:t>
            </a:r>
          </a:p>
          <a:p>
            <a:pPr algn="l">
              <a:lnSpc>
                <a:spcPct val="110000"/>
              </a:lnSpc>
              <a:spcBef>
                <a:spcPts val="300"/>
              </a:spcBef>
              <a:spcAft>
                <a:spcPts val="0"/>
              </a:spcAft>
            </a:pPr>
            <a:r>
              <a:rPr sz="750" b="0" i="0" spc="120">
                <a:solidFill>
                  <a:srgbClr val="8C8375"/>
                </a:solidFill>
                <a:latin typeface="Consolas"/>
              </a:rPr>
              <a:t>BIVARIATE · CONDITIONAL PROBABILITY</a:t>
            </a:r>
          </a:p>
        </p:txBody>
      </p:sp>
      <p:sp>
        <p:nvSpPr>
          <p:cNvPr id="17" name="TextBox 16"/>
          <p:cNvSpPr txBox="1"/>
          <p:nvPr/>
        </p:nvSpPr>
        <p:spPr>
          <a:xfrm>
            <a:off x="6278727" y="4974336"/>
            <a:ext cx="502920"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A8102F"/>
                </a:solidFill>
                <a:latin typeface="Consolas"/>
              </a:rPr>
              <a:t>RQ6</a:t>
            </a:r>
          </a:p>
        </p:txBody>
      </p:sp>
      <p:sp>
        <p:nvSpPr>
          <p:cNvPr id="18" name="TextBox 17"/>
          <p:cNvSpPr txBox="1"/>
          <p:nvPr/>
        </p:nvSpPr>
        <p:spPr>
          <a:xfrm>
            <a:off x="6845655" y="4946903"/>
            <a:ext cx="4160520" cy="777240"/>
          </a:xfrm>
          <a:prstGeom prst="rect">
            <a:avLst/>
          </a:prstGeom>
          <a:noFill/>
        </p:spPr>
        <p:txBody>
          <a:bodyPr wrap="square" anchor="t" lIns="0" rIns="0" tIns="0" bIns="0">
            <a:noAutofit/>
          </a:bodyPr>
          <a:lstStyle/>
          <a:p>
            <a:pPr algn="l">
              <a:lnSpc>
                <a:spcPct val="124000"/>
              </a:lnSpc>
              <a:spcBef>
                <a:spcPts val="0"/>
              </a:spcBef>
              <a:spcAft>
                <a:spcPts val="0"/>
              </a:spcAft>
            </a:pPr>
            <a:r>
              <a:rPr sz="1150" b="0" i="0">
                <a:solidFill>
                  <a:srgbClr val="5B5347"/>
                </a:solidFill>
                <a:latin typeface="Georgia"/>
              </a:rPr>
              <a:t>Which early variables matter most?</a:t>
            </a:r>
          </a:p>
          <a:p>
            <a:pPr algn="l">
              <a:lnSpc>
                <a:spcPct val="110000"/>
              </a:lnSpc>
              <a:spcBef>
                <a:spcPts val="300"/>
              </a:spcBef>
              <a:spcAft>
                <a:spcPts val="0"/>
              </a:spcAft>
            </a:pPr>
            <a:r>
              <a:rPr sz="750" b="0" i="0" spc="120">
                <a:solidFill>
                  <a:srgbClr val="8C8375"/>
                </a:solidFill>
                <a:latin typeface="Consolas"/>
              </a:rPr>
              <a:t>CORRELATION · LOGISTIC REGRESSION</a:t>
            </a:r>
          </a:p>
        </p:txBody>
      </p:sp>
      <p:sp>
        <p:nvSpPr>
          <p:cNvPr id="19" name="TextBox 18"/>
          <p:cNvSpPr txBox="1"/>
          <p:nvPr/>
        </p:nvSpPr>
        <p:spPr>
          <a:xfrm>
            <a:off x="658368" y="6272783"/>
            <a:ext cx="10874959" cy="256032"/>
          </a:xfrm>
          <a:prstGeom prst="rect">
            <a:avLst/>
          </a:prstGeom>
          <a:noFill/>
        </p:spPr>
        <p:txBody>
          <a:bodyPr wrap="square" anchor="t" lIns="0" rIns="0" tIns="0" bIns="0">
            <a:noAutofit/>
          </a:bodyPr>
          <a:lstStyle/>
          <a:p>
            <a:pPr algn="l">
              <a:spcBef>
                <a:spcPts val="0"/>
              </a:spcBef>
              <a:spcAft>
                <a:spcPts val="0"/>
              </a:spcAft>
            </a:pPr>
            <a:r>
              <a:rPr sz="850" b="0" i="0" spc="140">
                <a:solidFill>
                  <a:srgbClr val="8C8375"/>
                </a:solidFill>
                <a:latin typeface="Consolas"/>
              </a:rPr>
              <a:t>EXPLANATORY VARIABLES: TOSS OUTCOME · TOSS DECISION · POWERPLAY RUNS · POWERPLAY WICKETS</a:t>
            </a:r>
          </a:p>
        </p:txBody>
      </p:sp>
    </p:spTree>
  </p:cSld>
  <p:clrMapOvr>
    <a:masterClrMapping/>
  </p:clrMapOvr>
  <p:transition spd="med">
    <p:push dir="u"/>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2E9"/>
        </a:solidFill>
        <a:effectLst/>
      </p:bgPr>
    </p:bg>
    <p:spTree>
      <p:nvGrpSpPr>
        <p:cNvPr id="1" name=""/>
        <p:cNvGrpSpPr/>
        <p:nvPr/>
      </p:nvGrpSpPr>
      <p:grpSpPr/>
      <p:sp>
        <p:nvSpPr>
          <p:cNvPr id="2" name="TextBox 1"/>
          <p:cNvSpPr txBox="1"/>
          <p:nvPr/>
        </p:nvSpPr>
        <p:spPr>
          <a:xfrm>
            <a:off x="658368" y="420624"/>
            <a:ext cx="5669280"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8C8375"/>
                </a:solidFill>
                <a:latin typeface="Consolas"/>
              </a:rPr>
              <a:t>01 · AIM</a:t>
            </a:r>
          </a:p>
        </p:txBody>
      </p:sp>
      <p:sp>
        <p:nvSpPr>
          <p:cNvPr id="3" name="TextBox 2"/>
          <p:cNvSpPr txBox="1"/>
          <p:nvPr/>
        </p:nvSpPr>
        <p:spPr>
          <a:xfrm>
            <a:off x="6961327" y="420624"/>
            <a:ext cx="4572000" cy="274320"/>
          </a:xfrm>
          <a:prstGeom prst="rect">
            <a:avLst/>
          </a:prstGeom>
          <a:noFill/>
        </p:spPr>
        <p:txBody>
          <a:bodyPr wrap="square" anchor="t" lIns="0" rIns="0" tIns="0" bIns="0">
            <a:noAutofit/>
          </a:bodyPr>
          <a:lstStyle/>
          <a:p>
            <a:pPr algn="r">
              <a:spcBef>
                <a:spcPts val="0"/>
              </a:spcBef>
              <a:spcAft>
                <a:spcPts val="0"/>
              </a:spcAft>
            </a:pPr>
            <a:r>
              <a:rPr sz="850" b="0" i="0" spc="150">
                <a:solidFill>
                  <a:srgbClr val="8C8375"/>
                </a:solidFill>
                <a:latin typeface="Consolas"/>
              </a:rPr>
              <a:t>H0 / H1 · Α = 0.05</a:t>
            </a:r>
          </a:p>
        </p:txBody>
      </p:sp>
      <p:sp>
        <p:nvSpPr>
          <p:cNvPr id="4" name="TextBox 3"/>
          <p:cNvSpPr txBox="1"/>
          <p:nvPr/>
        </p:nvSpPr>
        <p:spPr>
          <a:xfrm>
            <a:off x="658368" y="841248"/>
            <a:ext cx="10874959" cy="868680"/>
          </a:xfrm>
          <a:prstGeom prst="rect">
            <a:avLst/>
          </a:prstGeom>
          <a:noFill/>
        </p:spPr>
        <p:txBody>
          <a:bodyPr wrap="square" anchor="t" lIns="0" rIns="0" tIns="0" bIns="0">
            <a:noAutofit/>
          </a:bodyPr>
          <a:lstStyle/>
          <a:p>
            <a:pPr algn="l">
              <a:lnSpc>
                <a:spcPct val="102000"/>
              </a:lnSpc>
              <a:spcBef>
                <a:spcPts val="0"/>
              </a:spcBef>
              <a:spcAft>
                <a:spcPts val="0"/>
              </a:spcAft>
            </a:pPr>
            <a:r>
              <a:rPr sz="2400" b="0" i="0" spc="-30">
                <a:solidFill>
                  <a:srgbClr val="16130F"/>
                </a:solidFill>
                <a:latin typeface="Palatino Linotype"/>
              </a:rPr>
              <a:t>Three null hypotheses, stated before the data was touched.</a:t>
            </a:r>
          </a:p>
        </p:txBody>
      </p:sp>
      <p:sp>
        <p:nvSpPr>
          <p:cNvPr id="5" name="Rectangle 4"/>
          <p:cNvSpPr/>
          <p:nvPr/>
        </p:nvSpPr>
        <p:spPr>
          <a:xfrm>
            <a:off x="658368" y="1700784"/>
            <a:ext cx="1005199" cy="22860"/>
          </a:xfrm>
          <a:prstGeom prst="rect">
            <a:avLst/>
          </a:prstGeom>
          <a:solidFill>
            <a:srgbClr val="161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847088"/>
            <a:ext cx="3350666" cy="274320"/>
          </a:xfrm>
          <a:prstGeom prst="rect">
            <a:avLst/>
          </a:prstGeom>
          <a:noFill/>
        </p:spPr>
        <p:txBody>
          <a:bodyPr wrap="square" anchor="t" lIns="0" rIns="0" tIns="0" bIns="0">
            <a:noAutofit/>
          </a:bodyPr>
          <a:lstStyle/>
          <a:p>
            <a:pPr algn="l">
              <a:spcBef>
                <a:spcPts val="0"/>
              </a:spcBef>
              <a:spcAft>
                <a:spcPts val="0"/>
              </a:spcAft>
            </a:pPr>
            <a:r>
              <a:rPr sz="900" b="0" i="0" spc="150">
                <a:solidFill>
                  <a:srgbClr val="16130F"/>
                </a:solidFill>
                <a:latin typeface="Consolas"/>
              </a:rPr>
              <a:t>TOSS IMPACT</a:t>
            </a:r>
          </a:p>
        </p:txBody>
      </p:sp>
      <p:sp>
        <p:nvSpPr>
          <p:cNvPr id="7" name="TextBox 6"/>
          <p:cNvSpPr txBox="1"/>
          <p:nvPr/>
        </p:nvSpPr>
        <p:spPr>
          <a:xfrm>
            <a:off x="658368" y="2212848"/>
            <a:ext cx="3350666" cy="1737360"/>
          </a:xfrm>
          <a:prstGeom prst="rect">
            <a:avLst/>
          </a:prstGeom>
          <a:noFill/>
        </p:spPr>
        <p:txBody>
          <a:bodyPr wrap="square" anchor="t" lIns="0" rIns="0" tIns="0" bIns="0">
            <a:noAutofit/>
          </a:bodyPr>
          <a:lstStyle/>
          <a:p>
            <a:pPr algn="l">
              <a:lnSpc>
                <a:spcPct val="136000"/>
              </a:lnSpc>
              <a:spcBef>
                <a:spcPts val="0"/>
              </a:spcBef>
              <a:spcAft>
                <a:spcPts val="0"/>
              </a:spcAft>
            </a:pPr>
            <a:r>
              <a:rPr sz="1100" b="0" i="0">
                <a:solidFill>
                  <a:srgbClr val="8C8375"/>
                </a:solidFill>
                <a:latin typeface="Consolas"/>
              </a:rPr>
              <a:t>H₀  </a:t>
            </a:r>
            <a:r>
              <a:rPr sz="1150" b="0" i="0">
                <a:solidFill>
                  <a:srgbClr val="5B5347"/>
                </a:solidFill>
                <a:latin typeface="Georgia"/>
              </a:rPr>
              <a:t>Toss result and match result are independent.</a:t>
            </a:r>
          </a:p>
          <a:p>
            <a:pPr algn="l">
              <a:lnSpc>
                <a:spcPct val="136000"/>
              </a:lnSpc>
              <a:spcBef>
                <a:spcPts val="1000"/>
              </a:spcBef>
              <a:spcAft>
                <a:spcPts val="0"/>
              </a:spcAft>
            </a:pPr>
            <a:r>
              <a:rPr sz="1100" b="0" i="0">
                <a:solidFill>
                  <a:srgbClr val="8C8375"/>
                </a:solidFill>
                <a:latin typeface="Consolas"/>
              </a:rPr>
              <a:t>H₁  </a:t>
            </a:r>
            <a:r>
              <a:rPr sz="1150" b="0" i="0">
                <a:solidFill>
                  <a:srgbClr val="5B5347"/>
                </a:solidFill>
                <a:latin typeface="Georgia"/>
              </a:rPr>
              <a:t>Toss result and match result are associated.</a:t>
            </a:r>
          </a:p>
        </p:txBody>
      </p:sp>
      <p:sp>
        <p:nvSpPr>
          <p:cNvPr id="8" name="Rectangle 7"/>
          <p:cNvSpPr/>
          <p:nvPr/>
        </p:nvSpPr>
        <p:spPr>
          <a:xfrm>
            <a:off x="4420514" y="1700784"/>
            <a:ext cx="1005199" cy="22860"/>
          </a:xfrm>
          <a:prstGeom prst="rect">
            <a:avLst/>
          </a:prstGeom>
          <a:solidFill>
            <a:srgbClr val="161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20514" y="1847088"/>
            <a:ext cx="3350666" cy="274320"/>
          </a:xfrm>
          <a:prstGeom prst="rect">
            <a:avLst/>
          </a:prstGeom>
          <a:noFill/>
        </p:spPr>
        <p:txBody>
          <a:bodyPr wrap="square" anchor="t" lIns="0" rIns="0" tIns="0" bIns="0">
            <a:noAutofit/>
          </a:bodyPr>
          <a:lstStyle/>
          <a:p>
            <a:pPr algn="l">
              <a:spcBef>
                <a:spcPts val="0"/>
              </a:spcBef>
              <a:spcAft>
                <a:spcPts val="0"/>
              </a:spcAft>
            </a:pPr>
            <a:r>
              <a:rPr sz="900" b="0" i="0" spc="150">
                <a:solidFill>
                  <a:srgbClr val="16130F"/>
                </a:solidFill>
                <a:latin typeface="Consolas"/>
              </a:rPr>
              <a:t>POWERPLAY SCORE</a:t>
            </a:r>
          </a:p>
        </p:txBody>
      </p:sp>
      <p:sp>
        <p:nvSpPr>
          <p:cNvPr id="10" name="TextBox 9"/>
          <p:cNvSpPr txBox="1"/>
          <p:nvPr/>
        </p:nvSpPr>
        <p:spPr>
          <a:xfrm>
            <a:off x="4420514" y="2212848"/>
            <a:ext cx="3350666" cy="1737360"/>
          </a:xfrm>
          <a:prstGeom prst="rect">
            <a:avLst/>
          </a:prstGeom>
          <a:noFill/>
        </p:spPr>
        <p:txBody>
          <a:bodyPr wrap="square" anchor="t" lIns="0" rIns="0" tIns="0" bIns="0">
            <a:noAutofit/>
          </a:bodyPr>
          <a:lstStyle/>
          <a:p>
            <a:pPr algn="l">
              <a:lnSpc>
                <a:spcPct val="136000"/>
              </a:lnSpc>
              <a:spcBef>
                <a:spcPts val="0"/>
              </a:spcBef>
              <a:spcAft>
                <a:spcPts val="0"/>
              </a:spcAft>
            </a:pPr>
            <a:r>
              <a:rPr sz="1100" b="0" i="0">
                <a:solidFill>
                  <a:srgbClr val="8C8375"/>
                </a:solidFill>
                <a:latin typeface="Consolas"/>
              </a:rPr>
              <a:t>H₀  </a:t>
            </a:r>
            <a:r>
              <a:rPr sz="1150" b="0" i="0">
                <a:solidFill>
                  <a:srgbClr val="5B5347"/>
                </a:solidFill>
                <a:latin typeface="Georgia"/>
              </a:rPr>
              <a:t>Winning and losing teams share the same mean powerplay score.</a:t>
            </a:r>
          </a:p>
          <a:p>
            <a:pPr algn="l">
              <a:lnSpc>
                <a:spcPct val="136000"/>
              </a:lnSpc>
              <a:spcBef>
                <a:spcPts val="1000"/>
              </a:spcBef>
              <a:spcAft>
                <a:spcPts val="0"/>
              </a:spcAft>
            </a:pPr>
            <a:r>
              <a:rPr sz="1100" b="0" i="0">
                <a:solidFill>
                  <a:srgbClr val="8C8375"/>
                </a:solidFill>
                <a:latin typeface="Consolas"/>
              </a:rPr>
              <a:t>H₁  </a:t>
            </a:r>
            <a:r>
              <a:rPr sz="1150" b="0" i="0">
                <a:solidFill>
                  <a:srgbClr val="5B5347"/>
                </a:solidFill>
                <a:latin typeface="Georgia"/>
              </a:rPr>
              <a:t>Winning teams score higher.</a:t>
            </a:r>
          </a:p>
        </p:txBody>
      </p:sp>
      <p:sp>
        <p:nvSpPr>
          <p:cNvPr id="11" name="Rectangle 10"/>
          <p:cNvSpPr/>
          <p:nvPr/>
        </p:nvSpPr>
        <p:spPr>
          <a:xfrm>
            <a:off x="8182660" y="1700784"/>
            <a:ext cx="1005199" cy="22860"/>
          </a:xfrm>
          <a:prstGeom prst="rect">
            <a:avLst/>
          </a:prstGeom>
          <a:solidFill>
            <a:srgbClr val="161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2660" y="1847088"/>
            <a:ext cx="3350666" cy="274320"/>
          </a:xfrm>
          <a:prstGeom prst="rect">
            <a:avLst/>
          </a:prstGeom>
          <a:noFill/>
        </p:spPr>
        <p:txBody>
          <a:bodyPr wrap="square" anchor="t" lIns="0" rIns="0" tIns="0" bIns="0">
            <a:noAutofit/>
          </a:bodyPr>
          <a:lstStyle/>
          <a:p>
            <a:pPr algn="l">
              <a:spcBef>
                <a:spcPts val="0"/>
              </a:spcBef>
              <a:spcAft>
                <a:spcPts val="0"/>
              </a:spcAft>
            </a:pPr>
            <a:r>
              <a:rPr sz="900" b="0" i="0" spc="150">
                <a:solidFill>
                  <a:srgbClr val="16130F"/>
                </a:solidFill>
                <a:latin typeface="Consolas"/>
              </a:rPr>
              <a:t>POWERPLAY WICKETS</a:t>
            </a:r>
          </a:p>
        </p:txBody>
      </p:sp>
      <p:sp>
        <p:nvSpPr>
          <p:cNvPr id="13" name="TextBox 12"/>
          <p:cNvSpPr txBox="1"/>
          <p:nvPr/>
        </p:nvSpPr>
        <p:spPr>
          <a:xfrm>
            <a:off x="8182660" y="2212848"/>
            <a:ext cx="3350666" cy="1737360"/>
          </a:xfrm>
          <a:prstGeom prst="rect">
            <a:avLst/>
          </a:prstGeom>
          <a:noFill/>
        </p:spPr>
        <p:txBody>
          <a:bodyPr wrap="square" anchor="t" lIns="0" rIns="0" tIns="0" bIns="0">
            <a:noAutofit/>
          </a:bodyPr>
          <a:lstStyle/>
          <a:p>
            <a:pPr algn="l">
              <a:lnSpc>
                <a:spcPct val="136000"/>
              </a:lnSpc>
              <a:spcBef>
                <a:spcPts val="0"/>
              </a:spcBef>
              <a:spcAft>
                <a:spcPts val="0"/>
              </a:spcAft>
            </a:pPr>
            <a:r>
              <a:rPr sz="1100" b="0" i="0">
                <a:solidFill>
                  <a:srgbClr val="8C8375"/>
                </a:solidFill>
                <a:latin typeface="Consolas"/>
              </a:rPr>
              <a:t>H₀  </a:t>
            </a:r>
            <a:r>
              <a:rPr sz="1150" b="0" i="0">
                <a:solidFill>
                  <a:srgbClr val="5B5347"/>
                </a:solidFill>
                <a:latin typeface="Georgia"/>
              </a:rPr>
              <a:t>Wickets lost follow a Poisson distribution with estimated λ.</a:t>
            </a:r>
          </a:p>
          <a:p>
            <a:pPr algn="l">
              <a:lnSpc>
                <a:spcPct val="136000"/>
              </a:lnSpc>
              <a:spcBef>
                <a:spcPts val="1000"/>
              </a:spcBef>
              <a:spcAft>
                <a:spcPts val="0"/>
              </a:spcAft>
            </a:pPr>
            <a:r>
              <a:rPr sz="1100" b="0" i="0">
                <a:solidFill>
                  <a:srgbClr val="8C8375"/>
                </a:solidFill>
                <a:latin typeface="Consolas"/>
              </a:rPr>
              <a:t>H₁  </a:t>
            </a:r>
            <a:r>
              <a:rPr sz="1150" b="0" i="0">
                <a:solidFill>
                  <a:srgbClr val="5B5347"/>
                </a:solidFill>
                <a:latin typeface="Georgia"/>
              </a:rPr>
              <a:t>Observed wickets differ from Poisson.</a:t>
            </a:r>
          </a:p>
        </p:txBody>
      </p:sp>
      <p:cxnSp>
        <p:nvCxnSpPr>
          <p:cNvPr id="14" name="Connector 13"/>
          <p:cNvCxnSpPr/>
          <p:nvPr/>
        </p:nvCxnSpPr>
        <p:spPr>
          <a:xfrm>
            <a:off x="658368" y="4315968"/>
            <a:ext cx="10874959" cy="0"/>
          </a:xfrm>
          <a:prstGeom prst="line">
            <a:avLst/>
          </a:prstGeom>
          <a:ln w="13970">
            <a:solidFill>
              <a:srgbClr val="16130F"/>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58368" y="4480560"/>
            <a:ext cx="10874959" cy="822960"/>
          </a:xfrm>
          <a:prstGeom prst="rect">
            <a:avLst/>
          </a:prstGeom>
          <a:noFill/>
        </p:spPr>
        <p:txBody>
          <a:bodyPr wrap="square" anchor="t" lIns="0" rIns="0" tIns="0" bIns="0">
            <a:noAutofit/>
          </a:bodyPr>
          <a:lstStyle/>
          <a:p>
            <a:pPr algn="l">
              <a:spcBef>
                <a:spcPts val="0"/>
              </a:spcBef>
              <a:spcAft>
                <a:spcPts val="0"/>
              </a:spcAft>
            </a:pPr>
            <a:r>
              <a:rPr sz="850" b="0" i="0" spc="140">
                <a:solidFill>
                  <a:srgbClr val="A8102F"/>
                </a:solidFill>
                <a:latin typeface="Consolas"/>
              </a:rPr>
              <a:t>WHY IT MATTERS</a:t>
            </a:r>
          </a:p>
          <a:p>
            <a:pPr algn="l">
              <a:lnSpc>
                <a:spcPct val="136000"/>
              </a:lnSpc>
              <a:spcBef>
                <a:spcPts val="400"/>
              </a:spcBef>
              <a:spcAft>
                <a:spcPts val="0"/>
              </a:spcAft>
            </a:pPr>
            <a:r>
              <a:rPr sz="1300" b="0" i="0">
                <a:solidFill>
                  <a:srgbClr val="16130F"/>
                </a:solidFill>
                <a:latin typeface="Georgia"/>
              </a:rPr>
              <a:t>A hypothesis written after seeing the result is not a test — it is a caption. These three were fixed first.</a:t>
            </a:r>
          </a:p>
        </p:txBody>
      </p:sp>
    </p:spTree>
  </p:cSld>
  <p:clrMapOvr>
    <a:masterClrMapping/>
  </p:clrMapOvr>
  <p:transition spd="med">
    <p:push dir="u"/>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6130F"/>
        </a:solidFill>
        <a:effectLst/>
      </p:bgPr>
    </p:bg>
    <p:spTree>
      <p:nvGrpSpPr>
        <p:cNvPr id="1" name=""/>
        <p:cNvGrpSpPr/>
        <p:nvPr/>
      </p:nvGrpSpPr>
      <p:grpSpPr/>
      <p:sp>
        <p:nvSpPr>
          <p:cNvPr id="2" name="TextBox 1"/>
          <p:cNvSpPr txBox="1"/>
          <p:nvPr/>
        </p:nvSpPr>
        <p:spPr>
          <a:xfrm>
            <a:off x="658368" y="1005840"/>
            <a:ext cx="2926080" cy="3108960"/>
          </a:xfrm>
          <a:prstGeom prst="rect">
            <a:avLst/>
          </a:prstGeom>
          <a:noFill/>
        </p:spPr>
        <p:txBody>
          <a:bodyPr wrap="square" anchor="t" lIns="0" rIns="0" tIns="0" bIns="0">
            <a:noAutofit/>
          </a:bodyPr>
          <a:lstStyle/>
          <a:p>
            <a:pPr algn="l">
              <a:spcBef>
                <a:spcPts val="0"/>
              </a:spcBef>
              <a:spcAft>
                <a:spcPts val="0"/>
              </a:spcAft>
            </a:pPr>
            <a:r>
              <a:rPr sz="15000" b="0" i="0" spc="-600">
                <a:ln w="20000">
                  <a:solidFill>
                    <a:srgbClr val="F6F2E9">
                      <a:alpha val="42000"/>
                    </a:srgbClr>
                  </a:solidFill>
                </a:ln>
                <a:noFill/>
                <a:latin typeface="Palatino Linotype"/>
              </a:rPr>
              <a:t>02</a:t>
            </a:r>
          </a:p>
        </p:txBody>
      </p:sp>
      <p:cxnSp>
        <p:nvCxnSpPr>
          <p:cNvPr id="3" name="Connector 2"/>
          <p:cNvCxnSpPr/>
          <p:nvPr/>
        </p:nvCxnSpPr>
        <p:spPr>
          <a:xfrm>
            <a:off x="3310128" y="2103120"/>
            <a:ext cx="1809103" cy="0"/>
          </a:xfrm>
          <a:prstGeom prst="line">
            <a:avLst/>
          </a:prstGeom>
          <a:ln w="13970">
            <a:solidFill>
              <a:srgbClr val="B9B1A1"/>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3310128" y="2304288"/>
            <a:ext cx="8223199"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E8A2B3"/>
                </a:solidFill>
                <a:latin typeface="Consolas"/>
              </a:rPr>
              <a:t>SECTION 02</a:t>
            </a:r>
          </a:p>
        </p:txBody>
      </p:sp>
      <p:sp>
        <p:nvSpPr>
          <p:cNvPr id="5" name="TextBox 4"/>
          <p:cNvSpPr txBox="1"/>
          <p:nvPr/>
        </p:nvSpPr>
        <p:spPr>
          <a:xfrm>
            <a:off x="3310128" y="2670048"/>
            <a:ext cx="8223199" cy="914400"/>
          </a:xfrm>
          <a:prstGeom prst="rect">
            <a:avLst/>
          </a:prstGeom>
          <a:noFill/>
        </p:spPr>
        <p:txBody>
          <a:bodyPr wrap="square" anchor="t" lIns="0" rIns="0" tIns="0" bIns="0">
            <a:noAutofit/>
          </a:bodyPr>
          <a:lstStyle/>
          <a:p>
            <a:pPr algn="l">
              <a:lnSpc>
                <a:spcPct val="103000"/>
              </a:lnSpc>
              <a:spcBef>
                <a:spcPts val="0"/>
              </a:spcBef>
              <a:spcAft>
                <a:spcPts val="0"/>
              </a:spcAft>
            </a:pPr>
            <a:r>
              <a:rPr sz="4000" b="0" i="0" spc="-60">
                <a:solidFill>
                  <a:srgbClr val="F6F2E9"/>
                </a:solidFill>
                <a:latin typeface="Palatino Linotype"/>
              </a:rPr>
              <a:t>Domain theory</a:t>
            </a:r>
          </a:p>
        </p:txBody>
      </p:sp>
      <p:sp>
        <p:nvSpPr>
          <p:cNvPr id="6" name="TextBox 5"/>
          <p:cNvSpPr txBox="1"/>
          <p:nvPr/>
        </p:nvSpPr>
        <p:spPr>
          <a:xfrm>
            <a:off x="3310128" y="3639312"/>
            <a:ext cx="7071951" cy="1005840"/>
          </a:xfrm>
          <a:prstGeom prst="rect">
            <a:avLst/>
          </a:prstGeom>
          <a:noFill/>
        </p:spPr>
        <p:txBody>
          <a:bodyPr wrap="square" anchor="t" lIns="0" rIns="0" tIns="0" bIns="0">
            <a:noAutofit/>
          </a:bodyPr>
          <a:lstStyle/>
          <a:p>
            <a:pPr algn="l">
              <a:lnSpc>
                <a:spcPct val="135000"/>
              </a:lnSpc>
              <a:spcBef>
                <a:spcPts val="0"/>
              </a:spcBef>
              <a:spcAft>
                <a:spcPts val="0"/>
              </a:spcAft>
            </a:pPr>
            <a:r>
              <a:rPr sz="1250" b="0" i="0">
                <a:solidFill>
                  <a:srgbClr val="B9B1A1"/>
                </a:solidFill>
                <a:latin typeface="Georgia"/>
              </a:rPr>
              <a:t>Why the first six overs are the most volatile — and the best-documented — part of a T20 innings.</a:t>
            </a:r>
          </a:p>
        </p:txBody>
      </p:sp>
      <p:sp>
        <p:nvSpPr>
          <p:cNvPr id="7" name="TextBox 6"/>
          <p:cNvSpPr txBox="1"/>
          <p:nvPr/>
        </p:nvSpPr>
        <p:spPr>
          <a:xfrm>
            <a:off x="8790127" y="6227064"/>
            <a:ext cx="2743200" cy="256032"/>
          </a:xfrm>
          <a:prstGeom prst="rect">
            <a:avLst/>
          </a:prstGeom>
          <a:noFill/>
        </p:spPr>
        <p:txBody>
          <a:bodyPr wrap="square" anchor="t" lIns="0" rIns="0" tIns="0" bIns="0">
            <a:noAutofit/>
          </a:bodyPr>
          <a:lstStyle/>
          <a:p>
            <a:pPr algn="r">
              <a:spcBef>
                <a:spcPts val="0"/>
              </a:spcBef>
              <a:spcAft>
                <a:spcPts val="0"/>
              </a:spcAft>
            </a:pPr>
            <a:r>
              <a:rPr sz="850" b="0" i="0" spc="150">
                <a:solidFill>
                  <a:srgbClr val="6E6659"/>
                </a:solidFill>
                <a:latin typeface="Consolas"/>
              </a:rPr>
              <a:t>02 · THEORY</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2E9"/>
        </a:solidFill>
        <a:effectLst/>
      </p:bgPr>
    </p:bg>
    <p:spTree>
      <p:nvGrpSpPr>
        <p:cNvPr id="1" name=""/>
        <p:cNvGrpSpPr/>
        <p:nvPr/>
      </p:nvGrpSpPr>
      <p:grpSpPr/>
      <p:sp>
        <p:nvSpPr>
          <p:cNvPr id="2" name="TextBox 1"/>
          <p:cNvSpPr txBox="1"/>
          <p:nvPr/>
        </p:nvSpPr>
        <p:spPr>
          <a:xfrm>
            <a:off x="658368" y="420624"/>
            <a:ext cx="5669280"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8C8375"/>
                </a:solidFill>
                <a:latin typeface="Consolas"/>
              </a:rPr>
              <a:t>02 · DOMAIN THEORY</a:t>
            </a:r>
          </a:p>
        </p:txBody>
      </p:sp>
      <p:sp>
        <p:nvSpPr>
          <p:cNvPr id="3" name="TextBox 2"/>
          <p:cNvSpPr txBox="1"/>
          <p:nvPr/>
        </p:nvSpPr>
        <p:spPr>
          <a:xfrm>
            <a:off x="6961327" y="420624"/>
            <a:ext cx="4572000" cy="274320"/>
          </a:xfrm>
          <a:prstGeom prst="rect">
            <a:avLst/>
          </a:prstGeom>
          <a:noFill/>
        </p:spPr>
        <p:txBody>
          <a:bodyPr wrap="square" anchor="t" lIns="0" rIns="0" tIns="0" bIns="0">
            <a:noAutofit/>
          </a:bodyPr>
          <a:lstStyle/>
          <a:p>
            <a:pPr algn="r">
              <a:spcBef>
                <a:spcPts val="0"/>
              </a:spcBef>
              <a:spcAft>
                <a:spcPts val="0"/>
              </a:spcAft>
            </a:pPr>
            <a:r>
              <a:rPr sz="850" b="0" i="0" spc="150">
                <a:solidFill>
                  <a:srgbClr val="8C8375"/>
                </a:solidFill>
                <a:latin typeface="Consolas"/>
              </a:rPr>
              <a:t>OVERS 1–6</a:t>
            </a:r>
          </a:p>
        </p:txBody>
      </p:sp>
      <p:sp>
        <p:nvSpPr>
          <p:cNvPr id="4" name="TextBox 3"/>
          <p:cNvSpPr txBox="1"/>
          <p:nvPr/>
        </p:nvSpPr>
        <p:spPr>
          <a:xfrm>
            <a:off x="658368" y="841248"/>
            <a:ext cx="4937760" cy="868680"/>
          </a:xfrm>
          <a:prstGeom prst="rect">
            <a:avLst/>
          </a:prstGeom>
          <a:noFill/>
        </p:spPr>
        <p:txBody>
          <a:bodyPr wrap="square" anchor="t" lIns="0" rIns="0" tIns="0" bIns="0">
            <a:noAutofit/>
          </a:bodyPr>
          <a:lstStyle/>
          <a:p>
            <a:pPr algn="l">
              <a:lnSpc>
                <a:spcPct val="102000"/>
              </a:lnSpc>
              <a:spcBef>
                <a:spcPts val="0"/>
              </a:spcBef>
              <a:spcAft>
                <a:spcPts val="0"/>
              </a:spcAft>
            </a:pPr>
            <a:r>
              <a:rPr sz="2600" b="0" i="0" spc="-30">
                <a:solidFill>
                  <a:srgbClr val="16130F"/>
                </a:solidFill>
                <a:latin typeface="Palatino Linotype"/>
              </a:rPr>
              <a:t>Restrictions cut both ways.</a:t>
            </a:r>
          </a:p>
        </p:txBody>
      </p:sp>
      <p:sp>
        <p:nvSpPr>
          <p:cNvPr id="5" name="TextBox 4"/>
          <p:cNvSpPr txBox="1"/>
          <p:nvPr/>
        </p:nvSpPr>
        <p:spPr>
          <a:xfrm>
            <a:off x="658368" y="1517904"/>
            <a:ext cx="4846320" cy="1463040"/>
          </a:xfrm>
          <a:prstGeom prst="rect">
            <a:avLst/>
          </a:prstGeom>
          <a:noFill/>
        </p:spPr>
        <p:txBody>
          <a:bodyPr wrap="square" anchor="t" lIns="0" rIns="0" tIns="0" bIns="0">
            <a:noAutofit/>
          </a:bodyPr>
          <a:lstStyle/>
          <a:p>
            <a:pPr algn="l">
              <a:lnSpc>
                <a:spcPct val="142000"/>
              </a:lnSpc>
              <a:spcBef>
                <a:spcPts val="0"/>
              </a:spcBef>
              <a:spcAft>
                <a:spcPts val="0"/>
              </a:spcAft>
            </a:pPr>
            <a:r>
              <a:rPr sz="1150" b="0" i="0">
                <a:solidFill>
                  <a:srgbClr val="5B5347"/>
                </a:solidFill>
                <a:latin typeface="Georgia"/>
              </a:rPr>
              <a:t>In the powerplay only two fielders may stand outside the 30-yard circle. Boundaries get cheaper — and so do wickets, because batters attack from ball one.</a:t>
            </a:r>
          </a:p>
        </p:txBody>
      </p:sp>
      <p:sp>
        <p:nvSpPr>
          <p:cNvPr id="6" name="TextBox 5"/>
          <p:cNvSpPr txBox="1"/>
          <p:nvPr/>
        </p:nvSpPr>
        <p:spPr>
          <a:xfrm>
            <a:off x="658368" y="2487168"/>
            <a:ext cx="4846320" cy="1463040"/>
          </a:xfrm>
          <a:prstGeom prst="rect">
            <a:avLst/>
          </a:prstGeom>
          <a:noFill/>
        </p:spPr>
        <p:txBody>
          <a:bodyPr wrap="square" anchor="t" lIns="0" rIns="0" tIns="0" bIns="0">
            <a:noAutofit/>
          </a:bodyPr>
          <a:lstStyle/>
          <a:p>
            <a:pPr algn="l">
              <a:lnSpc>
                <a:spcPct val="142000"/>
              </a:lnSpc>
              <a:spcBef>
                <a:spcPts val="0"/>
              </a:spcBef>
              <a:spcAft>
                <a:spcPts val="0"/>
              </a:spcAft>
            </a:pPr>
            <a:r>
              <a:rPr sz="1150" b="0" i="0">
                <a:solidFill>
                  <a:srgbClr val="5B5347"/>
                </a:solidFill>
                <a:latin typeface="Georgia"/>
              </a:rPr>
              <a:t>That is the momentum story: a fast start, the argument goes, forces the opposition onto the back foot for the remaining fourteen overs.</a:t>
            </a:r>
          </a:p>
        </p:txBody>
      </p:sp>
      <p:cxnSp>
        <p:nvCxnSpPr>
          <p:cNvPr id="7" name="Connector 6"/>
          <p:cNvCxnSpPr/>
          <p:nvPr/>
        </p:nvCxnSpPr>
        <p:spPr>
          <a:xfrm>
            <a:off x="658368" y="3401568"/>
            <a:ext cx="4846320" cy="0"/>
          </a:xfrm>
          <a:prstGeom prst="line">
            <a:avLst/>
          </a:prstGeom>
          <a:ln w="9525">
            <a:solidFill>
              <a:srgbClr val="D9D1C0"/>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3584448"/>
            <a:ext cx="4846320" cy="1371600"/>
          </a:xfrm>
          <a:prstGeom prst="rect">
            <a:avLst/>
          </a:prstGeom>
          <a:noFill/>
        </p:spPr>
        <p:txBody>
          <a:bodyPr wrap="square" anchor="t" lIns="0" rIns="0" tIns="0" bIns="0">
            <a:noAutofit/>
          </a:bodyPr>
          <a:lstStyle/>
          <a:p>
            <a:pPr algn="l">
              <a:spcBef>
                <a:spcPts val="0"/>
              </a:spcBef>
              <a:spcAft>
                <a:spcPts val="0"/>
              </a:spcAft>
            </a:pPr>
            <a:r>
              <a:rPr sz="850" b="0" i="0" spc="140">
                <a:solidFill>
                  <a:srgbClr val="A8102F"/>
                </a:solidFill>
                <a:latin typeface="Consolas"/>
              </a:rPr>
              <a:t>DESIGN CONSEQUENCE</a:t>
            </a:r>
          </a:p>
          <a:p>
            <a:pPr algn="l">
              <a:lnSpc>
                <a:spcPct val="136000"/>
              </a:lnSpc>
              <a:spcBef>
                <a:spcPts val="400"/>
              </a:spcBef>
              <a:spcAft>
                <a:spcPts val="0"/>
              </a:spcAft>
            </a:pPr>
            <a:r>
              <a:rPr sz="1100" b="0" i="0">
                <a:solidFill>
                  <a:srgbClr val="5B5347"/>
                </a:solidFill>
                <a:latin typeface="Georgia"/>
              </a:rPr>
              <a:t>Rules were relaxed after 2015 and pitches differ by venue, so this is an observational study: it measures association, never causation.</a:t>
            </a:r>
          </a:p>
        </p:txBody>
      </p:sp>
      <p:cxnSp>
        <p:nvCxnSpPr>
          <p:cNvPr id="9" name="Connector 8"/>
          <p:cNvCxnSpPr/>
          <p:nvPr/>
        </p:nvCxnSpPr>
        <p:spPr>
          <a:xfrm>
            <a:off x="6126480" y="1517904"/>
            <a:ext cx="5394960" cy="0"/>
          </a:xfrm>
          <a:prstGeom prst="line">
            <a:avLst/>
          </a:prstGeom>
          <a:ln w="13970">
            <a:solidFill>
              <a:srgbClr val="16130F"/>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126480" y="1600200"/>
            <a:ext cx="3344875" cy="274320"/>
          </a:xfrm>
          <a:prstGeom prst="rect">
            <a:avLst/>
          </a:prstGeom>
          <a:noFill/>
        </p:spPr>
        <p:txBody>
          <a:bodyPr wrap="square" anchor="t" lIns="0" rIns="0" tIns="0" bIns="0">
            <a:noAutofit/>
          </a:bodyPr>
          <a:lstStyle/>
          <a:p>
            <a:pPr algn="l">
              <a:spcBef>
                <a:spcPts val="0"/>
              </a:spcBef>
              <a:spcAft>
                <a:spcPts val="0"/>
              </a:spcAft>
            </a:pPr>
            <a:r>
              <a:rPr sz="1050" b="0" i="0">
                <a:solidFill>
                  <a:srgbClr val="5B5347"/>
                </a:solidFill>
                <a:latin typeface="Georgia"/>
              </a:rPr>
              <a:t>Fielders allowed outside the circle</a:t>
            </a:r>
          </a:p>
        </p:txBody>
      </p:sp>
      <p:sp>
        <p:nvSpPr>
          <p:cNvPr id="11" name="TextBox 10"/>
          <p:cNvSpPr txBox="1"/>
          <p:nvPr/>
        </p:nvSpPr>
        <p:spPr>
          <a:xfrm>
            <a:off x="9093708" y="1600200"/>
            <a:ext cx="2427732" cy="274320"/>
          </a:xfrm>
          <a:prstGeom prst="rect">
            <a:avLst/>
          </a:prstGeom>
          <a:noFill/>
        </p:spPr>
        <p:txBody>
          <a:bodyPr wrap="square" anchor="t" lIns="0" rIns="0" tIns="0" bIns="0">
            <a:noAutofit/>
          </a:bodyPr>
          <a:lstStyle/>
          <a:p>
            <a:pPr algn="r">
              <a:spcBef>
                <a:spcPts val="0"/>
              </a:spcBef>
              <a:spcAft>
                <a:spcPts val="0"/>
              </a:spcAft>
            </a:pPr>
            <a:r>
              <a:rPr sz="1100" b="0" i="0">
                <a:solidFill>
                  <a:srgbClr val="16130F"/>
                </a:solidFill>
                <a:latin typeface="Consolas"/>
              </a:rPr>
              <a:t>2</a:t>
            </a:r>
          </a:p>
        </p:txBody>
      </p:sp>
      <p:cxnSp>
        <p:nvCxnSpPr>
          <p:cNvPr id="12" name="Connector 11"/>
          <p:cNvCxnSpPr/>
          <p:nvPr/>
        </p:nvCxnSpPr>
        <p:spPr>
          <a:xfrm>
            <a:off x="6126480" y="1874519"/>
            <a:ext cx="5394960"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126480" y="1965960"/>
            <a:ext cx="3344875" cy="274320"/>
          </a:xfrm>
          <a:prstGeom prst="rect">
            <a:avLst/>
          </a:prstGeom>
          <a:noFill/>
        </p:spPr>
        <p:txBody>
          <a:bodyPr wrap="square" anchor="t" lIns="0" rIns="0" tIns="0" bIns="0">
            <a:noAutofit/>
          </a:bodyPr>
          <a:lstStyle/>
          <a:p>
            <a:pPr algn="l">
              <a:spcBef>
                <a:spcPts val="0"/>
              </a:spcBef>
              <a:spcAft>
                <a:spcPts val="0"/>
              </a:spcAft>
            </a:pPr>
            <a:r>
              <a:rPr sz="1050" b="0" i="0">
                <a:solidFill>
                  <a:srgbClr val="5B5347"/>
                </a:solidFill>
                <a:latin typeface="Georgia"/>
              </a:rPr>
              <a:t>Balls per powerplay</a:t>
            </a:r>
          </a:p>
        </p:txBody>
      </p:sp>
      <p:sp>
        <p:nvSpPr>
          <p:cNvPr id="14" name="TextBox 13"/>
          <p:cNvSpPr txBox="1"/>
          <p:nvPr/>
        </p:nvSpPr>
        <p:spPr>
          <a:xfrm>
            <a:off x="9093708" y="1965960"/>
            <a:ext cx="2427732" cy="274320"/>
          </a:xfrm>
          <a:prstGeom prst="rect">
            <a:avLst/>
          </a:prstGeom>
          <a:noFill/>
        </p:spPr>
        <p:txBody>
          <a:bodyPr wrap="square" anchor="t" lIns="0" rIns="0" tIns="0" bIns="0">
            <a:noAutofit/>
          </a:bodyPr>
          <a:lstStyle/>
          <a:p>
            <a:pPr algn="r">
              <a:spcBef>
                <a:spcPts val="0"/>
              </a:spcBef>
              <a:spcAft>
                <a:spcPts val="0"/>
              </a:spcAft>
            </a:pPr>
            <a:r>
              <a:rPr sz="1100" b="0" i="0">
                <a:solidFill>
                  <a:srgbClr val="16130F"/>
                </a:solidFill>
                <a:latin typeface="Consolas"/>
              </a:rPr>
              <a:t>36</a:t>
            </a:r>
          </a:p>
        </p:txBody>
      </p:sp>
      <p:cxnSp>
        <p:nvCxnSpPr>
          <p:cNvPr id="15" name="Connector 14"/>
          <p:cNvCxnSpPr/>
          <p:nvPr/>
        </p:nvCxnSpPr>
        <p:spPr>
          <a:xfrm>
            <a:off x="6126480" y="2240279"/>
            <a:ext cx="5394960"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26480" y="2331720"/>
            <a:ext cx="3344875" cy="274320"/>
          </a:xfrm>
          <a:prstGeom prst="rect">
            <a:avLst/>
          </a:prstGeom>
          <a:noFill/>
        </p:spPr>
        <p:txBody>
          <a:bodyPr wrap="square" anchor="t" lIns="0" rIns="0" tIns="0" bIns="0">
            <a:noAutofit/>
          </a:bodyPr>
          <a:lstStyle/>
          <a:p>
            <a:pPr algn="l">
              <a:spcBef>
                <a:spcPts val="0"/>
              </a:spcBef>
              <a:spcAft>
                <a:spcPts val="0"/>
              </a:spcAft>
            </a:pPr>
            <a:r>
              <a:rPr sz="1050" b="0" i="0">
                <a:solidFill>
                  <a:srgbClr val="5B5347"/>
                </a:solidFill>
                <a:latin typeface="Georgia"/>
              </a:rPr>
              <a:t>Share of the innings</a:t>
            </a:r>
          </a:p>
        </p:txBody>
      </p:sp>
      <p:sp>
        <p:nvSpPr>
          <p:cNvPr id="17" name="TextBox 16"/>
          <p:cNvSpPr txBox="1"/>
          <p:nvPr/>
        </p:nvSpPr>
        <p:spPr>
          <a:xfrm>
            <a:off x="9093708" y="2331720"/>
            <a:ext cx="2427732" cy="274320"/>
          </a:xfrm>
          <a:prstGeom prst="rect">
            <a:avLst/>
          </a:prstGeom>
          <a:noFill/>
        </p:spPr>
        <p:txBody>
          <a:bodyPr wrap="square" anchor="t" lIns="0" rIns="0" tIns="0" bIns="0">
            <a:noAutofit/>
          </a:bodyPr>
          <a:lstStyle/>
          <a:p>
            <a:pPr algn="r">
              <a:spcBef>
                <a:spcPts val="0"/>
              </a:spcBef>
              <a:spcAft>
                <a:spcPts val="0"/>
              </a:spcAft>
            </a:pPr>
            <a:r>
              <a:rPr sz="1100" b="0" i="0">
                <a:solidFill>
                  <a:srgbClr val="16130F"/>
                </a:solidFill>
                <a:latin typeface="Consolas"/>
              </a:rPr>
              <a:t>30%</a:t>
            </a:r>
          </a:p>
        </p:txBody>
      </p:sp>
      <p:cxnSp>
        <p:nvCxnSpPr>
          <p:cNvPr id="18" name="Connector 17"/>
          <p:cNvCxnSpPr/>
          <p:nvPr/>
        </p:nvCxnSpPr>
        <p:spPr>
          <a:xfrm>
            <a:off x="6126480" y="2606039"/>
            <a:ext cx="5394960"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126480" y="2697479"/>
            <a:ext cx="3344875" cy="274320"/>
          </a:xfrm>
          <a:prstGeom prst="rect">
            <a:avLst/>
          </a:prstGeom>
          <a:noFill/>
        </p:spPr>
        <p:txBody>
          <a:bodyPr wrap="square" anchor="t" lIns="0" rIns="0" tIns="0" bIns="0">
            <a:noAutofit/>
          </a:bodyPr>
          <a:lstStyle/>
          <a:p>
            <a:pPr algn="l">
              <a:spcBef>
                <a:spcPts val="0"/>
              </a:spcBef>
              <a:spcAft>
                <a:spcPts val="0"/>
              </a:spcAft>
            </a:pPr>
            <a:r>
              <a:rPr sz="1050" b="0" i="0">
                <a:solidFill>
                  <a:srgbClr val="5B5347"/>
                </a:solidFill>
                <a:latin typeface="Georgia"/>
              </a:rPr>
              <a:t>Observations per team</a:t>
            </a:r>
          </a:p>
        </p:txBody>
      </p:sp>
      <p:sp>
        <p:nvSpPr>
          <p:cNvPr id="20" name="TextBox 19"/>
          <p:cNvSpPr txBox="1"/>
          <p:nvPr/>
        </p:nvSpPr>
        <p:spPr>
          <a:xfrm>
            <a:off x="9093708" y="2697479"/>
            <a:ext cx="2427732" cy="274320"/>
          </a:xfrm>
          <a:prstGeom prst="rect">
            <a:avLst/>
          </a:prstGeom>
          <a:noFill/>
        </p:spPr>
        <p:txBody>
          <a:bodyPr wrap="square" anchor="t" lIns="0" rIns="0" tIns="0" bIns="0">
            <a:noAutofit/>
          </a:bodyPr>
          <a:lstStyle/>
          <a:p>
            <a:pPr algn="r">
              <a:spcBef>
                <a:spcPts val="0"/>
              </a:spcBef>
              <a:spcAft>
                <a:spcPts val="0"/>
              </a:spcAft>
            </a:pPr>
            <a:r>
              <a:rPr sz="1100" b="0" i="0">
                <a:solidFill>
                  <a:srgbClr val="16130F"/>
                </a:solidFill>
                <a:latin typeface="Consolas"/>
              </a:rPr>
              <a:t>36 balls</a:t>
            </a:r>
          </a:p>
        </p:txBody>
      </p:sp>
      <p:cxnSp>
        <p:nvCxnSpPr>
          <p:cNvPr id="21" name="Connector 20"/>
          <p:cNvCxnSpPr/>
          <p:nvPr/>
        </p:nvCxnSpPr>
        <p:spPr>
          <a:xfrm>
            <a:off x="6126480" y="2971799"/>
            <a:ext cx="5394960"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126480" y="3063239"/>
            <a:ext cx="3344875" cy="274320"/>
          </a:xfrm>
          <a:prstGeom prst="rect">
            <a:avLst/>
          </a:prstGeom>
          <a:noFill/>
        </p:spPr>
        <p:txBody>
          <a:bodyPr wrap="square" anchor="t" lIns="0" rIns="0" tIns="0" bIns="0">
            <a:noAutofit/>
          </a:bodyPr>
          <a:lstStyle/>
          <a:p>
            <a:pPr algn="l">
              <a:spcBef>
                <a:spcPts val="0"/>
              </a:spcBef>
              <a:spcAft>
                <a:spcPts val="0"/>
              </a:spcAft>
            </a:pPr>
            <a:r>
              <a:rPr sz="1050" b="0" i="0">
                <a:solidFill>
                  <a:srgbClr val="5B5347"/>
                </a:solidFill>
                <a:latin typeface="Georgia"/>
              </a:rPr>
              <a:t>Outcome variable</a:t>
            </a:r>
          </a:p>
        </p:txBody>
      </p:sp>
      <p:sp>
        <p:nvSpPr>
          <p:cNvPr id="23" name="TextBox 22"/>
          <p:cNvSpPr txBox="1"/>
          <p:nvPr/>
        </p:nvSpPr>
        <p:spPr>
          <a:xfrm>
            <a:off x="9093708" y="3063239"/>
            <a:ext cx="2427732" cy="274320"/>
          </a:xfrm>
          <a:prstGeom prst="rect">
            <a:avLst/>
          </a:prstGeom>
          <a:noFill/>
        </p:spPr>
        <p:txBody>
          <a:bodyPr wrap="square" anchor="t" lIns="0" rIns="0" tIns="0" bIns="0">
            <a:noAutofit/>
          </a:bodyPr>
          <a:lstStyle/>
          <a:p>
            <a:pPr algn="r">
              <a:spcBef>
                <a:spcPts val="0"/>
              </a:spcBef>
              <a:spcAft>
                <a:spcPts val="0"/>
              </a:spcAft>
            </a:pPr>
            <a:r>
              <a:rPr sz="1100" b="0" i="0">
                <a:solidFill>
                  <a:srgbClr val="16130F"/>
                </a:solidFill>
                <a:latin typeface="Consolas"/>
              </a:rPr>
              <a:t>win / loss</a:t>
            </a:r>
          </a:p>
        </p:txBody>
      </p:sp>
      <p:cxnSp>
        <p:nvCxnSpPr>
          <p:cNvPr id="24" name="Connector 23"/>
          <p:cNvCxnSpPr/>
          <p:nvPr/>
        </p:nvCxnSpPr>
        <p:spPr>
          <a:xfrm>
            <a:off x="6126480" y="3337559"/>
            <a:ext cx="5394960"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126480" y="3428999"/>
            <a:ext cx="3344875" cy="274320"/>
          </a:xfrm>
          <a:prstGeom prst="rect">
            <a:avLst/>
          </a:prstGeom>
          <a:noFill/>
        </p:spPr>
        <p:txBody>
          <a:bodyPr wrap="square" anchor="t" lIns="0" rIns="0" tIns="0" bIns="0">
            <a:noAutofit/>
          </a:bodyPr>
          <a:lstStyle/>
          <a:p>
            <a:pPr algn="l">
              <a:spcBef>
                <a:spcPts val="0"/>
              </a:spcBef>
              <a:spcAft>
                <a:spcPts val="0"/>
              </a:spcAft>
            </a:pPr>
            <a:r>
              <a:rPr sz="1050" b="0" i="0">
                <a:solidFill>
                  <a:srgbClr val="5B5347"/>
                </a:solidFill>
                <a:latin typeface="Georgia"/>
              </a:rPr>
              <a:t>Predictor cutoff</a:t>
            </a:r>
          </a:p>
        </p:txBody>
      </p:sp>
      <p:sp>
        <p:nvSpPr>
          <p:cNvPr id="26" name="TextBox 25"/>
          <p:cNvSpPr txBox="1"/>
          <p:nvPr/>
        </p:nvSpPr>
        <p:spPr>
          <a:xfrm>
            <a:off x="9093708" y="3428999"/>
            <a:ext cx="2427732" cy="274320"/>
          </a:xfrm>
          <a:prstGeom prst="rect">
            <a:avLst/>
          </a:prstGeom>
          <a:noFill/>
        </p:spPr>
        <p:txBody>
          <a:bodyPr wrap="square" anchor="t" lIns="0" rIns="0" tIns="0" bIns="0">
            <a:noAutofit/>
          </a:bodyPr>
          <a:lstStyle/>
          <a:p>
            <a:pPr algn="r">
              <a:spcBef>
                <a:spcPts val="0"/>
              </a:spcBef>
              <a:spcAft>
                <a:spcPts val="0"/>
              </a:spcAft>
            </a:pPr>
            <a:r>
              <a:rPr sz="1100" b="0" i="0">
                <a:solidFill>
                  <a:srgbClr val="A8102F"/>
                </a:solidFill>
                <a:latin typeface="Consolas"/>
              </a:rPr>
              <a:t>end of over 6</a:t>
            </a:r>
          </a:p>
        </p:txBody>
      </p:sp>
      <p:cxnSp>
        <p:nvCxnSpPr>
          <p:cNvPr id="27" name="Connector 26"/>
          <p:cNvCxnSpPr/>
          <p:nvPr/>
        </p:nvCxnSpPr>
        <p:spPr>
          <a:xfrm>
            <a:off x="6126480" y="3703320"/>
            <a:ext cx="5394960"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126480" y="4480560"/>
            <a:ext cx="5394960" cy="256032"/>
          </a:xfrm>
          <a:prstGeom prst="rect">
            <a:avLst/>
          </a:prstGeom>
          <a:noFill/>
        </p:spPr>
        <p:txBody>
          <a:bodyPr wrap="square" anchor="t" lIns="0" rIns="0" tIns="0" bIns="0">
            <a:noAutofit/>
          </a:bodyPr>
          <a:lstStyle/>
          <a:p>
            <a:pPr algn="l">
              <a:spcBef>
                <a:spcPts val="0"/>
              </a:spcBef>
              <a:spcAft>
                <a:spcPts val="0"/>
              </a:spcAft>
            </a:pPr>
            <a:r>
              <a:rPr sz="850" b="0" i="0" spc="140">
                <a:solidFill>
                  <a:srgbClr val="8C8375"/>
                </a:solidFill>
                <a:latin typeface="Consolas"/>
              </a:rPr>
              <a:t>EVERYTHING THE MODEL KNOWS ABOUT A TEAM, IT KNOWS BY THE END OF ITS SIXTH OVER.</a:t>
            </a:r>
          </a:p>
        </p:txBody>
      </p:sp>
    </p:spTree>
  </p:cSld>
  <p:clrMapOvr>
    <a:masterClrMapping/>
  </p:clrMapOvr>
  <p:transition spd="med">
    <p:push dir="u"/>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6130F"/>
        </a:solidFill>
        <a:effectLst/>
      </p:bgPr>
    </p:bg>
    <p:spTree>
      <p:nvGrpSpPr>
        <p:cNvPr id="1" name=""/>
        <p:cNvGrpSpPr/>
        <p:nvPr/>
      </p:nvGrpSpPr>
      <p:grpSpPr/>
      <p:sp>
        <p:nvSpPr>
          <p:cNvPr id="2" name="TextBox 1"/>
          <p:cNvSpPr txBox="1"/>
          <p:nvPr/>
        </p:nvSpPr>
        <p:spPr>
          <a:xfrm>
            <a:off x="658368" y="1005840"/>
            <a:ext cx="2926080" cy="3108960"/>
          </a:xfrm>
          <a:prstGeom prst="rect">
            <a:avLst/>
          </a:prstGeom>
          <a:noFill/>
        </p:spPr>
        <p:txBody>
          <a:bodyPr wrap="square" anchor="t" lIns="0" rIns="0" tIns="0" bIns="0">
            <a:noAutofit/>
          </a:bodyPr>
          <a:lstStyle/>
          <a:p>
            <a:pPr algn="l">
              <a:spcBef>
                <a:spcPts val="0"/>
              </a:spcBef>
              <a:spcAft>
                <a:spcPts val="0"/>
              </a:spcAft>
            </a:pPr>
            <a:r>
              <a:rPr sz="15000" b="0" i="0" spc="-600">
                <a:ln w="20000">
                  <a:solidFill>
                    <a:srgbClr val="F6F2E9">
                      <a:alpha val="42000"/>
                    </a:srgbClr>
                  </a:solidFill>
                </a:ln>
                <a:noFill/>
                <a:latin typeface="Palatino Linotype"/>
              </a:rPr>
              <a:t>03</a:t>
            </a:r>
          </a:p>
        </p:txBody>
      </p:sp>
      <p:cxnSp>
        <p:nvCxnSpPr>
          <p:cNvPr id="3" name="Connector 2"/>
          <p:cNvCxnSpPr/>
          <p:nvPr/>
        </p:nvCxnSpPr>
        <p:spPr>
          <a:xfrm>
            <a:off x="3310128" y="2103120"/>
            <a:ext cx="1809103" cy="0"/>
          </a:xfrm>
          <a:prstGeom prst="line">
            <a:avLst/>
          </a:prstGeom>
          <a:ln w="13970">
            <a:solidFill>
              <a:srgbClr val="B9B1A1"/>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3310128" y="2304288"/>
            <a:ext cx="8223199"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E8A2B3"/>
                </a:solidFill>
                <a:latin typeface="Consolas"/>
              </a:rPr>
              <a:t>SECTION 03</a:t>
            </a:r>
          </a:p>
        </p:txBody>
      </p:sp>
      <p:sp>
        <p:nvSpPr>
          <p:cNvPr id="5" name="TextBox 4"/>
          <p:cNvSpPr txBox="1"/>
          <p:nvPr/>
        </p:nvSpPr>
        <p:spPr>
          <a:xfrm>
            <a:off x="3310128" y="2670048"/>
            <a:ext cx="8223199" cy="914400"/>
          </a:xfrm>
          <a:prstGeom prst="rect">
            <a:avLst/>
          </a:prstGeom>
          <a:noFill/>
        </p:spPr>
        <p:txBody>
          <a:bodyPr wrap="square" anchor="t" lIns="0" rIns="0" tIns="0" bIns="0">
            <a:noAutofit/>
          </a:bodyPr>
          <a:lstStyle/>
          <a:p>
            <a:pPr algn="l">
              <a:lnSpc>
                <a:spcPct val="103000"/>
              </a:lnSpc>
              <a:spcBef>
                <a:spcPts val="0"/>
              </a:spcBef>
              <a:spcAft>
                <a:spcPts val="0"/>
              </a:spcAft>
            </a:pPr>
            <a:r>
              <a:rPr sz="4000" b="0" i="0" spc="-60">
                <a:solidFill>
                  <a:srgbClr val="F6F2E9"/>
                </a:solidFill>
                <a:latin typeface="Palatino Linotype"/>
              </a:rPr>
              <a:t>Data</a:t>
            </a:r>
          </a:p>
        </p:txBody>
      </p:sp>
      <p:sp>
        <p:nvSpPr>
          <p:cNvPr id="6" name="TextBox 5"/>
          <p:cNvSpPr txBox="1"/>
          <p:nvPr/>
        </p:nvSpPr>
        <p:spPr>
          <a:xfrm>
            <a:off x="3310128" y="3639312"/>
            <a:ext cx="7071951" cy="1005840"/>
          </a:xfrm>
          <a:prstGeom prst="rect">
            <a:avLst/>
          </a:prstGeom>
          <a:noFill/>
        </p:spPr>
        <p:txBody>
          <a:bodyPr wrap="square" anchor="t" lIns="0" rIns="0" tIns="0" bIns="0">
            <a:noAutofit/>
          </a:bodyPr>
          <a:lstStyle/>
          <a:p>
            <a:pPr algn="l">
              <a:lnSpc>
                <a:spcPct val="135000"/>
              </a:lnSpc>
              <a:spcBef>
                <a:spcPts val="0"/>
              </a:spcBef>
              <a:spcAft>
                <a:spcPts val="0"/>
              </a:spcAft>
            </a:pPr>
            <a:r>
              <a:rPr sz="1250" b="0" i="0">
                <a:solidFill>
                  <a:srgbClr val="B9B1A1"/>
                </a:solidFill>
                <a:latin typeface="Georgia"/>
              </a:rPr>
              <a:t>Eighteen seasons of ball-by-ball IPL records, reduced to a single clean table.</a:t>
            </a:r>
          </a:p>
        </p:txBody>
      </p:sp>
      <p:sp>
        <p:nvSpPr>
          <p:cNvPr id="7" name="TextBox 6"/>
          <p:cNvSpPr txBox="1"/>
          <p:nvPr/>
        </p:nvSpPr>
        <p:spPr>
          <a:xfrm>
            <a:off x="8790127" y="6227064"/>
            <a:ext cx="2743200" cy="256032"/>
          </a:xfrm>
          <a:prstGeom prst="rect">
            <a:avLst/>
          </a:prstGeom>
          <a:noFill/>
        </p:spPr>
        <p:txBody>
          <a:bodyPr wrap="square" anchor="t" lIns="0" rIns="0" tIns="0" bIns="0">
            <a:noAutofit/>
          </a:bodyPr>
          <a:lstStyle/>
          <a:p>
            <a:pPr algn="r">
              <a:spcBef>
                <a:spcPts val="0"/>
              </a:spcBef>
              <a:spcAft>
                <a:spcPts val="0"/>
              </a:spcAft>
            </a:pPr>
            <a:r>
              <a:rPr sz="850" b="0" i="0" spc="150">
                <a:solidFill>
                  <a:srgbClr val="6E6659"/>
                </a:solidFill>
                <a:latin typeface="Consolas"/>
              </a:rPr>
              <a:t>03 · DATA</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2E9"/>
        </a:solidFill>
        <a:effectLst/>
      </p:bgPr>
    </p:bg>
    <p:spTree>
      <p:nvGrpSpPr>
        <p:cNvPr id="1" name=""/>
        <p:cNvGrpSpPr/>
        <p:nvPr/>
      </p:nvGrpSpPr>
      <p:grpSpPr/>
      <p:sp>
        <p:nvSpPr>
          <p:cNvPr id="2" name="TextBox 1"/>
          <p:cNvSpPr txBox="1"/>
          <p:nvPr/>
        </p:nvSpPr>
        <p:spPr>
          <a:xfrm>
            <a:off x="658368" y="420624"/>
            <a:ext cx="5669280"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8C8375"/>
                </a:solidFill>
                <a:latin typeface="Consolas"/>
              </a:rPr>
              <a:t>03 · DATA DESCRIPTION WITH REFERENCE</a:t>
            </a:r>
          </a:p>
        </p:txBody>
      </p:sp>
      <p:sp>
        <p:nvSpPr>
          <p:cNvPr id="3" name="TextBox 2"/>
          <p:cNvSpPr txBox="1"/>
          <p:nvPr/>
        </p:nvSpPr>
        <p:spPr>
          <a:xfrm>
            <a:off x="6961327" y="420624"/>
            <a:ext cx="4572000" cy="274320"/>
          </a:xfrm>
          <a:prstGeom prst="rect">
            <a:avLst/>
          </a:prstGeom>
          <a:noFill/>
        </p:spPr>
        <p:txBody>
          <a:bodyPr wrap="square" anchor="t" lIns="0" rIns="0" tIns="0" bIns="0">
            <a:noAutofit/>
          </a:bodyPr>
          <a:lstStyle/>
          <a:p>
            <a:pPr algn="r">
              <a:spcBef>
                <a:spcPts val="0"/>
              </a:spcBef>
              <a:spcAft>
                <a:spcPts val="0"/>
              </a:spcAft>
            </a:pPr>
            <a:r>
              <a:rPr sz="850" b="0" i="0" spc="150">
                <a:solidFill>
                  <a:srgbClr val="8C8375"/>
                </a:solidFill>
                <a:latin typeface="Consolas"/>
              </a:rPr>
              <a:t>SOURCE &amp; SCOPE</a:t>
            </a:r>
          </a:p>
        </p:txBody>
      </p:sp>
      <p:sp>
        <p:nvSpPr>
          <p:cNvPr id="4" name="TextBox 3"/>
          <p:cNvSpPr txBox="1"/>
          <p:nvPr/>
        </p:nvSpPr>
        <p:spPr>
          <a:xfrm>
            <a:off x="658368" y="841248"/>
            <a:ext cx="5394960" cy="868680"/>
          </a:xfrm>
          <a:prstGeom prst="rect">
            <a:avLst/>
          </a:prstGeom>
          <a:noFill/>
        </p:spPr>
        <p:txBody>
          <a:bodyPr wrap="square" anchor="t" lIns="0" rIns="0" tIns="0" bIns="0">
            <a:noAutofit/>
          </a:bodyPr>
          <a:lstStyle/>
          <a:p>
            <a:pPr algn="l">
              <a:lnSpc>
                <a:spcPct val="102000"/>
              </a:lnSpc>
              <a:spcBef>
                <a:spcPts val="0"/>
              </a:spcBef>
              <a:spcAft>
                <a:spcPts val="0"/>
              </a:spcAft>
            </a:pPr>
            <a:r>
              <a:rPr sz="2600" b="0" i="0" spc="-30">
                <a:solidFill>
                  <a:srgbClr val="16130F"/>
                </a:solidFill>
                <a:latin typeface="Palatino Linotype"/>
              </a:rPr>
              <a:t>1,227 matches, 2,454 innings.</a:t>
            </a:r>
          </a:p>
        </p:txBody>
      </p:sp>
      <p:sp>
        <p:nvSpPr>
          <p:cNvPr id="5" name="TextBox 4"/>
          <p:cNvSpPr txBox="1"/>
          <p:nvPr/>
        </p:nvSpPr>
        <p:spPr>
          <a:xfrm>
            <a:off x="658368" y="1554480"/>
            <a:ext cx="4663440" cy="1463040"/>
          </a:xfrm>
          <a:prstGeom prst="rect">
            <a:avLst/>
          </a:prstGeom>
          <a:noFill/>
        </p:spPr>
        <p:txBody>
          <a:bodyPr wrap="square" anchor="t" lIns="0" rIns="0" tIns="0" bIns="0">
            <a:noAutofit/>
          </a:bodyPr>
          <a:lstStyle/>
          <a:p>
            <a:pPr algn="l">
              <a:lnSpc>
                <a:spcPct val="142000"/>
              </a:lnSpc>
              <a:spcBef>
                <a:spcPts val="0"/>
              </a:spcBef>
              <a:spcAft>
                <a:spcPts val="0"/>
              </a:spcAft>
            </a:pPr>
            <a:r>
              <a:rPr sz="1150" b="0" i="0">
                <a:solidFill>
                  <a:srgbClr val="5B5347"/>
                </a:solidFill>
                <a:latin typeface="Georgia"/>
              </a:rPr>
              <a:t>Ball-by-ball JSON from Cricsheet, one file per match, pulled and parsed in R with the cricketdata package. Each match contributes two rows — one per team.</a:t>
            </a:r>
          </a:p>
        </p:txBody>
      </p:sp>
      <p:sp>
        <p:nvSpPr>
          <p:cNvPr id="6" name="TextBox 5"/>
          <p:cNvSpPr txBox="1"/>
          <p:nvPr/>
        </p:nvSpPr>
        <p:spPr>
          <a:xfrm>
            <a:off x="658368" y="2615184"/>
            <a:ext cx="4663440" cy="1005840"/>
          </a:xfrm>
          <a:prstGeom prst="rect">
            <a:avLst/>
          </a:prstGeom>
          <a:noFill/>
        </p:spPr>
        <p:txBody>
          <a:bodyPr wrap="square" anchor="t" lIns="0" rIns="0" tIns="0" bIns="0">
            <a:noAutofit/>
          </a:bodyPr>
          <a:lstStyle/>
          <a:p>
            <a:pPr algn="l">
              <a:lnSpc>
                <a:spcPct val="136000"/>
              </a:lnSpc>
              <a:spcBef>
                <a:spcPts val="0"/>
              </a:spcBef>
              <a:spcAft>
                <a:spcPts val="0"/>
              </a:spcAft>
            </a:pPr>
            <a:r>
              <a:rPr sz="850" b="0" i="0" spc="140">
                <a:solidFill>
                  <a:srgbClr val="A8102F"/>
                </a:solidFill>
                <a:latin typeface="Consolas"/>
              </a:rPr>
              <a:t>CITATION  </a:t>
            </a:r>
            <a:r>
              <a:rPr sz="1050" b="0" i="0">
                <a:solidFill>
                  <a:srgbClr val="8C8375"/>
                </a:solidFill>
                <a:latin typeface="Georgia"/>
              </a:rPr>
              <a:t>Cricsheet. Available match data downloads. cricsheet.org/downloads/</a:t>
            </a:r>
          </a:p>
        </p:txBody>
      </p:sp>
      <p:sp>
        <p:nvSpPr>
          <p:cNvPr id="7" name="Rectangle 6"/>
          <p:cNvSpPr/>
          <p:nvPr/>
        </p:nvSpPr>
        <p:spPr>
          <a:xfrm>
            <a:off x="5760720" y="1554480"/>
            <a:ext cx="1649882" cy="22860"/>
          </a:xfrm>
          <a:prstGeom prst="rect">
            <a:avLst/>
          </a:prstGeom>
          <a:solidFill>
            <a:srgbClr val="161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0" y="1700784"/>
            <a:ext cx="1649882" cy="457200"/>
          </a:xfrm>
          <a:prstGeom prst="rect">
            <a:avLst/>
          </a:prstGeom>
          <a:noFill/>
        </p:spPr>
        <p:txBody>
          <a:bodyPr wrap="square" anchor="t" lIns="0" rIns="0" tIns="0" bIns="0">
            <a:noAutofit/>
          </a:bodyPr>
          <a:lstStyle/>
          <a:p>
            <a:pPr algn="l">
              <a:spcBef>
                <a:spcPts val="0"/>
              </a:spcBef>
              <a:spcAft>
                <a:spcPts val="0"/>
              </a:spcAft>
            </a:pPr>
            <a:r>
              <a:rPr sz="2600" b="0" i="0" spc="-60">
                <a:solidFill>
                  <a:srgbClr val="16130F"/>
                </a:solidFill>
                <a:latin typeface="Consolas"/>
              </a:rPr>
              <a:t>1,227</a:t>
            </a:r>
          </a:p>
        </p:txBody>
      </p:sp>
      <p:sp>
        <p:nvSpPr>
          <p:cNvPr id="9" name="TextBox 8"/>
          <p:cNvSpPr txBox="1"/>
          <p:nvPr/>
        </p:nvSpPr>
        <p:spPr>
          <a:xfrm>
            <a:off x="5760720" y="2212848"/>
            <a:ext cx="1649882" cy="274320"/>
          </a:xfrm>
          <a:prstGeom prst="rect">
            <a:avLst/>
          </a:prstGeom>
          <a:noFill/>
        </p:spPr>
        <p:txBody>
          <a:bodyPr wrap="square" anchor="t" lIns="0" rIns="0" tIns="0" bIns="0">
            <a:noAutofit/>
          </a:bodyPr>
          <a:lstStyle/>
          <a:p>
            <a:pPr algn="l">
              <a:spcBef>
                <a:spcPts val="0"/>
              </a:spcBef>
              <a:spcAft>
                <a:spcPts val="0"/>
              </a:spcAft>
            </a:pPr>
            <a:r>
              <a:rPr sz="1050" b="0" i="0">
                <a:solidFill>
                  <a:srgbClr val="5B5347"/>
                </a:solidFill>
                <a:latin typeface="Georgia"/>
              </a:rPr>
              <a:t>completed matches</a:t>
            </a:r>
          </a:p>
        </p:txBody>
      </p:sp>
      <p:sp>
        <p:nvSpPr>
          <p:cNvPr id="10" name="TextBox 9"/>
          <p:cNvSpPr txBox="1"/>
          <p:nvPr/>
        </p:nvSpPr>
        <p:spPr>
          <a:xfrm>
            <a:off x="5760720" y="2487168"/>
            <a:ext cx="1649882" cy="274320"/>
          </a:xfrm>
          <a:prstGeom prst="rect">
            <a:avLst/>
          </a:prstGeom>
          <a:noFill/>
        </p:spPr>
        <p:txBody>
          <a:bodyPr wrap="square" anchor="t" lIns="0" rIns="0" tIns="0" bIns="0">
            <a:noAutofit/>
          </a:bodyPr>
          <a:lstStyle/>
          <a:p>
            <a:pPr algn="l">
              <a:spcBef>
                <a:spcPts val="0"/>
              </a:spcBef>
              <a:spcAft>
                <a:spcPts val="0"/>
              </a:spcAft>
            </a:pPr>
            <a:r>
              <a:rPr sz="750" b="0" i="0" spc="120">
                <a:solidFill>
                  <a:srgbClr val="8C8375"/>
                </a:solidFill>
                <a:latin typeface="Consolas"/>
              </a:rPr>
              <a:t>ANALYSED</a:t>
            </a:r>
          </a:p>
        </p:txBody>
      </p:sp>
      <p:sp>
        <p:nvSpPr>
          <p:cNvPr id="11" name="Rectangle 10"/>
          <p:cNvSpPr/>
          <p:nvPr/>
        </p:nvSpPr>
        <p:spPr>
          <a:xfrm>
            <a:off x="7684922" y="1554480"/>
            <a:ext cx="1649882" cy="22860"/>
          </a:xfrm>
          <a:prstGeom prst="rect">
            <a:avLst/>
          </a:prstGeom>
          <a:solidFill>
            <a:srgbClr val="161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4922" y="1700784"/>
            <a:ext cx="1649882" cy="457200"/>
          </a:xfrm>
          <a:prstGeom prst="rect">
            <a:avLst/>
          </a:prstGeom>
          <a:noFill/>
        </p:spPr>
        <p:txBody>
          <a:bodyPr wrap="square" anchor="t" lIns="0" rIns="0" tIns="0" bIns="0">
            <a:noAutofit/>
          </a:bodyPr>
          <a:lstStyle/>
          <a:p>
            <a:pPr algn="l">
              <a:spcBef>
                <a:spcPts val="0"/>
              </a:spcBef>
              <a:spcAft>
                <a:spcPts val="0"/>
              </a:spcAft>
            </a:pPr>
            <a:r>
              <a:rPr sz="2600" b="0" i="0" spc="-60">
                <a:solidFill>
                  <a:srgbClr val="16130F"/>
                </a:solidFill>
                <a:latin typeface="Consolas"/>
              </a:rPr>
              <a:t>2,454</a:t>
            </a:r>
          </a:p>
        </p:txBody>
      </p:sp>
      <p:sp>
        <p:nvSpPr>
          <p:cNvPr id="13" name="TextBox 12"/>
          <p:cNvSpPr txBox="1"/>
          <p:nvPr/>
        </p:nvSpPr>
        <p:spPr>
          <a:xfrm>
            <a:off x="7684922" y="2212848"/>
            <a:ext cx="1649882" cy="274320"/>
          </a:xfrm>
          <a:prstGeom prst="rect">
            <a:avLst/>
          </a:prstGeom>
          <a:noFill/>
        </p:spPr>
        <p:txBody>
          <a:bodyPr wrap="square" anchor="t" lIns="0" rIns="0" tIns="0" bIns="0">
            <a:noAutofit/>
          </a:bodyPr>
          <a:lstStyle/>
          <a:p>
            <a:pPr algn="l">
              <a:spcBef>
                <a:spcPts val="0"/>
              </a:spcBef>
              <a:spcAft>
                <a:spcPts val="0"/>
              </a:spcAft>
            </a:pPr>
            <a:r>
              <a:rPr sz="1050" b="0" i="0">
                <a:solidFill>
                  <a:srgbClr val="5B5347"/>
                </a:solidFill>
                <a:latin typeface="Georgia"/>
              </a:rPr>
              <a:t>team-match rows</a:t>
            </a:r>
          </a:p>
        </p:txBody>
      </p:sp>
      <p:sp>
        <p:nvSpPr>
          <p:cNvPr id="14" name="TextBox 13"/>
          <p:cNvSpPr txBox="1"/>
          <p:nvPr/>
        </p:nvSpPr>
        <p:spPr>
          <a:xfrm>
            <a:off x="7684922" y="2487168"/>
            <a:ext cx="1649882" cy="274320"/>
          </a:xfrm>
          <a:prstGeom prst="rect">
            <a:avLst/>
          </a:prstGeom>
          <a:noFill/>
        </p:spPr>
        <p:txBody>
          <a:bodyPr wrap="square" anchor="t" lIns="0" rIns="0" tIns="0" bIns="0">
            <a:noAutofit/>
          </a:bodyPr>
          <a:lstStyle/>
          <a:p>
            <a:pPr algn="l">
              <a:spcBef>
                <a:spcPts val="0"/>
              </a:spcBef>
              <a:spcAft>
                <a:spcPts val="0"/>
              </a:spcAft>
            </a:pPr>
            <a:r>
              <a:rPr sz="750" b="0" i="0" spc="120">
                <a:solidFill>
                  <a:srgbClr val="8C8375"/>
                </a:solidFill>
                <a:latin typeface="Consolas"/>
              </a:rPr>
              <a:t>TWO PER MATCH</a:t>
            </a:r>
          </a:p>
        </p:txBody>
      </p:sp>
      <p:sp>
        <p:nvSpPr>
          <p:cNvPr id="15" name="Rectangle 14"/>
          <p:cNvSpPr/>
          <p:nvPr/>
        </p:nvSpPr>
        <p:spPr>
          <a:xfrm>
            <a:off x="9609124" y="1554480"/>
            <a:ext cx="1649882" cy="22860"/>
          </a:xfrm>
          <a:prstGeom prst="rect">
            <a:avLst/>
          </a:prstGeom>
          <a:solidFill>
            <a:srgbClr val="161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9124" y="1700784"/>
            <a:ext cx="1649882" cy="457200"/>
          </a:xfrm>
          <a:prstGeom prst="rect">
            <a:avLst/>
          </a:prstGeom>
          <a:noFill/>
        </p:spPr>
        <p:txBody>
          <a:bodyPr wrap="square" anchor="t" lIns="0" rIns="0" tIns="0" bIns="0">
            <a:noAutofit/>
          </a:bodyPr>
          <a:lstStyle/>
          <a:p>
            <a:pPr algn="l">
              <a:spcBef>
                <a:spcPts val="0"/>
              </a:spcBef>
              <a:spcAft>
                <a:spcPts val="0"/>
              </a:spcAft>
            </a:pPr>
            <a:r>
              <a:rPr sz="2600" b="0" i="0" spc="-60">
                <a:solidFill>
                  <a:srgbClr val="16130F"/>
                </a:solidFill>
                <a:latin typeface="Consolas"/>
              </a:rPr>
              <a:t>18</a:t>
            </a:r>
          </a:p>
        </p:txBody>
      </p:sp>
      <p:sp>
        <p:nvSpPr>
          <p:cNvPr id="17" name="TextBox 16"/>
          <p:cNvSpPr txBox="1"/>
          <p:nvPr/>
        </p:nvSpPr>
        <p:spPr>
          <a:xfrm>
            <a:off x="9609124" y="2212848"/>
            <a:ext cx="1649882" cy="274320"/>
          </a:xfrm>
          <a:prstGeom prst="rect">
            <a:avLst/>
          </a:prstGeom>
          <a:noFill/>
        </p:spPr>
        <p:txBody>
          <a:bodyPr wrap="square" anchor="t" lIns="0" rIns="0" tIns="0" bIns="0">
            <a:noAutofit/>
          </a:bodyPr>
          <a:lstStyle/>
          <a:p>
            <a:pPr algn="l">
              <a:spcBef>
                <a:spcPts val="0"/>
              </a:spcBef>
              <a:spcAft>
                <a:spcPts val="0"/>
              </a:spcAft>
            </a:pPr>
            <a:r>
              <a:rPr sz="1050" b="0" i="0">
                <a:solidFill>
                  <a:srgbClr val="5B5347"/>
                </a:solidFill>
                <a:latin typeface="Georgia"/>
              </a:rPr>
              <a:t>seasons</a:t>
            </a:r>
          </a:p>
        </p:txBody>
      </p:sp>
      <p:sp>
        <p:nvSpPr>
          <p:cNvPr id="18" name="TextBox 17"/>
          <p:cNvSpPr txBox="1"/>
          <p:nvPr/>
        </p:nvSpPr>
        <p:spPr>
          <a:xfrm>
            <a:off x="9609124" y="2487168"/>
            <a:ext cx="1649882" cy="274320"/>
          </a:xfrm>
          <a:prstGeom prst="rect">
            <a:avLst/>
          </a:prstGeom>
          <a:noFill/>
        </p:spPr>
        <p:txBody>
          <a:bodyPr wrap="square" anchor="t" lIns="0" rIns="0" tIns="0" bIns="0">
            <a:noAutofit/>
          </a:bodyPr>
          <a:lstStyle/>
          <a:p>
            <a:pPr algn="l">
              <a:spcBef>
                <a:spcPts val="0"/>
              </a:spcBef>
              <a:spcAft>
                <a:spcPts val="0"/>
              </a:spcAft>
            </a:pPr>
            <a:r>
              <a:rPr sz="750" b="0" i="0" spc="120">
                <a:solidFill>
                  <a:srgbClr val="8C8375"/>
                </a:solidFill>
                <a:latin typeface="Consolas"/>
              </a:rPr>
              <a:t>2008–2025</a:t>
            </a:r>
          </a:p>
        </p:txBody>
      </p:sp>
      <p:sp>
        <p:nvSpPr>
          <p:cNvPr id="19" name="Rectangle 18"/>
          <p:cNvSpPr/>
          <p:nvPr/>
        </p:nvSpPr>
        <p:spPr>
          <a:xfrm>
            <a:off x="5760720" y="3108960"/>
            <a:ext cx="1649882" cy="22860"/>
          </a:xfrm>
          <a:prstGeom prst="rect">
            <a:avLst/>
          </a:prstGeom>
          <a:solidFill>
            <a:srgbClr val="161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0720" y="3255264"/>
            <a:ext cx="1649882" cy="457200"/>
          </a:xfrm>
          <a:prstGeom prst="rect">
            <a:avLst/>
          </a:prstGeom>
          <a:noFill/>
        </p:spPr>
        <p:txBody>
          <a:bodyPr wrap="square" anchor="t" lIns="0" rIns="0" tIns="0" bIns="0">
            <a:noAutofit/>
          </a:bodyPr>
          <a:lstStyle/>
          <a:p>
            <a:pPr algn="l">
              <a:spcBef>
                <a:spcPts val="0"/>
              </a:spcBef>
              <a:spcAft>
                <a:spcPts val="0"/>
              </a:spcAft>
            </a:pPr>
            <a:r>
              <a:rPr sz="2600" b="0" i="0" spc="-60">
                <a:solidFill>
                  <a:srgbClr val="16130F"/>
                </a:solidFill>
                <a:latin typeface="Consolas"/>
              </a:rPr>
              <a:t>15</a:t>
            </a:r>
          </a:p>
        </p:txBody>
      </p:sp>
      <p:sp>
        <p:nvSpPr>
          <p:cNvPr id="21" name="TextBox 20"/>
          <p:cNvSpPr txBox="1"/>
          <p:nvPr/>
        </p:nvSpPr>
        <p:spPr>
          <a:xfrm>
            <a:off x="5760720" y="3767328"/>
            <a:ext cx="1649882" cy="274320"/>
          </a:xfrm>
          <a:prstGeom prst="rect">
            <a:avLst/>
          </a:prstGeom>
          <a:noFill/>
        </p:spPr>
        <p:txBody>
          <a:bodyPr wrap="square" anchor="t" lIns="0" rIns="0" tIns="0" bIns="0">
            <a:noAutofit/>
          </a:bodyPr>
          <a:lstStyle/>
          <a:p>
            <a:pPr algn="l">
              <a:spcBef>
                <a:spcPts val="0"/>
              </a:spcBef>
              <a:spcAft>
                <a:spcPts val="0"/>
              </a:spcAft>
            </a:pPr>
            <a:r>
              <a:rPr sz="1050" b="0" i="0">
                <a:solidFill>
                  <a:srgbClr val="5B5347"/>
                </a:solidFill>
                <a:latin typeface="Georgia"/>
              </a:rPr>
              <a:t>franchises</a:t>
            </a:r>
          </a:p>
        </p:txBody>
      </p:sp>
      <p:sp>
        <p:nvSpPr>
          <p:cNvPr id="22" name="TextBox 21"/>
          <p:cNvSpPr txBox="1"/>
          <p:nvPr/>
        </p:nvSpPr>
        <p:spPr>
          <a:xfrm>
            <a:off x="5760720" y="4041648"/>
            <a:ext cx="1649882" cy="274320"/>
          </a:xfrm>
          <a:prstGeom prst="rect">
            <a:avLst/>
          </a:prstGeom>
          <a:noFill/>
        </p:spPr>
        <p:txBody>
          <a:bodyPr wrap="square" anchor="t" lIns="0" rIns="0" tIns="0" bIns="0">
            <a:noAutofit/>
          </a:bodyPr>
          <a:lstStyle/>
          <a:p>
            <a:pPr algn="l">
              <a:spcBef>
                <a:spcPts val="0"/>
              </a:spcBef>
              <a:spcAft>
                <a:spcPts val="0"/>
              </a:spcAft>
            </a:pPr>
            <a:r>
              <a:rPr sz="750" b="0" i="0" spc="120">
                <a:solidFill>
                  <a:srgbClr val="8C8375"/>
                </a:solidFill>
                <a:latin typeface="Consolas"/>
              </a:rPr>
              <a:t>NAME-STANDARDISED</a:t>
            </a:r>
          </a:p>
        </p:txBody>
      </p:sp>
      <p:sp>
        <p:nvSpPr>
          <p:cNvPr id="23" name="Rectangle 22"/>
          <p:cNvSpPr/>
          <p:nvPr/>
        </p:nvSpPr>
        <p:spPr>
          <a:xfrm>
            <a:off x="7684922" y="3108960"/>
            <a:ext cx="1649882" cy="22860"/>
          </a:xfrm>
          <a:prstGeom prst="rect">
            <a:avLst/>
          </a:prstGeom>
          <a:solidFill>
            <a:srgbClr val="161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4922" y="3255264"/>
            <a:ext cx="1649882" cy="457200"/>
          </a:xfrm>
          <a:prstGeom prst="rect">
            <a:avLst/>
          </a:prstGeom>
          <a:noFill/>
        </p:spPr>
        <p:txBody>
          <a:bodyPr wrap="square" anchor="t" lIns="0" rIns="0" tIns="0" bIns="0">
            <a:noAutofit/>
          </a:bodyPr>
          <a:lstStyle/>
          <a:p>
            <a:pPr algn="l">
              <a:spcBef>
                <a:spcPts val="0"/>
              </a:spcBef>
              <a:spcAft>
                <a:spcPts val="0"/>
              </a:spcAft>
            </a:pPr>
            <a:r>
              <a:rPr sz="2600" b="0" i="0" spc="-60">
                <a:solidFill>
                  <a:srgbClr val="16130F"/>
                </a:solidFill>
                <a:latin typeface="Consolas"/>
              </a:rPr>
              <a:t>60</a:t>
            </a:r>
          </a:p>
        </p:txBody>
      </p:sp>
      <p:sp>
        <p:nvSpPr>
          <p:cNvPr id="25" name="TextBox 24"/>
          <p:cNvSpPr txBox="1"/>
          <p:nvPr/>
        </p:nvSpPr>
        <p:spPr>
          <a:xfrm>
            <a:off x="7684922" y="3767328"/>
            <a:ext cx="1649882" cy="274320"/>
          </a:xfrm>
          <a:prstGeom prst="rect">
            <a:avLst/>
          </a:prstGeom>
          <a:noFill/>
        </p:spPr>
        <p:txBody>
          <a:bodyPr wrap="square" anchor="t" lIns="0" rIns="0" tIns="0" bIns="0">
            <a:noAutofit/>
          </a:bodyPr>
          <a:lstStyle/>
          <a:p>
            <a:pPr algn="l">
              <a:spcBef>
                <a:spcPts val="0"/>
              </a:spcBef>
              <a:spcAft>
                <a:spcPts val="0"/>
              </a:spcAft>
            </a:pPr>
            <a:r>
              <a:rPr sz="1050" b="0" i="0">
                <a:solidFill>
                  <a:srgbClr val="5B5347"/>
                </a:solidFill>
                <a:latin typeface="Georgia"/>
              </a:rPr>
              <a:t>venues</a:t>
            </a:r>
          </a:p>
        </p:txBody>
      </p:sp>
      <p:sp>
        <p:nvSpPr>
          <p:cNvPr id="26" name="TextBox 25"/>
          <p:cNvSpPr txBox="1"/>
          <p:nvPr/>
        </p:nvSpPr>
        <p:spPr>
          <a:xfrm>
            <a:off x="7684922" y="4041648"/>
            <a:ext cx="1649882" cy="274320"/>
          </a:xfrm>
          <a:prstGeom prst="rect">
            <a:avLst/>
          </a:prstGeom>
          <a:noFill/>
        </p:spPr>
        <p:txBody>
          <a:bodyPr wrap="square" anchor="t" lIns="0" rIns="0" tIns="0" bIns="0">
            <a:noAutofit/>
          </a:bodyPr>
          <a:lstStyle/>
          <a:p>
            <a:pPr algn="l">
              <a:spcBef>
                <a:spcPts val="0"/>
              </a:spcBef>
              <a:spcAft>
                <a:spcPts val="0"/>
              </a:spcAft>
            </a:pPr>
            <a:r>
              <a:rPr sz="750" b="0" i="0" spc="120">
                <a:solidFill>
                  <a:srgbClr val="8C8375"/>
                </a:solidFill>
                <a:latin typeface="Consolas"/>
              </a:rPr>
              <a:t>NOT MODELLED</a:t>
            </a:r>
          </a:p>
        </p:txBody>
      </p:sp>
      <p:sp>
        <p:nvSpPr>
          <p:cNvPr id="27" name="Rectangle 26"/>
          <p:cNvSpPr/>
          <p:nvPr/>
        </p:nvSpPr>
        <p:spPr>
          <a:xfrm>
            <a:off x="9609124" y="3108960"/>
            <a:ext cx="1649882" cy="22860"/>
          </a:xfrm>
          <a:prstGeom prst="rect">
            <a:avLst/>
          </a:prstGeom>
          <a:solidFill>
            <a:srgbClr val="A81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09124" y="3255264"/>
            <a:ext cx="1649882" cy="457200"/>
          </a:xfrm>
          <a:prstGeom prst="rect">
            <a:avLst/>
          </a:prstGeom>
          <a:noFill/>
        </p:spPr>
        <p:txBody>
          <a:bodyPr wrap="square" anchor="t" lIns="0" rIns="0" tIns="0" bIns="0">
            <a:noAutofit/>
          </a:bodyPr>
          <a:lstStyle/>
          <a:p>
            <a:pPr algn="l">
              <a:spcBef>
                <a:spcPts val="0"/>
              </a:spcBef>
              <a:spcAft>
                <a:spcPts val="0"/>
              </a:spcAft>
            </a:pPr>
            <a:r>
              <a:rPr sz="2600" b="0" i="0" spc="-60">
                <a:solidFill>
                  <a:srgbClr val="16130F"/>
                </a:solidFill>
                <a:latin typeface="Consolas"/>
              </a:rPr>
              <a:t>16</a:t>
            </a:r>
          </a:p>
        </p:txBody>
      </p:sp>
      <p:sp>
        <p:nvSpPr>
          <p:cNvPr id="29" name="TextBox 28"/>
          <p:cNvSpPr txBox="1"/>
          <p:nvPr/>
        </p:nvSpPr>
        <p:spPr>
          <a:xfrm>
            <a:off x="9609124" y="3767328"/>
            <a:ext cx="1649882" cy="274320"/>
          </a:xfrm>
          <a:prstGeom prst="rect">
            <a:avLst/>
          </a:prstGeom>
          <a:noFill/>
        </p:spPr>
        <p:txBody>
          <a:bodyPr wrap="square" anchor="t" lIns="0" rIns="0" tIns="0" bIns="0">
            <a:noAutofit/>
          </a:bodyPr>
          <a:lstStyle/>
          <a:p>
            <a:pPr algn="l">
              <a:spcBef>
                <a:spcPts val="0"/>
              </a:spcBef>
              <a:spcAft>
                <a:spcPts val="0"/>
              </a:spcAft>
            </a:pPr>
            <a:r>
              <a:rPr sz="1050" b="0" i="0">
                <a:solidFill>
                  <a:srgbClr val="5B5347"/>
                </a:solidFill>
                <a:latin typeface="Georgia"/>
              </a:rPr>
              <a:t>matches excluded</a:t>
            </a:r>
          </a:p>
        </p:txBody>
      </p:sp>
      <p:sp>
        <p:nvSpPr>
          <p:cNvPr id="30" name="TextBox 29"/>
          <p:cNvSpPr txBox="1"/>
          <p:nvPr/>
        </p:nvSpPr>
        <p:spPr>
          <a:xfrm>
            <a:off x="9609124" y="4041648"/>
            <a:ext cx="1649882" cy="274320"/>
          </a:xfrm>
          <a:prstGeom prst="rect">
            <a:avLst/>
          </a:prstGeom>
          <a:noFill/>
        </p:spPr>
        <p:txBody>
          <a:bodyPr wrap="square" anchor="t" lIns="0" rIns="0" tIns="0" bIns="0">
            <a:noAutofit/>
          </a:bodyPr>
          <a:lstStyle/>
          <a:p>
            <a:pPr algn="l">
              <a:spcBef>
                <a:spcPts val="0"/>
              </a:spcBef>
              <a:spcAft>
                <a:spcPts val="0"/>
              </a:spcAft>
            </a:pPr>
            <a:r>
              <a:rPr sz="750" b="0" i="0" spc="120">
                <a:solidFill>
                  <a:srgbClr val="8C8375"/>
                </a:solidFill>
                <a:latin typeface="Consolas"/>
              </a:rPr>
              <a:t>NO-RESULT · SHORT</a:t>
            </a:r>
          </a:p>
        </p:txBody>
      </p:sp>
      <p:cxnSp>
        <p:nvCxnSpPr>
          <p:cNvPr id="31" name="Connector 30"/>
          <p:cNvCxnSpPr/>
          <p:nvPr/>
        </p:nvCxnSpPr>
        <p:spPr>
          <a:xfrm>
            <a:off x="658368" y="4626864"/>
            <a:ext cx="10874959" cy="0"/>
          </a:xfrm>
          <a:prstGeom prst="line">
            <a:avLst/>
          </a:prstGeom>
          <a:ln w="13970">
            <a:solidFill>
              <a:srgbClr val="16130F"/>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58368" y="4809744"/>
            <a:ext cx="10874959" cy="822960"/>
          </a:xfrm>
          <a:prstGeom prst="rect">
            <a:avLst/>
          </a:prstGeom>
          <a:noFill/>
        </p:spPr>
        <p:txBody>
          <a:bodyPr wrap="square" anchor="t" lIns="0" rIns="0" tIns="0" bIns="0">
            <a:noAutofit/>
          </a:bodyPr>
          <a:lstStyle/>
          <a:p>
            <a:pPr algn="l">
              <a:spcBef>
                <a:spcPts val="0"/>
              </a:spcBef>
              <a:spcAft>
                <a:spcPts val="0"/>
              </a:spcAft>
            </a:pPr>
            <a:r>
              <a:rPr sz="850" b="0" i="0" spc="140">
                <a:solidFill>
                  <a:srgbClr val="A8102F"/>
                </a:solidFill>
                <a:latin typeface="Consolas"/>
              </a:rPr>
              <a:t>COVERAGE</a:t>
            </a:r>
          </a:p>
          <a:p>
            <a:pPr algn="l">
              <a:lnSpc>
                <a:spcPct val="136000"/>
              </a:lnSpc>
              <a:spcBef>
                <a:spcPts val="400"/>
              </a:spcBef>
              <a:spcAft>
                <a:spcPts val="0"/>
              </a:spcAft>
            </a:pPr>
            <a:r>
              <a:rPr sz="1300" b="0" i="0">
                <a:solidFill>
                  <a:srgbClr val="16130F"/>
                </a:solidFill>
                <a:latin typeface="Georgia"/>
              </a:rPr>
              <a:t>Every completed IPL match with a full six-over powerplay for both sides — the whole population, not a sample.</a:t>
            </a:r>
          </a:p>
        </p:txBody>
      </p:sp>
    </p:spTree>
  </p:cSld>
  <p:clrMapOvr>
    <a:masterClrMapping/>
  </p:clrMapOvr>
  <p:transition spd="med">
    <p:push dir="u"/>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2E9"/>
        </a:solidFill>
        <a:effectLst/>
      </p:bgPr>
    </p:bg>
    <p:spTree>
      <p:nvGrpSpPr>
        <p:cNvPr id="1" name=""/>
        <p:cNvGrpSpPr/>
        <p:nvPr/>
      </p:nvGrpSpPr>
      <p:grpSpPr/>
      <p:sp>
        <p:nvSpPr>
          <p:cNvPr id="2" name="TextBox 1"/>
          <p:cNvSpPr txBox="1"/>
          <p:nvPr/>
        </p:nvSpPr>
        <p:spPr>
          <a:xfrm>
            <a:off x="658368" y="420624"/>
            <a:ext cx="5669280"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8C8375"/>
                </a:solidFill>
                <a:latin typeface="Consolas"/>
              </a:rPr>
              <a:t>03 · DATA CLEANING</a:t>
            </a:r>
          </a:p>
        </p:txBody>
      </p:sp>
      <p:sp>
        <p:nvSpPr>
          <p:cNvPr id="3" name="TextBox 2"/>
          <p:cNvSpPr txBox="1"/>
          <p:nvPr/>
        </p:nvSpPr>
        <p:spPr>
          <a:xfrm>
            <a:off x="6961327" y="420624"/>
            <a:ext cx="4572000" cy="274320"/>
          </a:xfrm>
          <a:prstGeom prst="rect">
            <a:avLst/>
          </a:prstGeom>
          <a:noFill/>
        </p:spPr>
        <p:txBody>
          <a:bodyPr wrap="square" anchor="t" lIns="0" rIns="0" tIns="0" bIns="0">
            <a:noAutofit/>
          </a:bodyPr>
          <a:lstStyle/>
          <a:p>
            <a:pPr algn="r">
              <a:spcBef>
                <a:spcPts val="0"/>
              </a:spcBef>
              <a:spcAft>
                <a:spcPts val="0"/>
              </a:spcAft>
            </a:pPr>
            <a:r>
              <a:rPr sz="850" b="0" i="0" spc="150">
                <a:solidFill>
                  <a:srgbClr val="8C8375"/>
                </a:solidFill>
                <a:latin typeface="Consolas"/>
              </a:rPr>
              <a:t>RULES &amp; REPRODUCIBILITY</a:t>
            </a:r>
          </a:p>
        </p:txBody>
      </p:sp>
      <p:sp>
        <p:nvSpPr>
          <p:cNvPr id="4" name="TextBox 3"/>
          <p:cNvSpPr txBox="1"/>
          <p:nvPr/>
        </p:nvSpPr>
        <p:spPr>
          <a:xfrm>
            <a:off x="658368" y="841248"/>
            <a:ext cx="4937760" cy="868680"/>
          </a:xfrm>
          <a:prstGeom prst="rect">
            <a:avLst/>
          </a:prstGeom>
          <a:noFill/>
        </p:spPr>
        <p:txBody>
          <a:bodyPr wrap="square" anchor="t" lIns="0" rIns="0" tIns="0" bIns="0">
            <a:noAutofit/>
          </a:bodyPr>
          <a:lstStyle/>
          <a:p>
            <a:pPr algn="l">
              <a:lnSpc>
                <a:spcPct val="102000"/>
              </a:lnSpc>
              <a:spcBef>
                <a:spcPts val="0"/>
              </a:spcBef>
              <a:spcAft>
                <a:spcPts val="0"/>
              </a:spcAft>
            </a:pPr>
            <a:r>
              <a:rPr sz="2600" b="0" i="0" spc="-30">
                <a:solidFill>
                  <a:srgbClr val="16130F"/>
                </a:solidFill>
                <a:latin typeface="Palatino Linotype"/>
              </a:rPr>
              <a:t>Raw files are never modified.</a:t>
            </a:r>
          </a:p>
        </p:txBody>
      </p:sp>
      <p:sp>
        <p:nvSpPr>
          <p:cNvPr id="5" name="TextBox 4"/>
          <p:cNvSpPr txBox="1"/>
          <p:nvPr/>
        </p:nvSpPr>
        <p:spPr>
          <a:xfrm>
            <a:off x="658368" y="1481328"/>
            <a:ext cx="868680" cy="274320"/>
          </a:xfrm>
          <a:prstGeom prst="rect">
            <a:avLst/>
          </a:prstGeom>
          <a:noFill/>
        </p:spPr>
        <p:txBody>
          <a:bodyPr wrap="square" anchor="t" lIns="0" rIns="0" tIns="0" bIns="0">
            <a:noAutofit/>
          </a:bodyPr>
          <a:lstStyle/>
          <a:p>
            <a:pPr algn="l">
              <a:spcBef>
                <a:spcPts val="0"/>
              </a:spcBef>
              <a:spcAft>
                <a:spcPts val="0"/>
              </a:spcAft>
            </a:pPr>
            <a:r>
              <a:rPr sz="750" b="0" i="0" spc="120">
                <a:solidFill>
                  <a:srgbClr val="A8102F"/>
                </a:solidFill>
                <a:latin typeface="Consolas"/>
              </a:rPr>
              <a:t>FILTER</a:t>
            </a:r>
          </a:p>
        </p:txBody>
      </p:sp>
      <p:sp>
        <p:nvSpPr>
          <p:cNvPr id="6" name="TextBox 5"/>
          <p:cNvSpPr txBox="1"/>
          <p:nvPr/>
        </p:nvSpPr>
        <p:spPr>
          <a:xfrm>
            <a:off x="1591056" y="1463040"/>
            <a:ext cx="4892040" cy="566928"/>
          </a:xfrm>
          <a:prstGeom prst="rect">
            <a:avLst/>
          </a:prstGeom>
          <a:noFill/>
        </p:spPr>
        <p:txBody>
          <a:bodyPr wrap="square" anchor="t" lIns="0" rIns="0" tIns="0" bIns="0">
            <a:noAutofit/>
          </a:bodyPr>
          <a:lstStyle/>
          <a:p>
            <a:pPr algn="l">
              <a:lnSpc>
                <a:spcPct val="130000"/>
              </a:lnSpc>
              <a:spcBef>
                <a:spcPts val="0"/>
              </a:spcBef>
              <a:spcAft>
                <a:spcPts val="0"/>
              </a:spcAft>
            </a:pPr>
            <a:r>
              <a:rPr sz="1100" b="0" i="0">
                <a:solidFill>
                  <a:srgbClr val="5B5347"/>
                </a:solidFill>
                <a:latin typeface="Georgia"/>
              </a:rPr>
              <a:t>Drop 9 abandoned / no-result matches and 7 without a complete six-over powerplay.</a:t>
            </a:r>
          </a:p>
        </p:txBody>
      </p:sp>
      <p:sp>
        <p:nvSpPr>
          <p:cNvPr id="7" name="TextBox 6"/>
          <p:cNvSpPr txBox="1"/>
          <p:nvPr/>
        </p:nvSpPr>
        <p:spPr>
          <a:xfrm>
            <a:off x="658368" y="2048256"/>
            <a:ext cx="868680" cy="274320"/>
          </a:xfrm>
          <a:prstGeom prst="rect">
            <a:avLst/>
          </a:prstGeom>
          <a:noFill/>
        </p:spPr>
        <p:txBody>
          <a:bodyPr wrap="square" anchor="t" lIns="0" rIns="0" tIns="0" bIns="0">
            <a:noAutofit/>
          </a:bodyPr>
          <a:lstStyle/>
          <a:p>
            <a:pPr algn="l">
              <a:spcBef>
                <a:spcPts val="0"/>
              </a:spcBef>
              <a:spcAft>
                <a:spcPts val="0"/>
              </a:spcAft>
            </a:pPr>
            <a:r>
              <a:rPr sz="750" b="0" i="0" spc="120">
                <a:solidFill>
                  <a:srgbClr val="A8102F"/>
                </a:solidFill>
                <a:latin typeface="Consolas"/>
              </a:rPr>
              <a:t>FILTER</a:t>
            </a:r>
          </a:p>
        </p:txBody>
      </p:sp>
      <p:sp>
        <p:nvSpPr>
          <p:cNvPr id="8" name="TextBox 7"/>
          <p:cNvSpPr txBox="1"/>
          <p:nvPr/>
        </p:nvSpPr>
        <p:spPr>
          <a:xfrm>
            <a:off x="1591056" y="2029968"/>
            <a:ext cx="4892040" cy="566928"/>
          </a:xfrm>
          <a:prstGeom prst="rect">
            <a:avLst/>
          </a:prstGeom>
          <a:noFill/>
        </p:spPr>
        <p:txBody>
          <a:bodyPr wrap="square" anchor="t" lIns="0" rIns="0" tIns="0" bIns="0">
            <a:noAutofit/>
          </a:bodyPr>
          <a:lstStyle/>
          <a:p>
            <a:pPr algn="l">
              <a:lnSpc>
                <a:spcPct val="130000"/>
              </a:lnSpc>
              <a:spcBef>
                <a:spcPts val="0"/>
              </a:spcBef>
              <a:spcAft>
                <a:spcPts val="0"/>
              </a:spcAft>
            </a:pPr>
            <a:r>
              <a:rPr sz="1100" b="0" i="0">
                <a:solidFill>
                  <a:srgbClr val="5B5347"/>
                </a:solidFill>
                <a:latin typeface="Georgia"/>
              </a:rPr>
              <a:t>Keep only deliveries in overs 1–6 of each innings.</a:t>
            </a:r>
          </a:p>
        </p:txBody>
      </p:sp>
      <p:sp>
        <p:nvSpPr>
          <p:cNvPr id="9" name="TextBox 8"/>
          <p:cNvSpPr txBox="1"/>
          <p:nvPr/>
        </p:nvSpPr>
        <p:spPr>
          <a:xfrm>
            <a:off x="658368" y="2615184"/>
            <a:ext cx="868680" cy="274320"/>
          </a:xfrm>
          <a:prstGeom prst="rect">
            <a:avLst/>
          </a:prstGeom>
          <a:noFill/>
        </p:spPr>
        <p:txBody>
          <a:bodyPr wrap="square" anchor="t" lIns="0" rIns="0" tIns="0" bIns="0">
            <a:noAutofit/>
          </a:bodyPr>
          <a:lstStyle/>
          <a:p>
            <a:pPr algn="l">
              <a:spcBef>
                <a:spcPts val="0"/>
              </a:spcBef>
              <a:spcAft>
                <a:spcPts val="0"/>
              </a:spcAft>
            </a:pPr>
            <a:r>
              <a:rPr sz="750" b="0" i="0" spc="120">
                <a:solidFill>
                  <a:srgbClr val="A8102F"/>
                </a:solidFill>
                <a:latin typeface="Consolas"/>
              </a:rPr>
              <a:t>STANDARDISE</a:t>
            </a:r>
          </a:p>
        </p:txBody>
      </p:sp>
      <p:sp>
        <p:nvSpPr>
          <p:cNvPr id="10" name="TextBox 9"/>
          <p:cNvSpPr txBox="1"/>
          <p:nvPr/>
        </p:nvSpPr>
        <p:spPr>
          <a:xfrm>
            <a:off x="1591056" y="2596896"/>
            <a:ext cx="4892040" cy="566928"/>
          </a:xfrm>
          <a:prstGeom prst="rect">
            <a:avLst/>
          </a:prstGeom>
          <a:noFill/>
        </p:spPr>
        <p:txBody>
          <a:bodyPr wrap="square" anchor="t" lIns="0" rIns="0" tIns="0" bIns="0">
            <a:noAutofit/>
          </a:bodyPr>
          <a:lstStyle/>
          <a:p>
            <a:pPr algn="l">
              <a:lnSpc>
                <a:spcPct val="130000"/>
              </a:lnSpc>
              <a:spcBef>
                <a:spcPts val="0"/>
              </a:spcBef>
              <a:spcAft>
                <a:spcPts val="0"/>
              </a:spcAft>
            </a:pPr>
            <a:r>
              <a:rPr sz="1100" b="0" i="0">
                <a:solidFill>
                  <a:srgbClr val="5B5347"/>
                </a:solidFill>
                <a:latin typeface="Georgia"/>
              </a:rPr>
              <a:t>Merge renamed franchises (Kings XI Punjab → Punjab Kings) across seasons.</a:t>
            </a:r>
          </a:p>
        </p:txBody>
      </p:sp>
      <p:sp>
        <p:nvSpPr>
          <p:cNvPr id="11" name="TextBox 10"/>
          <p:cNvSpPr txBox="1"/>
          <p:nvPr/>
        </p:nvSpPr>
        <p:spPr>
          <a:xfrm>
            <a:off x="658368" y="3182112"/>
            <a:ext cx="868680" cy="274320"/>
          </a:xfrm>
          <a:prstGeom prst="rect">
            <a:avLst/>
          </a:prstGeom>
          <a:noFill/>
        </p:spPr>
        <p:txBody>
          <a:bodyPr wrap="square" anchor="t" lIns="0" rIns="0" tIns="0" bIns="0">
            <a:noAutofit/>
          </a:bodyPr>
          <a:lstStyle/>
          <a:p>
            <a:pPr algn="l">
              <a:spcBef>
                <a:spcPts val="0"/>
              </a:spcBef>
              <a:spcAft>
                <a:spcPts val="0"/>
              </a:spcAft>
            </a:pPr>
            <a:r>
              <a:rPr sz="750" b="0" i="0" spc="120">
                <a:solidFill>
                  <a:srgbClr val="A8102F"/>
                </a:solidFill>
                <a:latin typeface="Consolas"/>
              </a:rPr>
              <a:t>BUILD</a:t>
            </a:r>
          </a:p>
        </p:txBody>
      </p:sp>
      <p:sp>
        <p:nvSpPr>
          <p:cNvPr id="12" name="TextBox 11"/>
          <p:cNvSpPr txBox="1"/>
          <p:nvPr/>
        </p:nvSpPr>
        <p:spPr>
          <a:xfrm>
            <a:off x="1591056" y="3163824"/>
            <a:ext cx="4892040" cy="566928"/>
          </a:xfrm>
          <a:prstGeom prst="rect">
            <a:avLst/>
          </a:prstGeom>
          <a:noFill/>
        </p:spPr>
        <p:txBody>
          <a:bodyPr wrap="square" anchor="t" lIns="0" rIns="0" tIns="0" bIns="0">
            <a:noAutofit/>
          </a:bodyPr>
          <a:lstStyle/>
          <a:p>
            <a:pPr algn="l">
              <a:lnSpc>
                <a:spcPct val="130000"/>
              </a:lnSpc>
              <a:spcBef>
                <a:spcPts val="0"/>
              </a:spcBef>
              <a:spcAft>
                <a:spcPts val="0"/>
              </a:spcAft>
            </a:pPr>
            <a:r>
              <a:rPr sz="1100" b="0" i="0">
                <a:solidFill>
                  <a:srgbClr val="5B5347"/>
                </a:solidFill>
                <a:latin typeface="Georgia"/>
              </a:rPr>
              <a:t>powerplay_runs, powerplay_wickets and powerplay_run_rate per team-innings.</a:t>
            </a:r>
          </a:p>
        </p:txBody>
      </p:sp>
      <p:sp>
        <p:nvSpPr>
          <p:cNvPr id="13" name="TextBox 12"/>
          <p:cNvSpPr txBox="1"/>
          <p:nvPr/>
        </p:nvSpPr>
        <p:spPr>
          <a:xfrm>
            <a:off x="658368" y="3749040"/>
            <a:ext cx="868680" cy="274320"/>
          </a:xfrm>
          <a:prstGeom prst="rect">
            <a:avLst/>
          </a:prstGeom>
          <a:noFill/>
        </p:spPr>
        <p:txBody>
          <a:bodyPr wrap="square" anchor="t" lIns="0" rIns="0" tIns="0" bIns="0">
            <a:noAutofit/>
          </a:bodyPr>
          <a:lstStyle/>
          <a:p>
            <a:pPr algn="l">
              <a:spcBef>
                <a:spcPts val="0"/>
              </a:spcBef>
              <a:spcAft>
                <a:spcPts val="0"/>
              </a:spcAft>
            </a:pPr>
            <a:r>
              <a:rPr sz="750" b="0" i="0" spc="120">
                <a:solidFill>
                  <a:srgbClr val="A8102F"/>
                </a:solidFill>
                <a:latin typeface="Consolas"/>
              </a:rPr>
              <a:t>ENCODE</a:t>
            </a:r>
          </a:p>
        </p:txBody>
      </p:sp>
      <p:sp>
        <p:nvSpPr>
          <p:cNvPr id="14" name="TextBox 13"/>
          <p:cNvSpPr txBox="1"/>
          <p:nvPr/>
        </p:nvSpPr>
        <p:spPr>
          <a:xfrm>
            <a:off x="1591056" y="3730752"/>
            <a:ext cx="4892040" cy="566928"/>
          </a:xfrm>
          <a:prstGeom prst="rect">
            <a:avLst/>
          </a:prstGeom>
          <a:noFill/>
        </p:spPr>
        <p:txBody>
          <a:bodyPr wrap="square" anchor="t" lIns="0" rIns="0" tIns="0" bIns="0">
            <a:noAutofit/>
          </a:bodyPr>
          <a:lstStyle/>
          <a:p>
            <a:pPr algn="l">
              <a:lnSpc>
                <a:spcPct val="130000"/>
              </a:lnSpc>
              <a:spcBef>
                <a:spcPts val="0"/>
              </a:spcBef>
              <a:spcAft>
                <a:spcPts val="0"/>
              </a:spcAft>
            </a:pPr>
            <a:r>
              <a:rPr sz="1100" b="0" i="0">
                <a:solidFill>
                  <a:srgbClr val="5B5347"/>
                </a:solidFill>
                <a:latin typeface="Georgia"/>
              </a:rPr>
              <a:t>Binary toss_win and match_win; banded score and wicket columns.</a:t>
            </a:r>
          </a:p>
        </p:txBody>
      </p:sp>
      <p:sp>
        <p:nvSpPr>
          <p:cNvPr id="15" name="TextBox 14"/>
          <p:cNvSpPr txBox="1"/>
          <p:nvPr/>
        </p:nvSpPr>
        <p:spPr>
          <a:xfrm>
            <a:off x="658368" y="4315968"/>
            <a:ext cx="868680" cy="274320"/>
          </a:xfrm>
          <a:prstGeom prst="rect">
            <a:avLst/>
          </a:prstGeom>
          <a:noFill/>
        </p:spPr>
        <p:txBody>
          <a:bodyPr wrap="square" anchor="t" lIns="0" rIns="0" tIns="0" bIns="0">
            <a:noAutofit/>
          </a:bodyPr>
          <a:lstStyle/>
          <a:p>
            <a:pPr algn="l">
              <a:spcBef>
                <a:spcPts val="0"/>
              </a:spcBef>
              <a:spcAft>
                <a:spcPts val="0"/>
              </a:spcAft>
            </a:pPr>
            <a:r>
              <a:rPr sz="750" b="0" i="0" spc="120">
                <a:solidFill>
                  <a:srgbClr val="A8102F"/>
                </a:solidFill>
                <a:latin typeface="Consolas"/>
              </a:rPr>
              <a:t>CHECK</a:t>
            </a:r>
          </a:p>
        </p:txBody>
      </p:sp>
      <p:sp>
        <p:nvSpPr>
          <p:cNvPr id="16" name="TextBox 15"/>
          <p:cNvSpPr txBox="1"/>
          <p:nvPr/>
        </p:nvSpPr>
        <p:spPr>
          <a:xfrm>
            <a:off x="1591056" y="4297680"/>
            <a:ext cx="4892040" cy="566928"/>
          </a:xfrm>
          <a:prstGeom prst="rect">
            <a:avLst/>
          </a:prstGeom>
          <a:noFill/>
        </p:spPr>
        <p:txBody>
          <a:bodyPr wrap="square" anchor="t" lIns="0" rIns="0" tIns="0" bIns="0">
            <a:noAutofit/>
          </a:bodyPr>
          <a:lstStyle/>
          <a:p>
            <a:pPr algn="l">
              <a:lnSpc>
                <a:spcPct val="130000"/>
              </a:lnSpc>
              <a:spcBef>
                <a:spcPts val="0"/>
              </a:spcBef>
              <a:spcAft>
                <a:spcPts val="0"/>
              </a:spcAft>
            </a:pPr>
            <a:r>
              <a:rPr sz="1100" b="0" i="0">
                <a:solidFill>
                  <a:srgbClr val="5B5347"/>
                </a:solidFill>
                <a:latin typeface="Georgia"/>
              </a:rPr>
              <a:t>Missing values, duplicate match IDs, impossible scores — all clean.</a:t>
            </a:r>
          </a:p>
        </p:txBody>
      </p:sp>
      <p:sp>
        <p:nvSpPr>
          <p:cNvPr id="17" name="Rectangle 16"/>
          <p:cNvSpPr/>
          <p:nvPr/>
        </p:nvSpPr>
        <p:spPr>
          <a:xfrm>
            <a:off x="6446520" y="1481328"/>
            <a:ext cx="5074920" cy="1335024"/>
          </a:xfrm>
          <a:prstGeom prst="rect">
            <a:avLst/>
          </a:prstGeom>
          <a:solidFill>
            <a:srgbClr val="161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56832" y="1645920"/>
            <a:ext cx="4663440" cy="1005840"/>
          </a:xfrm>
          <a:prstGeom prst="rect">
            <a:avLst/>
          </a:prstGeom>
          <a:noFill/>
        </p:spPr>
        <p:txBody>
          <a:bodyPr wrap="square" anchor="t" lIns="0" rIns="0" tIns="0" bIns="0">
            <a:noAutofit/>
          </a:bodyPr>
          <a:lstStyle/>
          <a:p>
            <a:pPr algn="l">
              <a:spcBef>
                <a:spcPts val="0"/>
              </a:spcBef>
              <a:spcAft>
                <a:spcPts val="0"/>
              </a:spcAft>
            </a:pPr>
            <a:r>
              <a:rPr sz="800" b="0" i="0" spc="100">
                <a:solidFill>
                  <a:srgbClr val="9A9184"/>
                </a:solidFill>
                <a:latin typeface="Consolas"/>
              </a:rPr>
              <a:t># ONE COMMAND REPRODUCES EVERYTHING</a:t>
            </a:r>
          </a:p>
          <a:p>
            <a:pPr algn="l">
              <a:lnSpc>
                <a:spcPct val="130000"/>
              </a:lnSpc>
              <a:spcBef>
                <a:spcPts val="800"/>
              </a:spcBef>
              <a:spcAft>
                <a:spcPts val="0"/>
              </a:spcAft>
            </a:pPr>
            <a:r>
              <a:rPr sz="1150" b="0" i="0">
                <a:solidFill>
                  <a:srgbClr val="F0B7C4"/>
                </a:solidFill>
                <a:latin typeface="Consolas"/>
              </a:rPr>
              <a:t>Rscript </a:t>
            </a:r>
            <a:r>
              <a:rPr sz="1150" b="0" i="0">
                <a:solidFill>
                  <a:srgbClr val="F6F2E9"/>
                </a:solidFill>
                <a:latin typeface="Consolas"/>
              </a:rPr>
              <a:t>R/01_analysis.R</a:t>
            </a:r>
          </a:p>
        </p:txBody>
      </p:sp>
      <p:cxnSp>
        <p:nvCxnSpPr>
          <p:cNvPr id="19" name="Connector 18"/>
          <p:cNvCxnSpPr/>
          <p:nvPr/>
        </p:nvCxnSpPr>
        <p:spPr>
          <a:xfrm>
            <a:off x="6446520" y="3127248"/>
            <a:ext cx="5074920" cy="0"/>
          </a:xfrm>
          <a:prstGeom prst="line">
            <a:avLst/>
          </a:prstGeom>
          <a:ln w="13970">
            <a:solidFill>
              <a:srgbClr val="16130F"/>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46520" y="3209544"/>
            <a:ext cx="3146450" cy="274320"/>
          </a:xfrm>
          <a:prstGeom prst="rect">
            <a:avLst/>
          </a:prstGeom>
          <a:noFill/>
        </p:spPr>
        <p:txBody>
          <a:bodyPr wrap="square" anchor="t" lIns="0" rIns="0" tIns="0" bIns="0">
            <a:noAutofit/>
          </a:bodyPr>
          <a:lstStyle/>
          <a:p>
            <a:pPr algn="l">
              <a:spcBef>
                <a:spcPts val="0"/>
              </a:spcBef>
              <a:spcAft>
                <a:spcPts val="0"/>
              </a:spcAft>
            </a:pPr>
            <a:r>
              <a:rPr sz="1050" b="0" i="0">
                <a:solidFill>
                  <a:srgbClr val="5B5347"/>
                </a:solidFill>
                <a:latin typeface="Georgia"/>
              </a:rPr>
              <a:t>Matches in the download</a:t>
            </a:r>
          </a:p>
        </p:txBody>
      </p:sp>
      <p:sp>
        <p:nvSpPr>
          <p:cNvPr id="21" name="TextBox 20"/>
          <p:cNvSpPr txBox="1"/>
          <p:nvPr/>
        </p:nvSpPr>
        <p:spPr>
          <a:xfrm>
            <a:off x="9237726" y="3209544"/>
            <a:ext cx="2283714" cy="274320"/>
          </a:xfrm>
          <a:prstGeom prst="rect">
            <a:avLst/>
          </a:prstGeom>
          <a:noFill/>
        </p:spPr>
        <p:txBody>
          <a:bodyPr wrap="square" anchor="t" lIns="0" rIns="0" tIns="0" bIns="0">
            <a:noAutofit/>
          </a:bodyPr>
          <a:lstStyle/>
          <a:p>
            <a:pPr algn="r">
              <a:spcBef>
                <a:spcPts val="0"/>
              </a:spcBef>
              <a:spcAft>
                <a:spcPts val="0"/>
              </a:spcAft>
            </a:pPr>
            <a:r>
              <a:rPr sz="1100" b="0" i="0">
                <a:solidFill>
                  <a:srgbClr val="16130F"/>
                </a:solidFill>
                <a:latin typeface="Consolas"/>
              </a:rPr>
              <a:t>1,243</a:t>
            </a:r>
          </a:p>
        </p:txBody>
      </p:sp>
      <p:cxnSp>
        <p:nvCxnSpPr>
          <p:cNvPr id="22" name="Connector 21"/>
          <p:cNvCxnSpPr/>
          <p:nvPr/>
        </p:nvCxnSpPr>
        <p:spPr>
          <a:xfrm>
            <a:off x="6446520" y="3483863"/>
            <a:ext cx="5074920"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446520" y="3575303"/>
            <a:ext cx="3146450" cy="274320"/>
          </a:xfrm>
          <a:prstGeom prst="rect">
            <a:avLst/>
          </a:prstGeom>
          <a:noFill/>
        </p:spPr>
        <p:txBody>
          <a:bodyPr wrap="square" anchor="t" lIns="0" rIns="0" tIns="0" bIns="0">
            <a:noAutofit/>
          </a:bodyPr>
          <a:lstStyle/>
          <a:p>
            <a:pPr algn="l">
              <a:spcBef>
                <a:spcPts val="0"/>
              </a:spcBef>
              <a:spcAft>
                <a:spcPts val="0"/>
              </a:spcAft>
            </a:pPr>
            <a:r>
              <a:rPr sz="1050" b="0" i="0">
                <a:solidFill>
                  <a:srgbClr val="5B5347"/>
                </a:solidFill>
                <a:latin typeface="Georgia"/>
              </a:rPr>
              <a:t>Matches analysed</a:t>
            </a:r>
          </a:p>
        </p:txBody>
      </p:sp>
      <p:sp>
        <p:nvSpPr>
          <p:cNvPr id="24" name="TextBox 23"/>
          <p:cNvSpPr txBox="1"/>
          <p:nvPr/>
        </p:nvSpPr>
        <p:spPr>
          <a:xfrm>
            <a:off x="9237726" y="3575303"/>
            <a:ext cx="2283714" cy="274320"/>
          </a:xfrm>
          <a:prstGeom prst="rect">
            <a:avLst/>
          </a:prstGeom>
          <a:noFill/>
        </p:spPr>
        <p:txBody>
          <a:bodyPr wrap="square" anchor="t" lIns="0" rIns="0" tIns="0" bIns="0">
            <a:noAutofit/>
          </a:bodyPr>
          <a:lstStyle/>
          <a:p>
            <a:pPr algn="r">
              <a:spcBef>
                <a:spcPts val="0"/>
              </a:spcBef>
              <a:spcAft>
                <a:spcPts val="0"/>
              </a:spcAft>
            </a:pPr>
            <a:r>
              <a:rPr sz="1100" b="0" i="0">
                <a:solidFill>
                  <a:srgbClr val="16130F"/>
                </a:solidFill>
                <a:latin typeface="Consolas"/>
              </a:rPr>
              <a:t>1,227</a:t>
            </a:r>
          </a:p>
        </p:txBody>
      </p:sp>
      <p:cxnSp>
        <p:nvCxnSpPr>
          <p:cNvPr id="25" name="Connector 24"/>
          <p:cNvCxnSpPr/>
          <p:nvPr/>
        </p:nvCxnSpPr>
        <p:spPr>
          <a:xfrm>
            <a:off x="6446520" y="3849624"/>
            <a:ext cx="5074920"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446520" y="3941063"/>
            <a:ext cx="3146450" cy="274320"/>
          </a:xfrm>
          <a:prstGeom prst="rect">
            <a:avLst/>
          </a:prstGeom>
          <a:noFill/>
        </p:spPr>
        <p:txBody>
          <a:bodyPr wrap="square" anchor="t" lIns="0" rIns="0" tIns="0" bIns="0">
            <a:noAutofit/>
          </a:bodyPr>
          <a:lstStyle/>
          <a:p>
            <a:pPr algn="l">
              <a:spcBef>
                <a:spcPts val="0"/>
              </a:spcBef>
              <a:spcAft>
                <a:spcPts val="0"/>
              </a:spcAft>
            </a:pPr>
            <a:r>
              <a:rPr sz="1050" b="0" i="0">
                <a:solidFill>
                  <a:srgbClr val="5B5347"/>
                </a:solidFill>
                <a:latin typeface="Georgia"/>
              </a:rPr>
              <a:t>Team rows out</a:t>
            </a:r>
          </a:p>
        </p:txBody>
      </p:sp>
      <p:sp>
        <p:nvSpPr>
          <p:cNvPr id="27" name="TextBox 26"/>
          <p:cNvSpPr txBox="1"/>
          <p:nvPr/>
        </p:nvSpPr>
        <p:spPr>
          <a:xfrm>
            <a:off x="9237726" y="3941063"/>
            <a:ext cx="2283714" cy="274320"/>
          </a:xfrm>
          <a:prstGeom prst="rect">
            <a:avLst/>
          </a:prstGeom>
          <a:noFill/>
        </p:spPr>
        <p:txBody>
          <a:bodyPr wrap="square" anchor="t" lIns="0" rIns="0" tIns="0" bIns="0">
            <a:noAutofit/>
          </a:bodyPr>
          <a:lstStyle/>
          <a:p>
            <a:pPr algn="r">
              <a:spcBef>
                <a:spcPts val="0"/>
              </a:spcBef>
              <a:spcAft>
                <a:spcPts val="0"/>
              </a:spcAft>
            </a:pPr>
            <a:r>
              <a:rPr sz="1100" b="0" i="0">
                <a:solidFill>
                  <a:srgbClr val="16130F"/>
                </a:solidFill>
                <a:latin typeface="Consolas"/>
              </a:rPr>
              <a:t>2,454</a:t>
            </a:r>
          </a:p>
        </p:txBody>
      </p:sp>
      <p:cxnSp>
        <p:nvCxnSpPr>
          <p:cNvPr id="28" name="Connector 27"/>
          <p:cNvCxnSpPr/>
          <p:nvPr/>
        </p:nvCxnSpPr>
        <p:spPr>
          <a:xfrm>
            <a:off x="6446520" y="4215383"/>
            <a:ext cx="5074920"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446520" y="4306823"/>
            <a:ext cx="3146450" cy="274320"/>
          </a:xfrm>
          <a:prstGeom prst="rect">
            <a:avLst/>
          </a:prstGeom>
          <a:noFill/>
        </p:spPr>
        <p:txBody>
          <a:bodyPr wrap="square" anchor="t" lIns="0" rIns="0" tIns="0" bIns="0">
            <a:noAutofit/>
          </a:bodyPr>
          <a:lstStyle/>
          <a:p>
            <a:pPr algn="l">
              <a:spcBef>
                <a:spcPts val="0"/>
              </a:spcBef>
              <a:spcAft>
                <a:spcPts val="0"/>
              </a:spcAft>
            </a:pPr>
            <a:r>
              <a:rPr sz="1050" b="0" i="0">
                <a:solidFill>
                  <a:srgbClr val="5B5347"/>
                </a:solidFill>
                <a:latin typeface="Georgia"/>
              </a:rPr>
              <a:t>Columns</a:t>
            </a:r>
          </a:p>
        </p:txBody>
      </p:sp>
      <p:sp>
        <p:nvSpPr>
          <p:cNvPr id="30" name="TextBox 29"/>
          <p:cNvSpPr txBox="1"/>
          <p:nvPr/>
        </p:nvSpPr>
        <p:spPr>
          <a:xfrm>
            <a:off x="9237726" y="4306823"/>
            <a:ext cx="2283714" cy="274320"/>
          </a:xfrm>
          <a:prstGeom prst="rect">
            <a:avLst/>
          </a:prstGeom>
          <a:noFill/>
        </p:spPr>
        <p:txBody>
          <a:bodyPr wrap="square" anchor="t" lIns="0" rIns="0" tIns="0" bIns="0">
            <a:noAutofit/>
          </a:bodyPr>
          <a:lstStyle/>
          <a:p>
            <a:pPr algn="r">
              <a:spcBef>
                <a:spcPts val="0"/>
              </a:spcBef>
              <a:spcAft>
                <a:spcPts val="0"/>
              </a:spcAft>
            </a:pPr>
            <a:r>
              <a:rPr sz="1100" b="0" i="0">
                <a:solidFill>
                  <a:srgbClr val="16130F"/>
                </a:solidFill>
                <a:latin typeface="Consolas"/>
              </a:rPr>
              <a:t>21</a:t>
            </a:r>
          </a:p>
        </p:txBody>
      </p:sp>
      <p:cxnSp>
        <p:nvCxnSpPr>
          <p:cNvPr id="31" name="Connector 30"/>
          <p:cNvCxnSpPr/>
          <p:nvPr/>
        </p:nvCxnSpPr>
        <p:spPr>
          <a:xfrm>
            <a:off x="6446520" y="4581143"/>
            <a:ext cx="5074920"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446520" y="4882896"/>
            <a:ext cx="5074920" cy="256032"/>
          </a:xfrm>
          <a:prstGeom prst="rect">
            <a:avLst/>
          </a:prstGeom>
          <a:noFill/>
        </p:spPr>
        <p:txBody>
          <a:bodyPr wrap="square" anchor="t" lIns="0" rIns="0" tIns="0" bIns="0">
            <a:noAutofit/>
          </a:bodyPr>
          <a:lstStyle/>
          <a:p>
            <a:pPr algn="l">
              <a:spcBef>
                <a:spcPts val="0"/>
              </a:spcBef>
              <a:spcAft>
                <a:spcPts val="0"/>
              </a:spcAft>
            </a:pPr>
            <a:r>
              <a:rPr sz="850" b="0" i="0" spc="140">
                <a:solidFill>
                  <a:srgbClr val="8C8375"/>
                </a:solidFill>
                <a:latin typeface="Consolas"/>
              </a:rPr>
              <a:t>READS DATASET/*.JSON → WRITES THE CLEANED TABLE, RESULT TABLES AND ALL SEVEN FIGURES INTO OUTPUT/.</a:t>
            </a:r>
          </a:p>
        </p:txBody>
      </p:sp>
    </p:spTree>
  </p:cSld>
  <p:clrMapOvr>
    <a:masterClrMapping/>
  </p:clrMapOvr>
  <p:transition spd="med">
    <p:push dir="u"/>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6130F"/>
        </a:solidFill>
        <a:effectLst/>
      </p:bgPr>
    </p:bg>
    <p:spTree>
      <p:nvGrpSpPr>
        <p:cNvPr id="1" name=""/>
        <p:cNvGrpSpPr/>
        <p:nvPr/>
      </p:nvGrpSpPr>
      <p:grpSpPr/>
      <p:sp>
        <p:nvSpPr>
          <p:cNvPr id="2" name="TextBox 1"/>
          <p:cNvSpPr txBox="1"/>
          <p:nvPr/>
        </p:nvSpPr>
        <p:spPr>
          <a:xfrm>
            <a:off x="658368" y="1005840"/>
            <a:ext cx="2926080" cy="3108960"/>
          </a:xfrm>
          <a:prstGeom prst="rect">
            <a:avLst/>
          </a:prstGeom>
          <a:noFill/>
        </p:spPr>
        <p:txBody>
          <a:bodyPr wrap="square" anchor="t" lIns="0" rIns="0" tIns="0" bIns="0">
            <a:noAutofit/>
          </a:bodyPr>
          <a:lstStyle/>
          <a:p>
            <a:pPr algn="l">
              <a:spcBef>
                <a:spcPts val="0"/>
              </a:spcBef>
              <a:spcAft>
                <a:spcPts val="0"/>
              </a:spcAft>
            </a:pPr>
            <a:r>
              <a:rPr sz="15000" b="0" i="0" spc="-600">
                <a:ln w="20000">
                  <a:solidFill>
                    <a:srgbClr val="F6F2E9">
                      <a:alpha val="42000"/>
                    </a:srgbClr>
                  </a:solidFill>
                </a:ln>
                <a:noFill/>
                <a:latin typeface="Palatino Linotype"/>
              </a:rPr>
              <a:t>04</a:t>
            </a:r>
          </a:p>
        </p:txBody>
      </p:sp>
      <p:cxnSp>
        <p:nvCxnSpPr>
          <p:cNvPr id="3" name="Connector 2"/>
          <p:cNvCxnSpPr/>
          <p:nvPr/>
        </p:nvCxnSpPr>
        <p:spPr>
          <a:xfrm>
            <a:off x="3310128" y="2103120"/>
            <a:ext cx="1809103" cy="0"/>
          </a:xfrm>
          <a:prstGeom prst="line">
            <a:avLst/>
          </a:prstGeom>
          <a:ln w="13970">
            <a:solidFill>
              <a:srgbClr val="B9B1A1"/>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3310128" y="2304288"/>
            <a:ext cx="8223199"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E8A2B3"/>
                </a:solidFill>
                <a:latin typeface="Consolas"/>
              </a:rPr>
              <a:t>SECTION 04</a:t>
            </a:r>
          </a:p>
        </p:txBody>
      </p:sp>
      <p:sp>
        <p:nvSpPr>
          <p:cNvPr id="5" name="TextBox 4"/>
          <p:cNvSpPr txBox="1"/>
          <p:nvPr/>
        </p:nvSpPr>
        <p:spPr>
          <a:xfrm>
            <a:off x="3310128" y="2670048"/>
            <a:ext cx="8223199" cy="914400"/>
          </a:xfrm>
          <a:prstGeom prst="rect">
            <a:avLst/>
          </a:prstGeom>
          <a:noFill/>
        </p:spPr>
        <p:txBody>
          <a:bodyPr wrap="square" anchor="t" lIns="0" rIns="0" tIns="0" bIns="0">
            <a:noAutofit/>
          </a:bodyPr>
          <a:lstStyle/>
          <a:p>
            <a:pPr algn="l">
              <a:lnSpc>
                <a:spcPct val="103000"/>
              </a:lnSpc>
              <a:spcBef>
                <a:spcPts val="0"/>
              </a:spcBef>
              <a:spcAft>
                <a:spcPts val="0"/>
              </a:spcAft>
            </a:pPr>
            <a:r>
              <a:rPr sz="4000" b="0" i="0" spc="-60">
                <a:solidFill>
                  <a:srgbClr val="F6F2E9"/>
                </a:solidFill>
                <a:latin typeface="Palatino Linotype"/>
              </a:rPr>
              <a:t>Implementation</a:t>
            </a:r>
          </a:p>
        </p:txBody>
      </p:sp>
      <p:sp>
        <p:nvSpPr>
          <p:cNvPr id="6" name="TextBox 5"/>
          <p:cNvSpPr txBox="1"/>
          <p:nvPr/>
        </p:nvSpPr>
        <p:spPr>
          <a:xfrm>
            <a:off x="3310128" y="3639312"/>
            <a:ext cx="7071951" cy="1005840"/>
          </a:xfrm>
          <a:prstGeom prst="rect">
            <a:avLst/>
          </a:prstGeom>
          <a:noFill/>
        </p:spPr>
        <p:txBody>
          <a:bodyPr wrap="square" anchor="t" lIns="0" rIns="0" tIns="0" bIns="0">
            <a:noAutofit/>
          </a:bodyPr>
          <a:lstStyle/>
          <a:p>
            <a:pPr algn="l">
              <a:lnSpc>
                <a:spcPct val="135000"/>
              </a:lnSpc>
              <a:spcBef>
                <a:spcPts val="0"/>
              </a:spcBef>
              <a:spcAft>
                <a:spcPts val="0"/>
              </a:spcAft>
            </a:pPr>
            <a:r>
              <a:rPr sz="1250" b="0" i="0">
                <a:solidFill>
                  <a:srgbClr val="B9B1A1"/>
                </a:solidFill>
                <a:latin typeface="Georgia"/>
              </a:rPr>
              <a:t>One script, seven visuals, no manual steps — the analysis is reproducible from the raw download.</a:t>
            </a:r>
          </a:p>
        </p:txBody>
      </p:sp>
      <p:sp>
        <p:nvSpPr>
          <p:cNvPr id="7" name="TextBox 6"/>
          <p:cNvSpPr txBox="1"/>
          <p:nvPr/>
        </p:nvSpPr>
        <p:spPr>
          <a:xfrm>
            <a:off x="8790127" y="6227064"/>
            <a:ext cx="2743200" cy="256032"/>
          </a:xfrm>
          <a:prstGeom prst="rect">
            <a:avLst/>
          </a:prstGeom>
          <a:noFill/>
        </p:spPr>
        <p:txBody>
          <a:bodyPr wrap="square" anchor="t" lIns="0" rIns="0" tIns="0" bIns="0">
            <a:noAutofit/>
          </a:bodyPr>
          <a:lstStyle/>
          <a:p>
            <a:pPr algn="r">
              <a:spcBef>
                <a:spcPts val="0"/>
              </a:spcBef>
              <a:spcAft>
                <a:spcPts val="0"/>
              </a:spcAft>
            </a:pPr>
            <a:r>
              <a:rPr sz="850" b="0" i="0" spc="150">
                <a:solidFill>
                  <a:srgbClr val="6E6659"/>
                </a:solidFill>
                <a:latin typeface="Consolas"/>
              </a:rPr>
              <a:t>04 · IMPLEMENTATION</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2E9"/>
        </a:solidFill>
        <a:effectLst/>
      </p:bgPr>
    </p:bg>
    <p:spTree>
      <p:nvGrpSpPr>
        <p:cNvPr id="1" name=""/>
        <p:cNvGrpSpPr/>
        <p:nvPr/>
      </p:nvGrpSpPr>
      <p:grpSpPr/>
      <p:sp>
        <p:nvSpPr>
          <p:cNvPr id="2" name="TextBox 1"/>
          <p:cNvSpPr txBox="1"/>
          <p:nvPr/>
        </p:nvSpPr>
        <p:spPr>
          <a:xfrm>
            <a:off x="658368" y="420624"/>
            <a:ext cx="5669280"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8C8375"/>
                </a:solidFill>
                <a:latin typeface="Consolas"/>
              </a:rPr>
              <a:t>04 · DATA IMPLEMENTATION</a:t>
            </a:r>
          </a:p>
        </p:txBody>
      </p:sp>
      <p:sp>
        <p:nvSpPr>
          <p:cNvPr id="3" name="TextBox 2"/>
          <p:cNvSpPr txBox="1"/>
          <p:nvPr/>
        </p:nvSpPr>
        <p:spPr>
          <a:xfrm>
            <a:off x="6961327" y="420624"/>
            <a:ext cx="4572000" cy="274320"/>
          </a:xfrm>
          <a:prstGeom prst="rect">
            <a:avLst/>
          </a:prstGeom>
          <a:noFill/>
        </p:spPr>
        <p:txBody>
          <a:bodyPr wrap="square" anchor="t" lIns="0" rIns="0" tIns="0" bIns="0">
            <a:noAutofit/>
          </a:bodyPr>
          <a:lstStyle/>
          <a:p>
            <a:pPr algn="r">
              <a:spcBef>
                <a:spcPts val="0"/>
              </a:spcBef>
              <a:spcAft>
                <a:spcPts val="0"/>
              </a:spcAft>
            </a:pPr>
            <a:r>
              <a:rPr sz="850" b="0" i="0" spc="150">
                <a:solidFill>
                  <a:srgbClr val="8C8375"/>
                </a:solidFill>
                <a:latin typeface="Consolas"/>
              </a:rPr>
              <a:t>R · 6 PACKAGES</a:t>
            </a:r>
          </a:p>
        </p:txBody>
      </p:sp>
      <p:sp>
        <p:nvSpPr>
          <p:cNvPr id="4" name="TextBox 3"/>
          <p:cNvSpPr txBox="1"/>
          <p:nvPr/>
        </p:nvSpPr>
        <p:spPr>
          <a:xfrm>
            <a:off x="658368" y="841248"/>
            <a:ext cx="4937760" cy="868680"/>
          </a:xfrm>
          <a:prstGeom prst="rect">
            <a:avLst/>
          </a:prstGeom>
          <a:noFill/>
        </p:spPr>
        <p:txBody>
          <a:bodyPr wrap="square" anchor="t" lIns="0" rIns="0" tIns="0" bIns="0">
            <a:noAutofit/>
          </a:bodyPr>
          <a:lstStyle/>
          <a:p>
            <a:pPr algn="l">
              <a:lnSpc>
                <a:spcPct val="102000"/>
              </a:lnSpc>
              <a:spcBef>
                <a:spcPts val="0"/>
              </a:spcBef>
              <a:spcAft>
                <a:spcPts val="0"/>
              </a:spcAft>
            </a:pPr>
            <a:r>
              <a:rPr sz="2600" b="0" i="0" spc="-30">
                <a:solidFill>
                  <a:srgbClr val="16130F"/>
                </a:solidFill>
                <a:latin typeface="Palatino Linotype"/>
              </a:rPr>
              <a:t>Statistics in the open.</a:t>
            </a:r>
          </a:p>
        </p:txBody>
      </p:sp>
      <p:sp>
        <p:nvSpPr>
          <p:cNvPr id="5" name="TextBox 4"/>
          <p:cNvSpPr txBox="1"/>
          <p:nvPr/>
        </p:nvSpPr>
        <p:spPr>
          <a:xfrm>
            <a:off x="658368" y="1481328"/>
            <a:ext cx="4892040" cy="1463040"/>
          </a:xfrm>
          <a:prstGeom prst="rect">
            <a:avLst/>
          </a:prstGeom>
          <a:noFill/>
        </p:spPr>
        <p:txBody>
          <a:bodyPr wrap="square" anchor="t" lIns="0" rIns="0" tIns="0" bIns="0">
            <a:noAutofit/>
          </a:bodyPr>
          <a:lstStyle/>
          <a:p>
            <a:pPr algn="l">
              <a:lnSpc>
                <a:spcPct val="142000"/>
              </a:lnSpc>
              <a:spcBef>
                <a:spcPts val="0"/>
              </a:spcBef>
              <a:spcAft>
                <a:spcPts val="0"/>
              </a:spcAft>
            </a:pPr>
            <a:r>
              <a:rPr sz="1150" b="0" i="0">
                <a:solidFill>
                  <a:srgbClr val="5B5347"/>
                </a:solidFill>
                <a:latin typeface="Georgia"/>
              </a:rPr>
              <a:t>Every test is a named function and its output is tidied with broom, so each p-value, confidence interval and odds ratio in this deck traces back to one line of code.</a:t>
            </a:r>
          </a:p>
        </p:txBody>
      </p:sp>
      <p:cxnSp>
        <p:nvCxnSpPr>
          <p:cNvPr id="6" name="Connector 5"/>
          <p:cNvCxnSpPr/>
          <p:nvPr/>
        </p:nvCxnSpPr>
        <p:spPr>
          <a:xfrm>
            <a:off x="658368" y="2487168"/>
            <a:ext cx="4892039" cy="0"/>
          </a:xfrm>
          <a:prstGeom prst="line">
            <a:avLst/>
          </a:prstGeom>
          <a:ln w="13970">
            <a:solidFill>
              <a:srgbClr val="16130F"/>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2651760"/>
            <a:ext cx="868680" cy="274320"/>
          </a:xfrm>
          <a:prstGeom prst="rect">
            <a:avLst/>
          </a:prstGeom>
          <a:noFill/>
        </p:spPr>
        <p:txBody>
          <a:bodyPr wrap="square" anchor="t" lIns="0" rIns="0" tIns="0" bIns="0">
            <a:noAutofit/>
          </a:bodyPr>
          <a:lstStyle/>
          <a:p>
            <a:pPr algn="l">
              <a:spcBef>
                <a:spcPts val="0"/>
              </a:spcBef>
              <a:spcAft>
                <a:spcPts val="0"/>
              </a:spcAft>
            </a:pPr>
            <a:r>
              <a:rPr sz="750" b="0" i="0" spc="120">
                <a:solidFill>
                  <a:srgbClr val="A8102F"/>
                </a:solidFill>
                <a:latin typeface="Consolas"/>
              </a:rPr>
              <a:t>DATA</a:t>
            </a:r>
          </a:p>
        </p:txBody>
      </p:sp>
      <p:sp>
        <p:nvSpPr>
          <p:cNvPr id="8" name="TextBox 7"/>
          <p:cNvSpPr txBox="1"/>
          <p:nvPr/>
        </p:nvSpPr>
        <p:spPr>
          <a:xfrm>
            <a:off x="1591056" y="2633472"/>
            <a:ext cx="3959352" cy="457200"/>
          </a:xfrm>
          <a:prstGeom prst="rect">
            <a:avLst/>
          </a:prstGeom>
          <a:noFill/>
        </p:spPr>
        <p:txBody>
          <a:bodyPr wrap="square" anchor="t" lIns="0" rIns="0" tIns="0" bIns="0">
            <a:noAutofit/>
          </a:bodyPr>
          <a:lstStyle/>
          <a:p>
            <a:pPr algn="l">
              <a:lnSpc>
                <a:spcPct val="130000"/>
              </a:lnSpc>
              <a:spcBef>
                <a:spcPts val="0"/>
              </a:spcBef>
              <a:spcAft>
                <a:spcPts val="0"/>
              </a:spcAft>
            </a:pPr>
            <a:r>
              <a:rPr sz="1100" b="0" i="0">
                <a:solidFill>
                  <a:srgbClr val="5B5347"/>
                </a:solidFill>
                <a:latin typeface="Georgia"/>
              </a:rPr>
              <a:t>cricketdata — download and parse Cricsheet JSON</a:t>
            </a:r>
          </a:p>
        </p:txBody>
      </p:sp>
      <p:sp>
        <p:nvSpPr>
          <p:cNvPr id="9" name="TextBox 8"/>
          <p:cNvSpPr txBox="1"/>
          <p:nvPr/>
        </p:nvSpPr>
        <p:spPr>
          <a:xfrm>
            <a:off x="658368" y="3200400"/>
            <a:ext cx="868680" cy="274320"/>
          </a:xfrm>
          <a:prstGeom prst="rect">
            <a:avLst/>
          </a:prstGeom>
          <a:noFill/>
        </p:spPr>
        <p:txBody>
          <a:bodyPr wrap="square" anchor="t" lIns="0" rIns="0" tIns="0" bIns="0">
            <a:noAutofit/>
          </a:bodyPr>
          <a:lstStyle/>
          <a:p>
            <a:pPr algn="l">
              <a:spcBef>
                <a:spcPts val="0"/>
              </a:spcBef>
              <a:spcAft>
                <a:spcPts val="0"/>
              </a:spcAft>
            </a:pPr>
            <a:r>
              <a:rPr sz="750" b="0" i="0" spc="120">
                <a:solidFill>
                  <a:srgbClr val="A8102F"/>
                </a:solidFill>
                <a:latin typeface="Consolas"/>
              </a:rPr>
              <a:t>WRANGLE</a:t>
            </a:r>
          </a:p>
        </p:txBody>
      </p:sp>
      <p:sp>
        <p:nvSpPr>
          <p:cNvPr id="10" name="TextBox 9"/>
          <p:cNvSpPr txBox="1"/>
          <p:nvPr/>
        </p:nvSpPr>
        <p:spPr>
          <a:xfrm>
            <a:off x="1591056" y="3182112"/>
            <a:ext cx="3959352" cy="457200"/>
          </a:xfrm>
          <a:prstGeom prst="rect">
            <a:avLst/>
          </a:prstGeom>
          <a:noFill/>
        </p:spPr>
        <p:txBody>
          <a:bodyPr wrap="square" anchor="t" lIns="0" rIns="0" tIns="0" bIns="0">
            <a:noAutofit/>
          </a:bodyPr>
          <a:lstStyle/>
          <a:p>
            <a:pPr algn="l">
              <a:lnSpc>
                <a:spcPct val="130000"/>
              </a:lnSpc>
              <a:spcBef>
                <a:spcPts val="0"/>
              </a:spcBef>
              <a:spcAft>
                <a:spcPts val="0"/>
              </a:spcAft>
            </a:pPr>
            <a:r>
              <a:rPr sz="1100" b="0" i="0">
                <a:solidFill>
                  <a:srgbClr val="5B5347"/>
                </a:solidFill>
                <a:latin typeface="Georgia"/>
              </a:rPr>
              <a:t>dplyr · tidyr — cleaning, grouping, reshaping</a:t>
            </a:r>
          </a:p>
        </p:txBody>
      </p:sp>
      <p:sp>
        <p:nvSpPr>
          <p:cNvPr id="11" name="TextBox 10"/>
          <p:cNvSpPr txBox="1"/>
          <p:nvPr/>
        </p:nvSpPr>
        <p:spPr>
          <a:xfrm>
            <a:off x="658368" y="3749039"/>
            <a:ext cx="868680" cy="274320"/>
          </a:xfrm>
          <a:prstGeom prst="rect">
            <a:avLst/>
          </a:prstGeom>
          <a:noFill/>
        </p:spPr>
        <p:txBody>
          <a:bodyPr wrap="square" anchor="t" lIns="0" rIns="0" tIns="0" bIns="0">
            <a:noAutofit/>
          </a:bodyPr>
          <a:lstStyle/>
          <a:p>
            <a:pPr algn="l">
              <a:spcBef>
                <a:spcPts val="0"/>
              </a:spcBef>
              <a:spcAft>
                <a:spcPts val="0"/>
              </a:spcAft>
            </a:pPr>
            <a:r>
              <a:rPr sz="750" b="0" i="0" spc="120">
                <a:solidFill>
                  <a:srgbClr val="A8102F"/>
                </a:solidFill>
                <a:latin typeface="Consolas"/>
              </a:rPr>
              <a:t>PLOTS</a:t>
            </a:r>
          </a:p>
        </p:txBody>
      </p:sp>
      <p:sp>
        <p:nvSpPr>
          <p:cNvPr id="12" name="TextBox 11"/>
          <p:cNvSpPr txBox="1"/>
          <p:nvPr/>
        </p:nvSpPr>
        <p:spPr>
          <a:xfrm>
            <a:off x="1591056" y="3730752"/>
            <a:ext cx="3959352" cy="457200"/>
          </a:xfrm>
          <a:prstGeom prst="rect">
            <a:avLst/>
          </a:prstGeom>
          <a:noFill/>
        </p:spPr>
        <p:txBody>
          <a:bodyPr wrap="square" anchor="t" lIns="0" rIns="0" tIns="0" bIns="0">
            <a:noAutofit/>
          </a:bodyPr>
          <a:lstStyle/>
          <a:p>
            <a:pPr algn="l">
              <a:lnSpc>
                <a:spcPct val="130000"/>
              </a:lnSpc>
              <a:spcBef>
                <a:spcPts val="0"/>
              </a:spcBef>
              <a:spcAft>
                <a:spcPts val="0"/>
              </a:spcAft>
            </a:pPr>
            <a:r>
              <a:rPr sz="1100" b="0" i="0">
                <a:solidFill>
                  <a:srgbClr val="5B5347"/>
                </a:solidFill>
                <a:latin typeface="Georgia"/>
              </a:rPr>
              <a:t>ggplot2 · scales — all seven figures</a:t>
            </a:r>
          </a:p>
        </p:txBody>
      </p:sp>
      <p:sp>
        <p:nvSpPr>
          <p:cNvPr id="13" name="TextBox 12"/>
          <p:cNvSpPr txBox="1"/>
          <p:nvPr/>
        </p:nvSpPr>
        <p:spPr>
          <a:xfrm>
            <a:off x="658368" y="4297679"/>
            <a:ext cx="868680" cy="274320"/>
          </a:xfrm>
          <a:prstGeom prst="rect">
            <a:avLst/>
          </a:prstGeom>
          <a:noFill/>
        </p:spPr>
        <p:txBody>
          <a:bodyPr wrap="square" anchor="t" lIns="0" rIns="0" tIns="0" bIns="0">
            <a:noAutofit/>
          </a:bodyPr>
          <a:lstStyle/>
          <a:p>
            <a:pPr algn="l">
              <a:spcBef>
                <a:spcPts val="0"/>
              </a:spcBef>
              <a:spcAft>
                <a:spcPts val="0"/>
              </a:spcAft>
            </a:pPr>
            <a:r>
              <a:rPr sz="750" b="0" i="0" spc="120">
                <a:solidFill>
                  <a:srgbClr val="A8102F"/>
                </a:solidFill>
                <a:latin typeface="Consolas"/>
              </a:rPr>
              <a:t>TESTS</a:t>
            </a:r>
          </a:p>
        </p:txBody>
      </p:sp>
      <p:sp>
        <p:nvSpPr>
          <p:cNvPr id="14" name="TextBox 13"/>
          <p:cNvSpPr txBox="1"/>
          <p:nvPr/>
        </p:nvSpPr>
        <p:spPr>
          <a:xfrm>
            <a:off x="1591056" y="4279392"/>
            <a:ext cx="3959352" cy="457200"/>
          </a:xfrm>
          <a:prstGeom prst="rect">
            <a:avLst/>
          </a:prstGeom>
          <a:noFill/>
        </p:spPr>
        <p:txBody>
          <a:bodyPr wrap="square" anchor="t" lIns="0" rIns="0" tIns="0" bIns="0">
            <a:noAutofit/>
          </a:bodyPr>
          <a:lstStyle/>
          <a:p>
            <a:pPr algn="l">
              <a:lnSpc>
                <a:spcPct val="130000"/>
              </a:lnSpc>
              <a:spcBef>
                <a:spcPts val="0"/>
              </a:spcBef>
              <a:spcAft>
                <a:spcPts val="0"/>
              </a:spcAft>
            </a:pPr>
            <a:r>
              <a:rPr sz="1100" b="0" i="0">
                <a:solidFill>
                  <a:srgbClr val="5B5347"/>
                </a:solidFill>
                <a:latin typeface="Georgia"/>
              </a:rPr>
              <a:t>broom — tidy output for χ², t-test and regression</a:t>
            </a:r>
          </a:p>
        </p:txBody>
      </p:sp>
      <p:sp>
        <p:nvSpPr>
          <p:cNvPr id="15" name="TextBox 14"/>
          <p:cNvSpPr txBox="1"/>
          <p:nvPr/>
        </p:nvSpPr>
        <p:spPr>
          <a:xfrm>
            <a:off x="6355080" y="1481328"/>
            <a:ext cx="4937760" cy="274320"/>
          </a:xfrm>
          <a:prstGeom prst="rect">
            <a:avLst/>
          </a:prstGeom>
          <a:noFill/>
        </p:spPr>
        <p:txBody>
          <a:bodyPr wrap="square" anchor="t" lIns="0" rIns="0" tIns="0" bIns="0">
            <a:noAutofit/>
          </a:bodyPr>
          <a:lstStyle/>
          <a:p>
            <a:pPr algn="l">
              <a:spcBef>
                <a:spcPts val="0"/>
              </a:spcBef>
              <a:spcAft>
                <a:spcPts val="0"/>
              </a:spcAft>
            </a:pPr>
            <a:r>
              <a:rPr sz="900" b="0" i="0" spc="150">
                <a:solidFill>
                  <a:srgbClr val="16130F"/>
                </a:solidFill>
                <a:latin typeface="Consolas"/>
              </a:rPr>
              <a:t>OUTPUT</a:t>
            </a:r>
          </a:p>
        </p:txBody>
      </p:sp>
      <p:cxnSp>
        <p:nvCxnSpPr>
          <p:cNvPr id="16" name="Connector 15"/>
          <p:cNvCxnSpPr/>
          <p:nvPr/>
        </p:nvCxnSpPr>
        <p:spPr>
          <a:xfrm>
            <a:off x="6355080" y="1810512"/>
            <a:ext cx="5175504" cy="0"/>
          </a:xfrm>
          <a:prstGeom prst="line">
            <a:avLst/>
          </a:prstGeom>
          <a:ln w="13970">
            <a:solidFill>
              <a:srgbClr val="16130F"/>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55080" y="1901952"/>
            <a:ext cx="5175504" cy="475488"/>
          </a:xfrm>
          <a:prstGeom prst="rect">
            <a:avLst/>
          </a:prstGeom>
          <a:noFill/>
        </p:spPr>
        <p:txBody>
          <a:bodyPr wrap="square" anchor="t" lIns="0" rIns="0" tIns="0" bIns="0">
            <a:noAutofit/>
          </a:bodyPr>
          <a:lstStyle/>
          <a:p>
            <a:pPr algn="l">
              <a:lnSpc>
                <a:spcPct val="126000"/>
              </a:lnSpc>
              <a:spcBef>
                <a:spcPts val="0"/>
              </a:spcBef>
              <a:spcAft>
                <a:spcPts val="0"/>
              </a:spcAft>
            </a:pPr>
            <a:r>
              <a:rPr sz="1100" b="0" i="0">
                <a:solidFill>
                  <a:srgbClr val="5B5347"/>
                </a:solidFill>
                <a:latin typeface="Consolas"/>
              </a:rPr>
              <a:t>ipl_powerplay_match_level.csv</a:t>
            </a:r>
          </a:p>
          <a:p>
            <a:pPr algn="l">
              <a:lnSpc>
                <a:spcPct val="120000"/>
              </a:lnSpc>
              <a:spcBef>
                <a:spcPts val="0"/>
              </a:spcBef>
              <a:spcAft>
                <a:spcPts val="0"/>
              </a:spcAft>
            </a:pPr>
            <a:r>
              <a:rPr sz="950" b="0" i="0">
                <a:solidFill>
                  <a:srgbClr val="8C8375"/>
                </a:solidFill>
                <a:latin typeface="Georgia"/>
              </a:rPr>
              <a:t>2,454 × 21 analysis table</a:t>
            </a:r>
          </a:p>
        </p:txBody>
      </p:sp>
      <p:cxnSp>
        <p:nvCxnSpPr>
          <p:cNvPr id="18" name="Connector 17"/>
          <p:cNvCxnSpPr/>
          <p:nvPr/>
        </p:nvCxnSpPr>
        <p:spPr>
          <a:xfrm>
            <a:off x="6355080" y="2414016"/>
            <a:ext cx="5175504"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55080" y="2505456"/>
            <a:ext cx="5175504" cy="475488"/>
          </a:xfrm>
          <a:prstGeom prst="rect">
            <a:avLst/>
          </a:prstGeom>
          <a:noFill/>
        </p:spPr>
        <p:txBody>
          <a:bodyPr wrap="square" anchor="t" lIns="0" rIns="0" tIns="0" bIns="0">
            <a:noAutofit/>
          </a:bodyPr>
          <a:lstStyle/>
          <a:p>
            <a:pPr algn="l">
              <a:lnSpc>
                <a:spcPct val="126000"/>
              </a:lnSpc>
              <a:spcBef>
                <a:spcPts val="0"/>
              </a:spcBef>
              <a:spcAft>
                <a:spcPts val="0"/>
              </a:spcAft>
            </a:pPr>
            <a:r>
              <a:rPr sz="1100" b="0" i="0">
                <a:solidFill>
                  <a:srgbClr val="5B5347"/>
                </a:solidFill>
                <a:latin typeface="Consolas"/>
              </a:rPr>
              <a:t>figures/01–07</a:t>
            </a:r>
          </a:p>
          <a:p>
            <a:pPr algn="l">
              <a:lnSpc>
                <a:spcPct val="120000"/>
              </a:lnSpc>
              <a:spcBef>
                <a:spcPts val="0"/>
              </a:spcBef>
              <a:spcAft>
                <a:spcPts val="0"/>
              </a:spcAft>
            </a:pPr>
            <a:r>
              <a:rPr sz="950" b="0" i="0">
                <a:solidFill>
                  <a:srgbClr val="8C8375"/>
                </a:solidFill>
                <a:latin typeface="Georgia"/>
              </a:rPr>
              <a:t>toss, runs, heatmap, Poisson, trends, odds ratios</a:t>
            </a:r>
          </a:p>
        </p:txBody>
      </p:sp>
      <p:cxnSp>
        <p:nvCxnSpPr>
          <p:cNvPr id="20" name="Connector 19"/>
          <p:cNvCxnSpPr/>
          <p:nvPr/>
        </p:nvCxnSpPr>
        <p:spPr>
          <a:xfrm>
            <a:off x="6355080" y="3017520"/>
            <a:ext cx="5175504"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355080" y="3108960"/>
            <a:ext cx="5175504" cy="475488"/>
          </a:xfrm>
          <a:prstGeom prst="rect">
            <a:avLst/>
          </a:prstGeom>
          <a:noFill/>
        </p:spPr>
        <p:txBody>
          <a:bodyPr wrap="square" anchor="t" lIns="0" rIns="0" tIns="0" bIns="0">
            <a:noAutofit/>
          </a:bodyPr>
          <a:lstStyle/>
          <a:p>
            <a:pPr algn="l">
              <a:lnSpc>
                <a:spcPct val="126000"/>
              </a:lnSpc>
              <a:spcBef>
                <a:spcPts val="0"/>
              </a:spcBef>
              <a:spcAft>
                <a:spcPts val="0"/>
              </a:spcAft>
            </a:pPr>
            <a:r>
              <a:rPr sz="1100" b="0" i="0">
                <a:solidFill>
                  <a:srgbClr val="5B5347"/>
                </a:solidFill>
                <a:latin typeface="Consolas"/>
              </a:rPr>
              <a:t>result tables</a:t>
            </a:r>
          </a:p>
          <a:p>
            <a:pPr algn="l">
              <a:lnSpc>
                <a:spcPct val="120000"/>
              </a:lnSpc>
              <a:spcBef>
                <a:spcPts val="0"/>
              </a:spcBef>
              <a:spcAft>
                <a:spcPts val="0"/>
              </a:spcAft>
            </a:pPr>
            <a:r>
              <a:rPr sz="950" b="0" i="0">
                <a:solidFill>
                  <a:srgbClr val="8C8375"/>
                </a:solidFill>
                <a:latin typeface="Georgia"/>
              </a:rPr>
              <a:t>descriptives, hypothesis tests, regression</a:t>
            </a:r>
          </a:p>
        </p:txBody>
      </p:sp>
      <p:cxnSp>
        <p:nvCxnSpPr>
          <p:cNvPr id="22" name="Connector 21"/>
          <p:cNvCxnSpPr/>
          <p:nvPr/>
        </p:nvCxnSpPr>
        <p:spPr>
          <a:xfrm>
            <a:off x="6355080" y="3621024"/>
            <a:ext cx="5175504"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55080" y="3712464"/>
            <a:ext cx="5175504" cy="475488"/>
          </a:xfrm>
          <a:prstGeom prst="rect">
            <a:avLst/>
          </a:prstGeom>
          <a:noFill/>
        </p:spPr>
        <p:txBody>
          <a:bodyPr wrap="square" anchor="t" lIns="0" rIns="0" tIns="0" bIns="0">
            <a:noAutofit/>
          </a:bodyPr>
          <a:lstStyle/>
          <a:p>
            <a:pPr algn="l">
              <a:lnSpc>
                <a:spcPct val="126000"/>
              </a:lnSpc>
              <a:spcBef>
                <a:spcPts val="0"/>
              </a:spcBef>
              <a:spcAft>
                <a:spcPts val="0"/>
              </a:spcAft>
            </a:pPr>
            <a:r>
              <a:rPr sz="1100" b="0" i="0">
                <a:solidFill>
                  <a:srgbClr val="5B5347"/>
                </a:solidFill>
                <a:latin typeface="Consolas"/>
              </a:rPr>
              <a:t>analysis.md</a:t>
            </a:r>
          </a:p>
          <a:p>
            <a:pPr algn="l">
              <a:lnSpc>
                <a:spcPct val="120000"/>
              </a:lnSpc>
              <a:spcBef>
                <a:spcPts val="0"/>
              </a:spcBef>
              <a:spcAft>
                <a:spcPts val="0"/>
              </a:spcAft>
            </a:pPr>
            <a:r>
              <a:rPr sz="950" b="0" i="0">
                <a:solidFill>
                  <a:srgbClr val="8C8375"/>
                </a:solidFill>
                <a:latin typeface="Georgia"/>
              </a:rPr>
              <a:t>final written verdict</a:t>
            </a:r>
          </a:p>
        </p:txBody>
      </p:sp>
      <p:cxnSp>
        <p:nvCxnSpPr>
          <p:cNvPr id="24" name="Connector 23"/>
          <p:cNvCxnSpPr/>
          <p:nvPr/>
        </p:nvCxnSpPr>
        <p:spPr>
          <a:xfrm>
            <a:off x="6355080" y="4224528"/>
            <a:ext cx="5175504"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355080" y="4498848"/>
            <a:ext cx="5175504" cy="256032"/>
          </a:xfrm>
          <a:prstGeom prst="rect">
            <a:avLst/>
          </a:prstGeom>
          <a:noFill/>
        </p:spPr>
        <p:txBody>
          <a:bodyPr wrap="square" anchor="t" lIns="0" rIns="0" tIns="0" bIns="0">
            <a:noAutofit/>
          </a:bodyPr>
          <a:lstStyle/>
          <a:p>
            <a:pPr algn="l">
              <a:spcBef>
                <a:spcPts val="0"/>
              </a:spcBef>
              <a:spcAft>
                <a:spcPts val="0"/>
              </a:spcAft>
            </a:pPr>
            <a:r>
              <a:rPr sz="850" b="0" i="0" spc="140">
                <a:solidFill>
                  <a:srgbClr val="8C8375"/>
                </a:solidFill>
                <a:latin typeface="Consolas"/>
              </a:rPr>
              <a:t>THE RAW DATASET/ FOLDER IS AN INPUT ONLY — NOTHING IN THE PIPELINE OVERWRITES IT.</a:t>
            </a:r>
          </a:p>
        </p:txBody>
      </p:sp>
    </p:spTree>
  </p:cSld>
  <p:clrMapOvr>
    <a:masterClrMapping/>
  </p:clrMapOvr>
  <p:transition spd="med">
    <p:push dir="u"/>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6130F"/>
        </a:solidFill>
        <a:effectLst/>
      </p:bgPr>
    </p:bg>
    <p:spTree>
      <p:nvGrpSpPr>
        <p:cNvPr id="1" name=""/>
        <p:cNvGrpSpPr/>
        <p:nvPr/>
      </p:nvGrpSpPr>
      <p:grpSpPr/>
      <p:sp>
        <p:nvSpPr>
          <p:cNvPr id="2" name="TextBox 1"/>
          <p:cNvSpPr txBox="1"/>
          <p:nvPr/>
        </p:nvSpPr>
        <p:spPr>
          <a:xfrm>
            <a:off x="658368" y="1005840"/>
            <a:ext cx="2926080" cy="3108960"/>
          </a:xfrm>
          <a:prstGeom prst="rect">
            <a:avLst/>
          </a:prstGeom>
          <a:noFill/>
        </p:spPr>
        <p:txBody>
          <a:bodyPr wrap="square" anchor="t" lIns="0" rIns="0" tIns="0" bIns="0">
            <a:noAutofit/>
          </a:bodyPr>
          <a:lstStyle/>
          <a:p>
            <a:pPr algn="l">
              <a:spcBef>
                <a:spcPts val="0"/>
              </a:spcBef>
              <a:spcAft>
                <a:spcPts val="0"/>
              </a:spcAft>
            </a:pPr>
            <a:r>
              <a:rPr sz="15000" b="0" i="0" spc="-600">
                <a:ln w="20000">
                  <a:solidFill>
                    <a:srgbClr val="F6F2E9">
                      <a:alpha val="42000"/>
                    </a:srgbClr>
                  </a:solidFill>
                </a:ln>
                <a:noFill/>
                <a:latin typeface="Palatino Linotype"/>
              </a:rPr>
              <a:t>05</a:t>
            </a:r>
          </a:p>
        </p:txBody>
      </p:sp>
      <p:cxnSp>
        <p:nvCxnSpPr>
          <p:cNvPr id="3" name="Connector 2"/>
          <p:cNvCxnSpPr/>
          <p:nvPr/>
        </p:nvCxnSpPr>
        <p:spPr>
          <a:xfrm>
            <a:off x="3310128" y="2103120"/>
            <a:ext cx="1809103" cy="0"/>
          </a:xfrm>
          <a:prstGeom prst="line">
            <a:avLst/>
          </a:prstGeom>
          <a:ln w="13970">
            <a:solidFill>
              <a:srgbClr val="B9B1A1"/>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3310128" y="2304288"/>
            <a:ext cx="8223199"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E8A2B3"/>
                </a:solidFill>
                <a:latin typeface="Consolas"/>
              </a:rPr>
              <a:t>SECTION 05</a:t>
            </a:r>
          </a:p>
        </p:txBody>
      </p:sp>
      <p:sp>
        <p:nvSpPr>
          <p:cNvPr id="5" name="TextBox 4"/>
          <p:cNvSpPr txBox="1"/>
          <p:nvPr/>
        </p:nvSpPr>
        <p:spPr>
          <a:xfrm>
            <a:off x="3310128" y="2670048"/>
            <a:ext cx="8223199" cy="914400"/>
          </a:xfrm>
          <a:prstGeom prst="rect">
            <a:avLst/>
          </a:prstGeom>
          <a:noFill/>
        </p:spPr>
        <p:txBody>
          <a:bodyPr wrap="square" anchor="t" lIns="0" rIns="0" tIns="0" bIns="0">
            <a:noAutofit/>
          </a:bodyPr>
          <a:lstStyle/>
          <a:p>
            <a:pPr algn="l">
              <a:lnSpc>
                <a:spcPct val="103000"/>
              </a:lnSpc>
              <a:spcBef>
                <a:spcPts val="0"/>
              </a:spcBef>
              <a:spcAft>
                <a:spcPts val="0"/>
              </a:spcAft>
            </a:pPr>
            <a:r>
              <a:rPr sz="4000" b="0" i="0" spc="-60">
                <a:solidFill>
                  <a:srgbClr val="F6F2E9"/>
                </a:solidFill>
                <a:latin typeface="Palatino Linotype"/>
              </a:rPr>
              <a:t>Analysis</a:t>
            </a:r>
          </a:p>
        </p:txBody>
      </p:sp>
      <p:sp>
        <p:nvSpPr>
          <p:cNvPr id="6" name="TextBox 5"/>
          <p:cNvSpPr txBox="1"/>
          <p:nvPr/>
        </p:nvSpPr>
        <p:spPr>
          <a:xfrm>
            <a:off x="3310128" y="3639312"/>
            <a:ext cx="7071951" cy="1005840"/>
          </a:xfrm>
          <a:prstGeom prst="rect">
            <a:avLst/>
          </a:prstGeom>
          <a:noFill/>
        </p:spPr>
        <p:txBody>
          <a:bodyPr wrap="square" anchor="t" lIns="0" rIns="0" tIns="0" bIns="0">
            <a:noAutofit/>
          </a:bodyPr>
          <a:lstStyle/>
          <a:p>
            <a:pPr algn="l">
              <a:lnSpc>
                <a:spcPct val="135000"/>
              </a:lnSpc>
              <a:spcBef>
                <a:spcPts val="0"/>
              </a:spcBef>
              <a:spcAft>
                <a:spcPts val="0"/>
              </a:spcAft>
            </a:pPr>
            <a:r>
              <a:rPr sz="1250" b="0" i="0">
                <a:solidFill>
                  <a:srgbClr val="B9B1A1"/>
                </a:solidFill>
                <a:latin typeface="Georgia"/>
              </a:rPr>
              <a:t>Six questions, six tests. The toss disappoints; the wickets decide.</a:t>
            </a:r>
          </a:p>
        </p:txBody>
      </p:sp>
      <p:sp>
        <p:nvSpPr>
          <p:cNvPr id="7" name="TextBox 6"/>
          <p:cNvSpPr txBox="1"/>
          <p:nvPr/>
        </p:nvSpPr>
        <p:spPr>
          <a:xfrm>
            <a:off x="8790127" y="6227064"/>
            <a:ext cx="2743200" cy="256032"/>
          </a:xfrm>
          <a:prstGeom prst="rect">
            <a:avLst/>
          </a:prstGeom>
          <a:noFill/>
        </p:spPr>
        <p:txBody>
          <a:bodyPr wrap="square" anchor="t" lIns="0" rIns="0" tIns="0" bIns="0">
            <a:noAutofit/>
          </a:bodyPr>
          <a:lstStyle/>
          <a:p>
            <a:pPr algn="r">
              <a:spcBef>
                <a:spcPts val="0"/>
              </a:spcBef>
              <a:spcAft>
                <a:spcPts val="0"/>
              </a:spcAft>
            </a:pPr>
            <a:r>
              <a:rPr sz="850" b="0" i="0" spc="150">
                <a:solidFill>
                  <a:srgbClr val="6E6659"/>
                </a:solidFill>
                <a:latin typeface="Consolas"/>
              </a:rPr>
              <a:t>05 · ANALYSIS</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2E9"/>
        </a:solidFill>
        <a:effectLst/>
      </p:bgPr>
    </p:bg>
    <p:spTree>
      <p:nvGrpSpPr>
        <p:cNvPr id="1" name=""/>
        <p:cNvGrpSpPr/>
        <p:nvPr/>
      </p:nvGrpSpPr>
      <p:grpSpPr/>
      <p:sp>
        <p:nvSpPr>
          <p:cNvPr id="2" name="TextBox 1"/>
          <p:cNvSpPr txBox="1"/>
          <p:nvPr/>
        </p:nvSpPr>
        <p:spPr>
          <a:xfrm>
            <a:off x="658368" y="420624"/>
            <a:ext cx="5669280"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8C8375"/>
                </a:solidFill>
                <a:latin typeface="Consolas"/>
              </a:rPr>
              <a:t>05 · DATA ANALYSIS</a:t>
            </a:r>
          </a:p>
        </p:txBody>
      </p:sp>
      <p:sp>
        <p:nvSpPr>
          <p:cNvPr id="3" name="TextBox 2"/>
          <p:cNvSpPr txBox="1"/>
          <p:nvPr/>
        </p:nvSpPr>
        <p:spPr>
          <a:xfrm>
            <a:off x="6961327" y="420624"/>
            <a:ext cx="4572000" cy="274320"/>
          </a:xfrm>
          <a:prstGeom prst="rect">
            <a:avLst/>
          </a:prstGeom>
          <a:noFill/>
        </p:spPr>
        <p:txBody>
          <a:bodyPr wrap="square" anchor="t" lIns="0" rIns="0" tIns="0" bIns="0">
            <a:noAutofit/>
          </a:bodyPr>
          <a:lstStyle/>
          <a:p>
            <a:pPr algn="r">
              <a:spcBef>
                <a:spcPts val="0"/>
              </a:spcBef>
              <a:spcAft>
                <a:spcPts val="0"/>
              </a:spcAft>
            </a:pPr>
            <a:r>
              <a:rPr sz="850" b="0" i="0" spc="150">
                <a:solidFill>
                  <a:srgbClr val="8C8375"/>
                </a:solidFill>
                <a:latin typeface="Consolas"/>
              </a:rPr>
              <a:t>POWERPLAY RUNS · N = 2,454</a:t>
            </a:r>
          </a:p>
        </p:txBody>
      </p:sp>
      <p:sp>
        <p:nvSpPr>
          <p:cNvPr id="4" name="TextBox 3"/>
          <p:cNvSpPr txBox="1"/>
          <p:nvPr/>
        </p:nvSpPr>
        <p:spPr>
          <a:xfrm>
            <a:off x="658368" y="841248"/>
            <a:ext cx="5120640" cy="868680"/>
          </a:xfrm>
          <a:prstGeom prst="rect">
            <a:avLst/>
          </a:prstGeom>
          <a:noFill/>
        </p:spPr>
        <p:txBody>
          <a:bodyPr wrap="square" anchor="t" lIns="0" rIns="0" tIns="0" bIns="0">
            <a:noAutofit/>
          </a:bodyPr>
          <a:lstStyle/>
          <a:p>
            <a:pPr algn="l">
              <a:lnSpc>
                <a:spcPct val="102000"/>
              </a:lnSpc>
              <a:spcBef>
                <a:spcPts val="0"/>
              </a:spcBef>
              <a:spcAft>
                <a:spcPts val="0"/>
              </a:spcAft>
            </a:pPr>
            <a:r>
              <a:rPr sz="2600" b="0" i="0" spc="-30">
                <a:solidFill>
                  <a:srgbClr val="16130F"/>
                </a:solidFill>
                <a:latin typeface="Palatino Linotype"/>
              </a:rPr>
              <a:t>A typical powerplay is 48 for 1.</a:t>
            </a:r>
          </a:p>
        </p:txBody>
      </p:sp>
      <p:sp>
        <p:nvSpPr>
          <p:cNvPr id="5" name="TextBox 4"/>
          <p:cNvSpPr txBox="1"/>
          <p:nvPr/>
        </p:nvSpPr>
        <p:spPr>
          <a:xfrm>
            <a:off x="658368" y="1517904"/>
            <a:ext cx="4937760" cy="1463040"/>
          </a:xfrm>
          <a:prstGeom prst="rect">
            <a:avLst/>
          </a:prstGeom>
          <a:noFill/>
        </p:spPr>
        <p:txBody>
          <a:bodyPr wrap="square" anchor="t" lIns="0" rIns="0" tIns="0" bIns="0">
            <a:noAutofit/>
          </a:bodyPr>
          <a:lstStyle/>
          <a:p>
            <a:pPr algn="l">
              <a:lnSpc>
                <a:spcPct val="142000"/>
              </a:lnSpc>
              <a:spcBef>
                <a:spcPts val="0"/>
              </a:spcBef>
              <a:spcAft>
                <a:spcPts val="0"/>
              </a:spcAft>
            </a:pPr>
            <a:r>
              <a:rPr sz="1150" b="0" i="0">
                <a:solidFill>
                  <a:srgbClr val="5B5347"/>
                </a:solidFill>
                <a:latin typeface="Georgia"/>
              </a:rPr>
              <a:t>Runs are right-skewed: a handful of explosive starts, up to 125, drag the mean above the median. Wickets are far tighter — most sides lose one or two.</a:t>
            </a:r>
          </a:p>
        </p:txBody>
      </p:sp>
      <p:sp>
        <p:nvSpPr>
          <p:cNvPr id="6" name="TextBox 5"/>
          <p:cNvSpPr txBox="1"/>
          <p:nvPr/>
        </p:nvSpPr>
        <p:spPr>
          <a:xfrm>
            <a:off x="658368" y="2487168"/>
            <a:ext cx="4937760" cy="1097280"/>
          </a:xfrm>
          <a:prstGeom prst="rect">
            <a:avLst/>
          </a:prstGeom>
          <a:noFill/>
        </p:spPr>
        <p:txBody>
          <a:bodyPr wrap="square" anchor="t" lIns="0" rIns="0" tIns="0" bIns="0">
            <a:noAutofit/>
          </a:bodyPr>
          <a:lstStyle/>
          <a:p>
            <a:pPr algn="l">
              <a:lnSpc>
                <a:spcPct val="95000"/>
              </a:lnSpc>
              <a:spcBef>
                <a:spcPts val="0"/>
              </a:spcBef>
              <a:spcAft>
                <a:spcPts val="0"/>
              </a:spcAft>
            </a:pPr>
            <a:r>
              <a:rPr sz="5400" b="0" i="0" spc="-120">
                <a:solidFill>
                  <a:srgbClr val="16130F"/>
                </a:solidFill>
                <a:latin typeface="Palatino Linotype"/>
              </a:rPr>
              <a:t>48.5</a:t>
            </a:r>
            <a:r>
              <a:rPr sz="2100" b="0" i="0">
                <a:solidFill>
                  <a:srgbClr val="8C8375"/>
                </a:solidFill>
                <a:latin typeface="Palatino Linotype"/>
              </a:rPr>
              <a:t> runs</a:t>
            </a:r>
          </a:p>
        </p:txBody>
      </p:sp>
      <p:sp>
        <p:nvSpPr>
          <p:cNvPr id="7" name="TextBox 6"/>
          <p:cNvSpPr txBox="1"/>
          <p:nvPr/>
        </p:nvSpPr>
        <p:spPr>
          <a:xfrm>
            <a:off x="658368" y="3602736"/>
            <a:ext cx="4937760" cy="256032"/>
          </a:xfrm>
          <a:prstGeom prst="rect">
            <a:avLst/>
          </a:prstGeom>
          <a:noFill/>
        </p:spPr>
        <p:txBody>
          <a:bodyPr wrap="square" anchor="t" lIns="0" rIns="0" tIns="0" bIns="0">
            <a:noAutofit/>
          </a:bodyPr>
          <a:lstStyle/>
          <a:p>
            <a:pPr algn="l">
              <a:spcBef>
                <a:spcPts val="0"/>
              </a:spcBef>
              <a:spcAft>
                <a:spcPts val="0"/>
              </a:spcAft>
            </a:pPr>
            <a:r>
              <a:rPr sz="850" b="0" i="0" spc="140">
                <a:solidFill>
                  <a:srgbClr val="8C8375"/>
                </a:solidFill>
                <a:latin typeface="Consolas"/>
              </a:rPr>
              <a:t>MEAN POWERPLAY SCORE PER TEAM INNINGS — 8.08 RUNS AN OVER.</a:t>
            </a:r>
          </a:p>
        </p:txBody>
      </p:sp>
      <p:sp>
        <p:nvSpPr>
          <p:cNvPr id="8" name="TextBox 7"/>
          <p:cNvSpPr txBox="1"/>
          <p:nvPr/>
        </p:nvSpPr>
        <p:spPr>
          <a:xfrm>
            <a:off x="6035040" y="1481328"/>
            <a:ext cx="2198217" cy="274320"/>
          </a:xfrm>
          <a:prstGeom prst="rect">
            <a:avLst/>
          </a:prstGeom>
          <a:noFill/>
        </p:spPr>
        <p:txBody>
          <a:bodyPr wrap="square" anchor="t" lIns="0" rIns="0" tIns="0" bIns="0">
            <a:noAutofit/>
          </a:bodyPr>
          <a:lstStyle/>
          <a:p>
            <a:pPr algn="l">
              <a:spcBef>
                <a:spcPts val="0"/>
              </a:spcBef>
              <a:spcAft>
                <a:spcPts val="0"/>
              </a:spcAft>
            </a:pPr>
            <a:r>
              <a:rPr sz="800" b="0" i="0" spc="150">
                <a:solidFill>
                  <a:srgbClr val="8C8375"/>
                </a:solidFill>
                <a:latin typeface="Consolas"/>
              </a:rPr>
              <a:t>STATISTIC</a:t>
            </a:r>
          </a:p>
        </p:txBody>
      </p:sp>
      <p:sp>
        <p:nvSpPr>
          <p:cNvPr id="9" name="TextBox 8"/>
          <p:cNvSpPr txBox="1"/>
          <p:nvPr/>
        </p:nvSpPr>
        <p:spPr>
          <a:xfrm>
            <a:off x="8508034" y="1481328"/>
            <a:ext cx="1511274" cy="274320"/>
          </a:xfrm>
          <a:prstGeom prst="rect">
            <a:avLst/>
          </a:prstGeom>
          <a:noFill/>
        </p:spPr>
        <p:txBody>
          <a:bodyPr wrap="square" anchor="t" lIns="0" rIns="0" tIns="0" bIns="0">
            <a:noAutofit/>
          </a:bodyPr>
          <a:lstStyle/>
          <a:p>
            <a:pPr algn="r">
              <a:spcBef>
                <a:spcPts val="0"/>
              </a:spcBef>
              <a:spcAft>
                <a:spcPts val="0"/>
              </a:spcAft>
            </a:pPr>
            <a:r>
              <a:rPr sz="800" b="0" i="0" spc="150">
                <a:solidFill>
                  <a:srgbClr val="8C8375"/>
                </a:solidFill>
                <a:latin typeface="Consolas"/>
              </a:rPr>
              <a:t>RUNS</a:t>
            </a:r>
          </a:p>
        </p:txBody>
      </p:sp>
      <p:sp>
        <p:nvSpPr>
          <p:cNvPr id="10" name="TextBox 9"/>
          <p:cNvSpPr txBox="1"/>
          <p:nvPr/>
        </p:nvSpPr>
        <p:spPr>
          <a:xfrm>
            <a:off x="10019309" y="1481328"/>
            <a:ext cx="1511274" cy="274320"/>
          </a:xfrm>
          <a:prstGeom prst="rect">
            <a:avLst/>
          </a:prstGeom>
          <a:noFill/>
        </p:spPr>
        <p:txBody>
          <a:bodyPr wrap="square" anchor="t" lIns="0" rIns="0" tIns="0" bIns="0">
            <a:noAutofit/>
          </a:bodyPr>
          <a:lstStyle/>
          <a:p>
            <a:pPr algn="r">
              <a:spcBef>
                <a:spcPts val="0"/>
              </a:spcBef>
              <a:spcAft>
                <a:spcPts val="0"/>
              </a:spcAft>
            </a:pPr>
            <a:r>
              <a:rPr sz="800" b="0" i="0" spc="150">
                <a:solidFill>
                  <a:srgbClr val="8C8375"/>
                </a:solidFill>
                <a:latin typeface="Consolas"/>
              </a:rPr>
              <a:t>WICKETS</a:t>
            </a:r>
          </a:p>
        </p:txBody>
      </p:sp>
      <p:cxnSp>
        <p:nvCxnSpPr>
          <p:cNvPr id="11" name="Connector 10"/>
          <p:cNvCxnSpPr/>
          <p:nvPr/>
        </p:nvCxnSpPr>
        <p:spPr>
          <a:xfrm>
            <a:off x="6035040" y="1755648"/>
            <a:ext cx="5495544" cy="0"/>
          </a:xfrm>
          <a:prstGeom prst="line">
            <a:avLst/>
          </a:prstGeom>
          <a:ln w="13970">
            <a:solidFill>
              <a:srgbClr val="16130F"/>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035040" y="1847088"/>
            <a:ext cx="2308128" cy="274320"/>
          </a:xfrm>
          <a:prstGeom prst="rect">
            <a:avLst/>
          </a:prstGeom>
          <a:noFill/>
        </p:spPr>
        <p:txBody>
          <a:bodyPr wrap="square" anchor="t" lIns="0" rIns="0" tIns="0" bIns="0">
            <a:noAutofit/>
          </a:bodyPr>
          <a:lstStyle/>
          <a:p>
            <a:pPr algn="l">
              <a:spcBef>
                <a:spcPts val="0"/>
              </a:spcBef>
              <a:spcAft>
                <a:spcPts val="0"/>
              </a:spcAft>
            </a:pPr>
            <a:r>
              <a:rPr sz="1100" b="0" i="0">
                <a:solidFill>
                  <a:srgbClr val="5B5347"/>
                </a:solidFill>
                <a:latin typeface="Georgia"/>
              </a:rPr>
              <a:t>Mean</a:t>
            </a:r>
          </a:p>
        </p:txBody>
      </p:sp>
      <p:sp>
        <p:nvSpPr>
          <p:cNvPr id="13" name="TextBox 12"/>
          <p:cNvSpPr txBox="1"/>
          <p:nvPr/>
        </p:nvSpPr>
        <p:spPr>
          <a:xfrm>
            <a:off x="8508034" y="1847088"/>
            <a:ext cx="1511274" cy="274320"/>
          </a:xfrm>
          <a:prstGeom prst="rect">
            <a:avLst/>
          </a:prstGeom>
          <a:noFill/>
        </p:spPr>
        <p:txBody>
          <a:bodyPr wrap="square" anchor="t" lIns="0" rIns="0" tIns="0" bIns="0">
            <a:noAutofit/>
          </a:bodyPr>
          <a:lstStyle/>
          <a:p>
            <a:pPr algn="r">
              <a:spcBef>
                <a:spcPts val="0"/>
              </a:spcBef>
              <a:spcAft>
                <a:spcPts val="0"/>
              </a:spcAft>
            </a:pPr>
            <a:r>
              <a:rPr sz="1150" b="0" i="0">
                <a:solidFill>
                  <a:srgbClr val="16130F"/>
                </a:solidFill>
                <a:latin typeface="Consolas"/>
              </a:rPr>
              <a:t>48.49</a:t>
            </a:r>
          </a:p>
        </p:txBody>
      </p:sp>
      <p:sp>
        <p:nvSpPr>
          <p:cNvPr id="14" name="TextBox 13"/>
          <p:cNvSpPr txBox="1"/>
          <p:nvPr/>
        </p:nvSpPr>
        <p:spPr>
          <a:xfrm>
            <a:off x="10019309" y="1847088"/>
            <a:ext cx="1511274" cy="274320"/>
          </a:xfrm>
          <a:prstGeom prst="rect">
            <a:avLst/>
          </a:prstGeom>
          <a:noFill/>
        </p:spPr>
        <p:txBody>
          <a:bodyPr wrap="square" anchor="t" lIns="0" rIns="0" tIns="0" bIns="0">
            <a:noAutofit/>
          </a:bodyPr>
          <a:lstStyle/>
          <a:p>
            <a:pPr algn="r">
              <a:spcBef>
                <a:spcPts val="0"/>
              </a:spcBef>
              <a:spcAft>
                <a:spcPts val="0"/>
              </a:spcAft>
            </a:pPr>
            <a:r>
              <a:rPr sz="1150" b="0" i="0">
                <a:solidFill>
                  <a:srgbClr val="16130F"/>
                </a:solidFill>
                <a:latin typeface="Consolas"/>
              </a:rPr>
              <a:t>1.44</a:t>
            </a:r>
          </a:p>
        </p:txBody>
      </p:sp>
      <p:cxnSp>
        <p:nvCxnSpPr>
          <p:cNvPr id="15" name="Connector 14"/>
          <p:cNvCxnSpPr/>
          <p:nvPr/>
        </p:nvCxnSpPr>
        <p:spPr>
          <a:xfrm>
            <a:off x="6035040" y="2157984"/>
            <a:ext cx="5495544"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035040" y="2249424"/>
            <a:ext cx="2308128" cy="274320"/>
          </a:xfrm>
          <a:prstGeom prst="rect">
            <a:avLst/>
          </a:prstGeom>
          <a:noFill/>
        </p:spPr>
        <p:txBody>
          <a:bodyPr wrap="square" anchor="t" lIns="0" rIns="0" tIns="0" bIns="0">
            <a:noAutofit/>
          </a:bodyPr>
          <a:lstStyle/>
          <a:p>
            <a:pPr algn="l">
              <a:spcBef>
                <a:spcPts val="0"/>
              </a:spcBef>
              <a:spcAft>
                <a:spcPts val="0"/>
              </a:spcAft>
            </a:pPr>
            <a:r>
              <a:rPr sz="1100" b="0" i="0">
                <a:solidFill>
                  <a:srgbClr val="5B5347"/>
                </a:solidFill>
                <a:latin typeface="Georgia"/>
              </a:rPr>
              <a:t>Median</a:t>
            </a:r>
          </a:p>
        </p:txBody>
      </p:sp>
      <p:sp>
        <p:nvSpPr>
          <p:cNvPr id="17" name="TextBox 16"/>
          <p:cNvSpPr txBox="1"/>
          <p:nvPr/>
        </p:nvSpPr>
        <p:spPr>
          <a:xfrm>
            <a:off x="8508034" y="2249424"/>
            <a:ext cx="1511274" cy="274320"/>
          </a:xfrm>
          <a:prstGeom prst="rect">
            <a:avLst/>
          </a:prstGeom>
          <a:noFill/>
        </p:spPr>
        <p:txBody>
          <a:bodyPr wrap="square" anchor="t" lIns="0" rIns="0" tIns="0" bIns="0">
            <a:noAutofit/>
          </a:bodyPr>
          <a:lstStyle/>
          <a:p>
            <a:pPr algn="r">
              <a:spcBef>
                <a:spcPts val="0"/>
              </a:spcBef>
              <a:spcAft>
                <a:spcPts val="0"/>
              </a:spcAft>
            </a:pPr>
            <a:r>
              <a:rPr sz="1150" b="0" i="0">
                <a:solidFill>
                  <a:srgbClr val="16130F"/>
                </a:solidFill>
                <a:latin typeface="Consolas"/>
              </a:rPr>
              <a:t>48.0</a:t>
            </a:r>
          </a:p>
        </p:txBody>
      </p:sp>
      <p:sp>
        <p:nvSpPr>
          <p:cNvPr id="18" name="TextBox 17"/>
          <p:cNvSpPr txBox="1"/>
          <p:nvPr/>
        </p:nvSpPr>
        <p:spPr>
          <a:xfrm>
            <a:off x="10019309" y="2249424"/>
            <a:ext cx="1511274" cy="274320"/>
          </a:xfrm>
          <a:prstGeom prst="rect">
            <a:avLst/>
          </a:prstGeom>
          <a:noFill/>
        </p:spPr>
        <p:txBody>
          <a:bodyPr wrap="square" anchor="t" lIns="0" rIns="0" tIns="0" bIns="0">
            <a:noAutofit/>
          </a:bodyPr>
          <a:lstStyle/>
          <a:p>
            <a:pPr algn="r">
              <a:spcBef>
                <a:spcPts val="0"/>
              </a:spcBef>
              <a:spcAft>
                <a:spcPts val="0"/>
              </a:spcAft>
            </a:pPr>
            <a:r>
              <a:rPr sz="1150" b="0" i="0">
                <a:solidFill>
                  <a:srgbClr val="16130F"/>
                </a:solidFill>
                <a:latin typeface="Consolas"/>
              </a:rPr>
              <a:t>1.0</a:t>
            </a:r>
          </a:p>
        </p:txBody>
      </p:sp>
      <p:cxnSp>
        <p:nvCxnSpPr>
          <p:cNvPr id="19" name="Connector 18"/>
          <p:cNvCxnSpPr/>
          <p:nvPr/>
        </p:nvCxnSpPr>
        <p:spPr>
          <a:xfrm>
            <a:off x="6035040" y="2560320"/>
            <a:ext cx="5495544"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035040" y="2651760"/>
            <a:ext cx="2308128" cy="274320"/>
          </a:xfrm>
          <a:prstGeom prst="rect">
            <a:avLst/>
          </a:prstGeom>
          <a:noFill/>
        </p:spPr>
        <p:txBody>
          <a:bodyPr wrap="square" anchor="t" lIns="0" rIns="0" tIns="0" bIns="0">
            <a:noAutofit/>
          </a:bodyPr>
          <a:lstStyle/>
          <a:p>
            <a:pPr algn="l">
              <a:spcBef>
                <a:spcPts val="0"/>
              </a:spcBef>
              <a:spcAft>
                <a:spcPts val="0"/>
              </a:spcAft>
            </a:pPr>
            <a:r>
              <a:rPr sz="1100" b="0" i="0">
                <a:solidFill>
                  <a:srgbClr val="5B5347"/>
                </a:solidFill>
                <a:latin typeface="Georgia"/>
              </a:rPr>
              <a:t>Std. deviation</a:t>
            </a:r>
          </a:p>
        </p:txBody>
      </p:sp>
      <p:sp>
        <p:nvSpPr>
          <p:cNvPr id="21" name="TextBox 20"/>
          <p:cNvSpPr txBox="1"/>
          <p:nvPr/>
        </p:nvSpPr>
        <p:spPr>
          <a:xfrm>
            <a:off x="8508034" y="2651760"/>
            <a:ext cx="1511274" cy="274320"/>
          </a:xfrm>
          <a:prstGeom prst="rect">
            <a:avLst/>
          </a:prstGeom>
          <a:noFill/>
        </p:spPr>
        <p:txBody>
          <a:bodyPr wrap="square" anchor="t" lIns="0" rIns="0" tIns="0" bIns="0">
            <a:noAutofit/>
          </a:bodyPr>
          <a:lstStyle/>
          <a:p>
            <a:pPr algn="r">
              <a:spcBef>
                <a:spcPts val="0"/>
              </a:spcBef>
              <a:spcAft>
                <a:spcPts val="0"/>
              </a:spcAft>
            </a:pPr>
            <a:r>
              <a:rPr sz="1150" b="0" i="0">
                <a:solidFill>
                  <a:srgbClr val="16130F"/>
                </a:solidFill>
                <a:latin typeface="Consolas"/>
              </a:rPr>
              <a:t>13.51</a:t>
            </a:r>
          </a:p>
        </p:txBody>
      </p:sp>
      <p:sp>
        <p:nvSpPr>
          <p:cNvPr id="22" name="TextBox 21"/>
          <p:cNvSpPr txBox="1"/>
          <p:nvPr/>
        </p:nvSpPr>
        <p:spPr>
          <a:xfrm>
            <a:off x="10019309" y="2651760"/>
            <a:ext cx="1511274" cy="274320"/>
          </a:xfrm>
          <a:prstGeom prst="rect">
            <a:avLst/>
          </a:prstGeom>
          <a:noFill/>
        </p:spPr>
        <p:txBody>
          <a:bodyPr wrap="square" anchor="t" lIns="0" rIns="0" tIns="0" bIns="0">
            <a:noAutofit/>
          </a:bodyPr>
          <a:lstStyle/>
          <a:p>
            <a:pPr algn="r">
              <a:spcBef>
                <a:spcPts val="0"/>
              </a:spcBef>
              <a:spcAft>
                <a:spcPts val="0"/>
              </a:spcAft>
            </a:pPr>
            <a:r>
              <a:rPr sz="1150" b="0" i="0">
                <a:solidFill>
                  <a:srgbClr val="16130F"/>
                </a:solidFill>
                <a:latin typeface="Consolas"/>
              </a:rPr>
              <a:t>1.12</a:t>
            </a:r>
          </a:p>
        </p:txBody>
      </p:sp>
      <p:cxnSp>
        <p:nvCxnSpPr>
          <p:cNvPr id="23" name="Connector 22"/>
          <p:cNvCxnSpPr/>
          <p:nvPr/>
        </p:nvCxnSpPr>
        <p:spPr>
          <a:xfrm>
            <a:off x="6035040" y="2962656"/>
            <a:ext cx="5495544"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035040" y="3054096"/>
            <a:ext cx="2308128" cy="274320"/>
          </a:xfrm>
          <a:prstGeom prst="rect">
            <a:avLst/>
          </a:prstGeom>
          <a:noFill/>
        </p:spPr>
        <p:txBody>
          <a:bodyPr wrap="square" anchor="t" lIns="0" rIns="0" tIns="0" bIns="0">
            <a:noAutofit/>
          </a:bodyPr>
          <a:lstStyle/>
          <a:p>
            <a:pPr algn="l">
              <a:spcBef>
                <a:spcPts val="0"/>
              </a:spcBef>
              <a:spcAft>
                <a:spcPts val="0"/>
              </a:spcAft>
            </a:pPr>
            <a:r>
              <a:rPr sz="1100" b="0" i="0">
                <a:solidFill>
                  <a:srgbClr val="5B5347"/>
                </a:solidFill>
                <a:latin typeface="Georgia"/>
              </a:rPr>
              <a:t>Variance</a:t>
            </a:r>
          </a:p>
        </p:txBody>
      </p:sp>
      <p:sp>
        <p:nvSpPr>
          <p:cNvPr id="25" name="TextBox 24"/>
          <p:cNvSpPr txBox="1"/>
          <p:nvPr/>
        </p:nvSpPr>
        <p:spPr>
          <a:xfrm>
            <a:off x="8508034" y="3054096"/>
            <a:ext cx="1511274" cy="274320"/>
          </a:xfrm>
          <a:prstGeom prst="rect">
            <a:avLst/>
          </a:prstGeom>
          <a:noFill/>
        </p:spPr>
        <p:txBody>
          <a:bodyPr wrap="square" anchor="t" lIns="0" rIns="0" tIns="0" bIns="0">
            <a:noAutofit/>
          </a:bodyPr>
          <a:lstStyle/>
          <a:p>
            <a:pPr algn="r">
              <a:spcBef>
                <a:spcPts val="0"/>
              </a:spcBef>
              <a:spcAft>
                <a:spcPts val="0"/>
              </a:spcAft>
            </a:pPr>
            <a:r>
              <a:rPr sz="1150" b="0" i="0">
                <a:solidFill>
                  <a:srgbClr val="16130F"/>
                </a:solidFill>
                <a:latin typeface="Consolas"/>
              </a:rPr>
              <a:t>182.6</a:t>
            </a:r>
          </a:p>
        </p:txBody>
      </p:sp>
      <p:sp>
        <p:nvSpPr>
          <p:cNvPr id="26" name="TextBox 25"/>
          <p:cNvSpPr txBox="1"/>
          <p:nvPr/>
        </p:nvSpPr>
        <p:spPr>
          <a:xfrm>
            <a:off x="10019309" y="3054096"/>
            <a:ext cx="1511274" cy="274320"/>
          </a:xfrm>
          <a:prstGeom prst="rect">
            <a:avLst/>
          </a:prstGeom>
          <a:noFill/>
        </p:spPr>
        <p:txBody>
          <a:bodyPr wrap="square" anchor="t" lIns="0" rIns="0" tIns="0" bIns="0">
            <a:noAutofit/>
          </a:bodyPr>
          <a:lstStyle/>
          <a:p>
            <a:pPr algn="r">
              <a:spcBef>
                <a:spcPts val="0"/>
              </a:spcBef>
              <a:spcAft>
                <a:spcPts val="0"/>
              </a:spcAft>
            </a:pPr>
            <a:r>
              <a:rPr sz="1150" b="0" i="0">
                <a:solidFill>
                  <a:srgbClr val="16130F"/>
                </a:solidFill>
                <a:latin typeface="Consolas"/>
              </a:rPr>
              <a:t>1.26</a:t>
            </a:r>
          </a:p>
        </p:txBody>
      </p:sp>
      <p:cxnSp>
        <p:nvCxnSpPr>
          <p:cNvPr id="27" name="Connector 26"/>
          <p:cNvCxnSpPr/>
          <p:nvPr/>
        </p:nvCxnSpPr>
        <p:spPr>
          <a:xfrm>
            <a:off x="6035040" y="3364991"/>
            <a:ext cx="5495544"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035040" y="3456432"/>
            <a:ext cx="2308128" cy="274320"/>
          </a:xfrm>
          <a:prstGeom prst="rect">
            <a:avLst/>
          </a:prstGeom>
          <a:noFill/>
        </p:spPr>
        <p:txBody>
          <a:bodyPr wrap="square" anchor="t" lIns="0" rIns="0" tIns="0" bIns="0">
            <a:noAutofit/>
          </a:bodyPr>
          <a:lstStyle/>
          <a:p>
            <a:pPr algn="l">
              <a:spcBef>
                <a:spcPts val="0"/>
              </a:spcBef>
              <a:spcAft>
                <a:spcPts val="0"/>
              </a:spcAft>
            </a:pPr>
            <a:r>
              <a:rPr sz="1100" b="0" i="0">
                <a:solidFill>
                  <a:srgbClr val="5B5347"/>
                </a:solidFill>
                <a:latin typeface="Georgia"/>
              </a:rPr>
              <a:t>Skewness</a:t>
            </a:r>
          </a:p>
        </p:txBody>
      </p:sp>
      <p:sp>
        <p:nvSpPr>
          <p:cNvPr id="29" name="TextBox 28"/>
          <p:cNvSpPr txBox="1"/>
          <p:nvPr/>
        </p:nvSpPr>
        <p:spPr>
          <a:xfrm>
            <a:off x="8508034" y="3456432"/>
            <a:ext cx="1511274" cy="274320"/>
          </a:xfrm>
          <a:prstGeom prst="rect">
            <a:avLst/>
          </a:prstGeom>
          <a:noFill/>
        </p:spPr>
        <p:txBody>
          <a:bodyPr wrap="square" anchor="t" lIns="0" rIns="0" tIns="0" bIns="0">
            <a:noAutofit/>
          </a:bodyPr>
          <a:lstStyle/>
          <a:p>
            <a:pPr algn="r">
              <a:spcBef>
                <a:spcPts val="0"/>
              </a:spcBef>
              <a:spcAft>
                <a:spcPts val="0"/>
              </a:spcAft>
            </a:pPr>
            <a:r>
              <a:rPr sz="1150" b="0" i="0">
                <a:solidFill>
                  <a:srgbClr val="16130F"/>
                </a:solidFill>
                <a:latin typeface="Consolas"/>
              </a:rPr>
              <a:t>+0.59</a:t>
            </a:r>
          </a:p>
        </p:txBody>
      </p:sp>
      <p:sp>
        <p:nvSpPr>
          <p:cNvPr id="30" name="TextBox 29"/>
          <p:cNvSpPr txBox="1"/>
          <p:nvPr/>
        </p:nvSpPr>
        <p:spPr>
          <a:xfrm>
            <a:off x="10019309" y="3456432"/>
            <a:ext cx="1511274" cy="274320"/>
          </a:xfrm>
          <a:prstGeom prst="rect">
            <a:avLst/>
          </a:prstGeom>
          <a:noFill/>
        </p:spPr>
        <p:txBody>
          <a:bodyPr wrap="square" anchor="t" lIns="0" rIns="0" tIns="0" bIns="0">
            <a:noAutofit/>
          </a:bodyPr>
          <a:lstStyle/>
          <a:p>
            <a:pPr algn="r">
              <a:spcBef>
                <a:spcPts val="0"/>
              </a:spcBef>
              <a:spcAft>
                <a:spcPts val="0"/>
              </a:spcAft>
            </a:pPr>
            <a:r>
              <a:rPr sz="1150" b="0" i="0">
                <a:solidFill>
                  <a:srgbClr val="16130F"/>
                </a:solidFill>
                <a:latin typeface="Consolas"/>
              </a:rPr>
              <a:t>+1.29</a:t>
            </a:r>
          </a:p>
        </p:txBody>
      </p:sp>
      <p:cxnSp>
        <p:nvCxnSpPr>
          <p:cNvPr id="31" name="Connector 30"/>
          <p:cNvCxnSpPr/>
          <p:nvPr/>
        </p:nvCxnSpPr>
        <p:spPr>
          <a:xfrm>
            <a:off x="6035040" y="3767328"/>
            <a:ext cx="5495544"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035040" y="3858768"/>
            <a:ext cx="2308128" cy="274320"/>
          </a:xfrm>
          <a:prstGeom prst="rect">
            <a:avLst/>
          </a:prstGeom>
          <a:noFill/>
        </p:spPr>
        <p:txBody>
          <a:bodyPr wrap="square" anchor="t" lIns="0" rIns="0" tIns="0" bIns="0">
            <a:noAutofit/>
          </a:bodyPr>
          <a:lstStyle/>
          <a:p>
            <a:pPr algn="l">
              <a:spcBef>
                <a:spcPts val="0"/>
              </a:spcBef>
              <a:spcAft>
                <a:spcPts val="0"/>
              </a:spcAft>
            </a:pPr>
            <a:r>
              <a:rPr sz="1100" b="0" i="0">
                <a:solidFill>
                  <a:srgbClr val="5B5347"/>
                </a:solidFill>
                <a:latin typeface="Georgia"/>
              </a:rPr>
              <a:t>Excess kurtosis</a:t>
            </a:r>
          </a:p>
        </p:txBody>
      </p:sp>
      <p:sp>
        <p:nvSpPr>
          <p:cNvPr id="33" name="TextBox 32"/>
          <p:cNvSpPr txBox="1"/>
          <p:nvPr/>
        </p:nvSpPr>
        <p:spPr>
          <a:xfrm>
            <a:off x="8508034" y="3858768"/>
            <a:ext cx="1511274" cy="274320"/>
          </a:xfrm>
          <a:prstGeom prst="rect">
            <a:avLst/>
          </a:prstGeom>
          <a:noFill/>
        </p:spPr>
        <p:txBody>
          <a:bodyPr wrap="square" anchor="t" lIns="0" rIns="0" tIns="0" bIns="0">
            <a:noAutofit/>
          </a:bodyPr>
          <a:lstStyle/>
          <a:p>
            <a:pPr algn="r">
              <a:spcBef>
                <a:spcPts val="0"/>
              </a:spcBef>
              <a:spcAft>
                <a:spcPts val="0"/>
              </a:spcAft>
            </a:pPr>
            <a:r>
              <a:rPr sz="1150" b="0" i="0">
                <a:solidFill>
                  <a:srgbClr val="16130F"/>
                </a:solidFill>
                <a:latin typeface="Consolas"/>
              </a:rPr>
              <a:t>+1.15</a:t>
            </a:r>
          </a:p>
        </p:txBody>
      </p:sp>
      <p:sp>
        <p:nvSpPr>
          <p:cNvPr id="34" name="TextBox 33"/>
          <p:cNvSpPr txBox="1"/>
          <p:nvPr/>
        </p:nvSpPr>
        <p:spPr>
          <a:xfrm>
            <a:off x="10019309" y="3858768"/>
            <a:ext cx="1511274" cy="274320"/>
          </a:xfrm>
          <a:prstGeom prst="rect">
            <a:avLst/>
          </a:prstGeom>
          <a:noFill/>
        </p:spPr>
        <p:txBody>
          <a:bodyPr wrap="square" anchor="t" lIns="0" rIns="0" tIns="0" bIns="0">
            <a:noAutofit/>
          </a:bodyPr>
          <a:lstStyle/>
          <a:p>
            <a:pPr algn="r">
              <a:spcBef>
                <a:spcPts val="0"/>
              </a:spcBef>
              <a:spcAft>
                <a:spcPts val="0"/>
              </a:spcAft>
            </a:pPr>
            <a:r>
              <a:rPr sz="1150" b="0" i="0">
                <a:solidFill>
                  <a:srgbClr val="16130F"/>
                </a:solidFill>
                <a:latin typeface="Consolas"/>
              </a:rPr>
              <a:t>+2.34</a:t>
            </a:r>
          </a:p>
        </p:txBody>
      </p:sp>
      <p:cxnSp>
        <p:nvCxnSpPr>
          <p:cNvPr id="35" name="Connector 34"/>
          <p:cNvCxnSpPr/>
          <p:nvPr/>
        </p:nvCxnSpPr>
        <p:spPr>
          <a:xfrm>
            <a:off x="6035040" y="4169663"/>
            <a:ext cx="5495544"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035040" y="4261103"/>
            <a:ext cx="2308128" cy="274320"/>
          </a:xfrm>
          <a:prstGeom prst="rect">
            <a:avLst/>
          </a:prstGeom>
          <a:noFill/>
        </p:spPr>
        <p:txBody>
          <a:bodyPr wrap="square" anchor="t" lIns="0" rIns="0" tIns="0" bIns="0">
            <a:noAutofit/>
          </a:bodyPr>
          <a:lstStyle/>
          <a:p>
            <a:pPr algn="l">
              <a:spcBef>
                <a:spcPts val="0"/>
              </a:spcBef>
              <a:spcAft>
                <a:spcPts val="0"/>
              </a:spcAft>
            </a:pPr>
            <a:r>
              <a:rPr sz="1100" b="0" i="0">
                <a:solidFill>
                  <a:srgbClr val="5B5347"/>
                </a:solidFill>
                <a:latin typeface="Georgia"/>
              </a:rPr>
              <a:t>Range</a:t>
            </a:r>
          </a:p>
        </p:txBody>
      </p:sp>
      <p:sp>
        <p:nvSpPr>
          <p:cNvPr id="37" name="TextBox 36"/>
          <p:cNvSpPr txBox="1"/>
          <p:nvPr/>
        </p:nvSpPr>
        <p:spPr>
          <a:xfrm>
            <a:off x="8508034" y="4261103"/>
            <a:ext cx="1511274" cy="274320"/>
          </a:xfrm>
          <a:prstGeom prst="rect">
            <a:avLst/>
          </a:prstGeom>
          <a:noFill/>
        </p:spPr>
        <p:txBody>
          <a:bodyPr wrap="square" anchor="t" lIns="0" rIns="0" tIns="0" bIns="0">
            <a:noAutofit/>
          </a:bodyPr>
          <a:lstStyle/>
          <a:p>
            <a:pPr algn="r">
              <a:spcBef>
                <a:spcPts val="0"/>
              </a:spcBef>
              <a:spcAft>
                <a:spcPts val="0"/>
              </a:spcAft>
            </a:pPr>
            <a:r>
              <a:rPr sz="1150" b="0" i="0">
                <a:solidFill>
                  <a:srgbClr val="16130F"/>
                </a:solidFill>
                <a:latin typeface="Consolas"/>
              </a:rPr>
              <a:t>13 – 125</a:t>
            </a:r>
          </a:p>
        </p:txBody>
      </p:sp>
      <p:sp>
        <p:nvSpPr>
          <p:cNvPr id="38" name="TextBox 37"/>
          <p:cNvSpPr txBox="1"/>
          <p:nvPr/>
        </p:nvSpPr>
        <p:spPr>
          <a:xfrm>
            <a:off x="10019309" y="4261103"/>
            <a:ext cx="1511274" cy="274320"/>
          </a:xfrm>
          <a:prstGeom prst="rect">
            <a:avLst/>
          </a:prstGeom>
          <a:noFill/>
        </p:spPr>
        <p:txBody>
          <a:bodyPr wrap="square" anchor="t" lIns="0" rIns="0" tIns="0" bIns="0">
            <a:noAutofit/>
          </a:bodyPr>
          <a:lstStyle/>
          <a:p>
            <a:pPr algn="r">
              <a:spcBef>
                <a:spcPts val="0"/>
              </a:spcBef>
              <a:spcAft>
                <a:spcPts val="0"/>
              </a:spcAft>
            </a:pPr>
            <a:r>
              <a:rPr sz="1150" b="0" i="0">
                <a:solidFill>
                  <a:srgbClr val="16130F"/>
                </a:solidFill>
                <a:latin typeface="Consolas"/>
              </a:rPr>
              <a:t>0 – 6</a:t>
            </a:r>
          </a:p>
        </p:txBody>
      </p:sp>
      <p:cxnSp>
        <p:nvCxnSpPr>
          <p:cNvPr id="39" name="Connector 38"/>
          <p:cNvCxnSpPr/>
          <p:nvPr/>
        </p:nvCxnSpPr>
        <p:spPr>
          <a:xfrm>
            <a:off x="6035040" y="4571999"/>
            <a:ext cx="5495544"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035040" y="4773167"/>
            <a:ext cx="5495544" cy="256032"/>
          </a:xfrm>
          <a:prstGeom prst="rect">
            <a:avLst/>
          </a:prstGeom>
          <a:noFill/>
        </p:spPr>
        <p:txBody>
          <a:bodyPr wrap="square" anchor="t" lIns="0" rIns="0" tIns="0" bIns="0">
            <a:noAutofit/>
          </a:bodyPr>
          <a:lstStyle/>
          <a:p>
            <a:pPr algn="l">
              <a:spcBef>
                <a:spcPts val="0"/>
              </a:spcBef>
              <a:spcAft>
                <a:spcPts val="0"/>
              </a:spcAft>
            </a:pPr>
            <a:r>
              <a:rPr sz="850" b="0" i="0" spc="140">
                <a:solidFill>
                  <a:srgbClr val="8C8375"/>
                </a:solidFill>
                <a:latin typeface="Consolas"/>
              </a:rPr>
              <a:t>BOTH TAILS ARE HEAVIER THAN A NORMAL DISTRIBUTION: VERY GOOD AND VERY BAD STARTS HAPPEN MORE OFTEN THAN THE BELL CURVE PREDICTS.</a:t>
            </a:r>
          </a:p>
        </p:txBody>
      </p:sp>
    </p:spTree>
  </p:cSld>
  <p:clrMapOvr>
    <a:masterClrMapping/>
  </p:clrMapOvr>
  <p:transition spd="med">
    <p:push dir="u"/>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2E9"/>
        </a:solidFill>
        <a:effectLst/>
      </p:bgPr>
    </p:bg>
    <p:spTree>
      <p:nvGrpSpPr>
        <p:cNvPr id="1" name=""/>
        <p:cNvGrpSpPr/>
        <p:nvPr/>
      </p:nvGrpSpPr>
      <p:grpSpPr/>
      <p:sp>
        <p:nvSpPr>
          <p:cNvPr id="2" name="TextBox 1"/>
          <p:cNvSpPr txBox="1"/>
          <p:nvPr/>
        </p:nvSpPr>
        <p:spPr>
          <a:xfrm>
            <a:off x="658368" y="420624"/>
            <a:ext cx="5669280"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8C8375"/>
                </a:solidFill>
                <a:latin typeface="Consolas"/>
              </a:rPr>
              <a:t>05 · DATA ANALYSIS · RQ1 RQ2</a:t>
            </a:r>
          </a:p>
        </p:txBody>
      </p:sp>
      <p:sp>
        <p:nvSpPr>
          <p:cNvPr id="3" name="TextBox 2"/>
          <p:cNvSpPr txBox="1"/>
          <p:nvPr/>
        </p:nvSpPr>
        <p:spPr>
          <a:xfrm>
            <a:off x="6961327" y="420624"/>
            <a:ext cx="4572000" cy="274320"/>
          </a:xfrm>
          <a:prstGeom prst="rect">
            <a:avLst/>
          </a:prstGeom>
          <a:noFill/>
        </p:spPr>
        <p:txBody>
          <a:bodyPr wrap="square" anchor="t" lIns="0" rIns="0" tIns="0" bIns="0">
            <a:noAutofit/>
          </a:bodyPr>
          <a:lstStyle/>
          <a:p>
            <a:pPr algn="r">
              <a:spcBef>
                <a:spcPts val="0"/>
              </a:spcBef>
              <a:spcAft>
                <a:spcPts val="0"/>
              </a:spcAft>
            </a:pPr>
            <a:r>
              <a:rPr sz="850" b="0" i="0" spc="150">
                <a:solidFill>
                  <a:srgbClr val="8C8375"/>
                </a:solidFill>
                <a:latin typeface="Consolas"/>
              </a:rPr>
              <a:t>CONDITIONAL PROBABILITY · Χ²</a:t>
            </a:r>
          </a:p>
        </p:txBody>
      </p:sp>
      <p:sp>
        <p:nvSpPr>
          <p:cNvPr id="4" name="TextBox 3"/>
          <p:cNvSpPr txBox="1"/>
          <p:nvPr/>
        </p:nvSpPr>
        <p:spPr>
          <a:xfrm>
            <a:off x="658368" y="1207008"/>
            <a:ext cx="5029200" cy="1188720"/>
          </a:xfrm>
          <a:prstGeom prst="rect">
            <a:avLst/>
          </a:prstGeom>
          <a:noFill/>
        </p:spPr>
        <p:txBody>
          <a:bodyPr wrap="square" anchor="t" lIns="0" rIns="0" tIns="0" bIns="0">
            <a:noAutofit/>
          </a:bodyPr>
          <a:lstStyle/>
          <a:p>
            <a:pPr algn="l">
              <a:lnSpc>
                <a:spcPct val="95000"/>
              </a:lnSpc>
              <a:spcBef>
                <a:spcPts val="0"/>
              </a:spcBef>
              <a:spcAft>
                <a:spcPts val="0"/>
              </a:spcAft>
            </a:pPr>
            <a:r>
              <a:rPr sz="6200" b="0" i="0" spc="-140">
                <a:solidFill>
                  <a:srgbClr val="16130F"/>
                </a:solidFill>
                <a:latin typeface="Palatino Linotype"/>
              </a:rPr>
              <a:t>51.3</a:t>
            </a:r>
            <a:r>
              <a:rPr sz="2600" b="0" i="0">
                <a:solidFill>
                  <a:srgbClr val="8C8375"/>
                </a:solidFill>
                <a:latin typeface="Palatino Linotype"/>
              </a:rPr>
              <a:t>%</a:t>
            </a:r>
          </a:p>
        </p:txBody>
      </p:sp>
      <p:sp>
        <p:nvSpPr>
          <p:cNvPr id="5" name="TextBox 4"/>
          <p:cNvSpPr txBox="1"/>
          <p:nvPr/>
        </p:nvSpPr>
        <p:spPr>
          <a:xfrm>
            <a:off x="658368" y="2212848"/>
            <a:ext cx="4846320" cy="731520"/>
          </a:xfrm>
          <a:prstGeom prst="rect">
            <a:avLst/>
          </a:prstGeom>
          <a:noFill/>
        </p:spPr>
        <p:txBody>
          <a:bodyPr wrap="square" anchor="t" lIns="0" rIns="0" tIns="0" bIns="0">
            <a:noAutofit/>
          </a:bodyPr>
          <a:lstStyle/>
          <a:p>
            <a:pPr algn="l">
              <a:lnSpc>
                <a:spcPct val="134000"/>
              </a:lnSpc>
              <a:spcBef>
                <a:spcPts val="0"/>
              </a:spcBef>
              <a:spcAft>
                <a:spcPts val="0"/>
              </a:spcAft>
            </a:pPr>
            <a:r>
              <a:rPr sz="1250" b="0" i="0">
                <a:solidFill>
                  <a:srgbClr val="16130F"/>
                </a:solidFill>
                <a:latin typeface="Georgia"/>
              </a:rPr>
              <a:t>Win rate after winning the toss — against </a:t>
            </a:r>
            <a:r>
              <a:rPr sz="1250" b="1" i="0">
                <a:solidFill>
                  <a:srgbClr val="16130F"/>
                </a:solidFill>
                <a:latin typeface="Georgia"/>
              </a:rPr>
              <a:t>48.7%</a:t>
            </a:r>
            <a:r>
              <a:rPr sz="1250" b="0" i="0">
                <a:solidFill>
                  <a:srgbClr val="16130F"/>
                </a:solidFill>
                <a:latin typeface="Georgia"/>
              </a:rPr>
              <a:t> after losing it.</a:t>
            </a:r>
          </a:p>
        </p:txBody>
      </p:sp>
      <p:cxnSp>
        <p:nvCxnSpPr>
          <p:cNvPr id="6" name="Connector 5"/>
          <p:cNvCxnSpPr/>
          <p:nvPr/>
        </p:nvCxnSpPr>
        <p:spPr>
          <a:xfrm>
            <a:off x="658368" y="2962656"/>
            <a:ext cx="4846320" cy="0"/>
          </a:xfrm>
          <a:prstGeom prst="line">
            <a:avLst/>
          </a:prstGeom>
          <a:ln w="13970">
            <a:solidFill>
              <a:srgbClr val="16130F"/>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3044952"/>
            <a:ext cx="3004718" cy="274320"/>
          </a:xfrm>
          <a:prstGeom prst="rect">
            <a:avLst/>
          </a:prstGeom>
          <a:noFill/>
        </p:spPr>
        <p:txBody>
          <a:bodyPr wrap="square" anchor="t" lIns="0" rIns="0" tIns="0" bIns="0">
            <a:noAutofit/>
          </a:bodyPr>
          <a:lstStyle/>
          <a:p>
            <a:pPr algn="l">
              <a:spcBef>
                <a:spcPts val="0"/>
              </a:spcBef>
              <a:spcAft>
                <a:spcPts val="0"/>
              </a:spcAft>
            </a:pPr>
            <a:r>
              <a:rPr sz="1050" b="0" i="0">
                <a:solidFill>
                  <a:srgbClr val="5B5347"/>
                </a:solidFill>
                <a:latin typeface="Georgia"/>
              </a:rPr>
              <a:t>95% confidence interval</a:t>
            </a:r>
          </a:p>
        </p:txBody>
      </p:sp>
      <p:sp>
        <p:nvSpPr>
          <p:cNvPr id="8" name="TextBox 7"/>
          <p:cNvSpPr txBox="1"/>
          <p:nvPr/>
        </p:nvSpPr>
        <p:spPr>
          <a:xfrm>
            <a:off x="3323844" y="3044952"/>
            <a:ext cx="2180844" cy="274320"/>
          </a:xfrm>
          <a:prstGeom prst="rect">
            <a:avLst/>
          </a:prstGeom>
          <a:noFill/>
        </p:spPr>
        <p:txBody>
          <a:bodyPr wrap="square" anchor="t" lIns="0" rIns="0" tIns="0" bIns="0">
            <a:noAutofit/>
          </a:bodyPr>
          <a:lstStyle/>
          <a:p>
            <a:pPr algn="r">
              <a:spcBef>
                <a:spcPts val="0"/>
              </a:spcBef>
              <a:spcAft>
                <a:spcPts val="0"/>
              </a:spcAft>
            </a:pPr>
            <a:r>
              <a:rPr sz="1100" b="0" i="0">
                <a:solidFill>
                  <a:srgbClr val="16130F"/>
                </a:solidFill>
                <a:latin typeface="Consolas"/>
              </a:rPr>
              <a:t>48.5 – 54.1%</a:t>
            </a:r>
          </a:p>
        </p:txBody>
      </p:sp>
      <p:cxnSp>
        <p:nvCxnSpPr>
          <p:cNvPr id="9" name="Connector 8"/>
          <p:cNvCxnSpPr/>
          <p:nvPr/>
        </p:nvCxnSpPr>
        <p:spPr>
          <a:xfrm>
            <a:off x="658368" y="3319272"/>
            <a:ext cx="4846320"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8368" y="3410712"/>
            <a:ext cx="3004718" cy="274320"/>
          </a:xfrm>
          <a:prstGeom prst="rect">
            <a:avLst/>
          </a:prstGeom>
          <a:noFill/>
        </p:spPr>
        <p:txBody>
          <a:bodyPr wrap="square" anchor="t" lIns="0" rIns="0" tIns="0" bIns="0">
            <a:noAutofit/>
          </a:bodyPr>
          <a:lstStyle/>
          <a:p>
            <a:pPr algn="l">
              <a:spcBef>
                <a:spcPts val="0"/>
              </a:spcBef>
              <a:spcAft>
                <a:spcPts val="0"/>
              </a:spcAft>
            </a:pPr>
            <a:r>
              <a:rPr sz="1050" b="0" i="0">
                <a:solidFill>
                  <a:srgbClr val="5B5347"/>
                </a:solidFill>
                <a:latin typeface="Georgia"/>
              </a:rPr>
              <a:t>Chi-square p-value</a:t>
            </a:r>
          </a:p>
        </p:txBody>
      </p:sp>
      <p:sp>
        <p:nvSpPr>
          <p:cNvPr id="11" name="TextBox 10"/>
          <p:cNvSpPr txBox="1"/>
          <p:nvPr/>
        </p:nvSpPr>
        <p:spPr>
          <a:xfrm>
            <a:off x="3323844" y="3410712"/>
            <a:ext cx="2180844" cy="274320"/>
          </a:xfrm>
          <a:prstGeom prst="rect">
            <a:avLst/>
          </a:prstGeom>
          <a:noFill/>
        </p:spPr>
        <p:txBody>
          <a:bodyPr wrap="square" anchor="t" lIns="0" rIns="0" tIns="0" bIns="0">
            <a:noAutofit/>
          </a:bodyPr>
          <a:lstStyle/>
          <a:p>
            <a:pPr algn="r">
              <a:spcBef>
                <a:spcPts val="0"/>
              </a:spcBef>
              <a:spcAft>
                <a:spcPts val="0"/>
              </a:spcAft>
            </a:pPr>
            <a:r>
              <a:rPr sz="1100" b="0" i="0">
                <a:solidFill>
                  <a:srgbClr val="16130F"/>
                </a:solidFill>
                <a:latin typeface="Consolas"/>
              </a:rPr>
              <a:t>0.183</a:t>
            </a:r>
          </a:p>
        </p:txBody>
      </p:sp>
      <p:cxnSp>
        <p:nvCxnSpPr>
          <p:cNvPr id="12" name="Connector 11"/>
          <p:cNvCxnSpPr/>
          <p:nvPr/>
        </p:nvCxnSpPr>
        <p:spPr>
          <a:xfrm>
            <a:off x="658368" y="3685032"/>
            <a:ext cx="4846320"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58368" y="3776472"/>
            <a:ext cx="3004718" cy="274320"/>
          </a:xfrm>
          <a:prstGeom prst="rect">
            <a:avLst/>
          </a:prstGeom>
          <a:noFill/>
        </p:spPr>
        <p:txBody>
          <a:bodyPr wrap="square" anchor="t" lIns="0" rIns="0" tIns="0" bIns="0">
            <a:noAutofit/>
          </a:bodyPr>
          <a:lstStyle/>
          <a:p>
            <a:pPr algn="l">
              <a:spcBef>
                <a:spcPts val="0"/>
              </a:spcBef>
              <a:spcAft>
                <a:spcPts val="0"/>
              </a:spcAft>
            </a:pPr>
            <a:r>
              <a:rPr sz="1050" b="0" i="0">
                <a:solidFill>
                  <a:srgbClr val="5B5347"/>
                </a:solidFill>
                <a:latin typeface="Georgia"/>
              </a:rPr>
              <a:t>Decision at α = 0.05</a:t>
            </a:r>
          </a:p>
        </p:txBody>
      </p:sp>
      <p:sp>
        <p:nvSpPr>
          <p:cNvPr id="14" name="TextBox 13"/>
          <p:cNvSpPr txBox="1"/>
          <p:nvPr/>
        </p:nvSpPr>
        <p:spPr>
          <a:xfrm>
            <a:off x="3323844" y="3776472"/>
            <a:ext cx="2180844" cy="274320"/>
          </a:xfrm>
          <a:prstGeom prst="rect">
            <a:avLst/>
          </a:prstGeom>
          <a:noFill/>
        </p:spPr>
        <p:txBody>
          <a:bodyPr wrap="square" anchor="t" lIns="0" rIns="0" tIns="0" bIns="0">
            <a:noAutofit/>
          </a:bodyPr>
          <a:lstStyle/>
          <a:p>
            <a:pPr algn="r">
              <a:spcBef>
                <a:spcPts val="0"/>
              </a:spcBef>
              <a:spcAft>
                <a:spcPts val="0"/>
              </a:spcAft>
            </a:pPr>
            <a:r>
              <a:rPr sz="1100" b="0" i="0">
                <a:solidFill>
                  <a:srgbClr val="A8102F"/>
                </a:solidFill>
                <a:latin typeface="Consolas"/>
              </a:rPr>
              <a:t>fail to reject H0</a:t>
            </a:r>
          </a:p>
        </p:txBody>
      </p:sp>
      <p:cxnSp>
        <p:nvCxnSpPr>
          <p:cNvPr id="15" name="Connector 14"/>
          <p:cNvCxnSpPr/>
          <p:nvPr/>
        </p:nvCxnSpPr>
        <p:spPr>
          <a:xfrm>
            <a:off x="658368" y="4050791"/>
            <a:ext cx="4846320"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8368" y="4224528"/>
            <a:ext cx="4846320" cy="0"/>
          </a:xfrm>
          <a:prstGeom prst="line">
            <a:avLst/>
          </a:prstGeom>
          <a:ln w="13970">
            <a:solidFill>
              <a:srgbClr val="16130F"/>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58368" y="4389120"/>
            <a:ext cx="4846320" cy="914400"/>
          </a:xfrm>
          <a:prstGeom prst="rect">
            <a:avLst/>
          </a:prstGeom>
          <a:noFill/>
        </p:spPr>
        <p:txBody>
          <a:bodyPr wrap="square" anchor="t" lIns="0" rIns="0" tIns="0" bIns="0">
            <a:noAutofit/>
          </a:bodyPr>
          <a:lstStyle/>
          <a:p>
            <a:pPr algn="l">
              <a:spcBef>
                <a:spcPts val="0"/>
              </a:spcBef>
              <a:spcAft>
                <a:spcPts val="0"/>
              </a:spcAft>
            </a:pPr>
            <a:r>
              <a:rPr sz="850" b="0" i="0" spc="140">
                <a:solidFill>
                  <a:srgbClr val="A8102F"/>
                </a:solidFill>
                <a:latin typeface="Consolas"/>
              </a:rPr>
              <a:t>RQ1 · RQ2</a:t>
            </a:r>
          </a:p>
          <a:p>
            <a:pPr algn="l">
              <a:lnSpc>
                <a:spcPct val="136000"/>
              </a:lnSpc>
              <a:spcBef>
                <a:spcPts val="400"/>
              </a:spcBef>
              <a:spcAft>
                <a:spcPts val="0"/>
              </a:spcAft>
            </a:pPr>
            <a:r>
              <a:rPr sz="1150" b="0" i="0">
                <a:solidFill>
                  <a:srgbClr val="16130F"/>
                </a:solidFill>
                <a:latin typeface="Georgia"/>
              </a:rPr>
              <a:t>The interval contains 50%. The toss buys a 2.6-point edge that could easily be noise — it is not a decision-maker.</a:t>
            </a:r>
          </a:p>
        </p:txBody>
      </p:sp>
      <p:sp>
        <p:nvSpPr>
          <p:cNvPr id="18" name="Rectangle 17"/>
          <p:cNvSpPr/>
          <p:nvPr/>
        </p:nvSpPr>
        <p:spPr>
          <a:xfrm>
            <a:off x="6053328" y="1298448"/>
            <a:ext cx="5477256" cy="4078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053328" y="1298448"/>
            <a:ext cx="5477256" cy="4078224"/>
          </a:xfrm>
          <a:prstGeom prst="rect">
            <a:avLst/>
          </a:prstGeom>
          <a:noFill/>
          <a:ln w="9525">
            <a:solidFill>
              <a:srgbClr val="D9D1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01_toss_win_rate_ci.png"/>
          <p:cNvPicPr>
            <a:picLocks noChangeAspect="1"/>
          </p:cNvPicPr>
          <p:nvPr/>
        </p:nvPicPr>
        <p:blipFill>
          <a:blip r:embed="rId2"/>
          <a:stretch>
            <a:fillRect/>
          </a:stretch>
        </p:blipFill>
        <p:spPr>
          <a:xfrm>
            <a:off x="6144768" y="1389888"/>
            <a:ext cx="5294376" cy="3529584"/>
          </a:xfrm>
          <a:prstGeom prst="rect">
            <a:avLst/>
          </a:prstGeom>
        </p:spPr>
      </p:pic>
      <p:cxnSp>
        <p:nvCxnSpPr>
          <p:cNvPr id="21" name="Connector 20"/>
          <p:cNvCxnSpPr/>
          <p:nvPr/>
        </p:nvCxnSpPr>
        <p:spPr>
          <a:xfrm>
            <a:off x="6144768" y="4992623"/>
            <a:ext cx="5294376"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144768" y="5065775"/>
            <a:ext cx="5294376" cy="310896"/>
          </a:xfrm>
          <a:prstGeom prst="rect">
            <a:avLst/>
          </a:prstGeom>
          <a:noFill/>
        </p:spPr>
        <p:txBody>
          <a:bodyPr wrap="square" anchor="t" lIns="0" rIns="0" tIns="0" bIns="0">
            <a:noAutofit/>
          </a:bodyPr>
          <a:lstStyle/>
          <a:p>
            <a:pPr algn="l">
              <a:lnSpc>
                <a:spcPct val="112000"/>
              </a:lnSpc>
              <a:spcBef>
                <a:spcPts val="0"/>
              </a:spcBef>
              <a:spcAft>
                <a:spcPts val="0"/>
              </a:spcAft>
            </a:pPr>
            <a:r>
              <a:rPr sz="750" b="0" i="0" spc="120">
                <a:solidFill>
                  <a:srgbClr val="A8102F"/>
                </a:solidFill>
                <a:latin typeface="Consolas"/>
              </a:rPr>
              <a:t>FIG. 01  </a:t>
            </a:r>
            <a:r>
              <a:rPr sz="880" b="0" i="0">
                <a:solidFill>
                  <a:srgbClr val="5B5347"/>
                </a:solidFill>
                <a:latin typeface="Georgia"/>
              </a:rPr>
              <a:t>Win rate after winning or losing the toss, with exact 95% binomial confidence intervals.</a:t>
            </a:r>
          </a:p>
        </p:txBody>
      </p:sp>
    </p:spTree>
  </p:cSld>
  <p:clrMapOvr>
    <a:masterClrMapping/>
  </p:clrMapOvr>
  <p:transition spd="med">
    <p:push dir="u"/>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2E9"/>
        </a:solidFill>
        <a:effectLst/>
      </p:bgPr>
    </p:bg>
    <p:spTree>
      <p:nvGrpSpPr>
        <p:cNvPr id="1" name=""/>
        <p:cNvGrpSpPr/>
        <p:nvPr/>
      </p:nvGrpSpPr>
      <p:grpSpPr/>
      <p:sp>
        <p:nvSpPr>
          <p:cNvPr id="2" name="TextBox 1"/>
          <p:cNvSpPr txBox="1"/>
          <p:nvPr/>
        </p:nvSpPr>
        <p:spPr>
          <a:xfrm>
            <a:off x="658368" y="420624"/>
            <a:ext cx="5669280"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8C8375"/>
                </a:solidFill>
                <a:latin typeface="Consolas"/>
              </a:rPr>
              <a:t>05 · DATA ANALYSIS · RQ2</a:t>
            </a:r>
          </a:p>
        </p:txBody>
      </p:sp>
      <p:sp>
        <p:nvSpPr>
          <p:cNvPr id="3" name="TextBox 2"/>
          <p:cNvSpPr txBox="1"/>
          <p:nvPr/>
        </p:nvSpPr>
        <p:spPr>
          <a:xfrm>
            <a:off x="6961327" y="420624"/>
            <a:ext cx="4572000" cy="274320"/>
          </a:xfrm>
          <a:prstGeom prst="rect">
            <a:avLst/>
          </a:prstGeom>
          <a:noFill/>
        </p:spPr>
        <p:txBody>
          <a:bodyPr wrap="square" anchor="t" lIns="0" rIns="0" tIns="0" bIns="0">
            <a:noAutofit/>
          </a:bodyPr>
          <a:lstStyle/>
          <a:p>
            <a:pPr algn="r">
              <a:spcBef>
                <a:spcPts val="0"/>
              </a:spcBef>
              <a:spcAft>
                <a:spcPts val="0"/>
              </a:spcAft>
            </a:pPr>
            <a:r>
              <a:rPr sz="850" b="0" i="0" spc="150">
                <a:solidFill>
                  <a:srgbClr val="8C8375"/>
                </a:solidFill>
                <a:latin typeface="Consolas"/>
              </a:rPr>
              <a:t>POST-TOSS DECISION</a:t>
            </a:r>
          </a:p>
        </p:txBody>
      </p:sp>
      <p:sp>
        <p:nvSpPr>
          <p:cNvPr id="4" name="TextBox 3"/>
          <p:cNvSpPr txBox="1"/>
          <p:nvPr/>
        </p:nvSpPr>
        <p:spPr>
          <a:xfrm>
            <a:off x="658368" y="841248"/>
            <a:ext cx="5852160" cy="868680"/>
          </a:xfrm>
          <a:prstGeom prst="rect">
            <a:avLst/>
          </a:prstGeom>
          <a:noFill/>
        </p:spPr>
        <p:txBody>
          <a:bodyPr wrap="square" anchor="t" lIns="0" rIns="0" tIns="0" bIns="0">
            <a:noAutofit/>
          </a:bodyPr>
          <a:lstStyle/>
          <a:p>
            <a:pPr algn="l">
              <a:lnSpc>
                <a:spcPct val="102000"/>
              </a:lnSpc>
              <a:spcBef>
                <a:spcPts val="0"/>
              </a:spcBef>
              <a:spcAft>
                <a:spcPts val="0"/>
              </a:spcAft>
            </a:pPr>
            <a:r>
              <a:rPr sz="2500" b="0" i="0" spc="-30">
                <a:solidFill>
                  <a:srgbClr val="16130F"/>
                </a:solidFill>
                <a:latin typeface="Palatino Linotype"/>
              </a:rPr>
              <a:t>Field first, and the toss starts to pay.</a:t>
            </a:r>
          </a:p>
        </p:txBody>
      </p:sp>
      <p:sp>
        <p:nvSpPr>
          <p:cNvPr id="5" name="TextBox 4"/>
          <p:cNvSpPr txBox="1"/>
          <p:nvPr/>
        </p:nvSpPr>
        <p:spPr>
          <a:xfrm>
            <a:off x="658368" y="1627632"/>
            <a:ext cx="5029200" cy="1463040"/>
          </a:xfrm>
          <a:prstGeom prst="rect">
            <a:avLst/>
          </a:prstGeom>
          <a:noFill/>
        </p:spPr>
        <p:txBody>
          <a:bodyPr wrap="square" anchor="t" lIns="0" rIns="0" tIns="0" bIns="0">
            <a:noAutofit/>
          </a:bodyPr>
          <a:lstStyle/>
          <a:p>
            <a:pPr algn="l">
              <a:lnSpc>
                <a:spcPct val="142000"/>
              </a:lnSpc>
              <a:spcBef>
                <a:spcPts val="0"/>
              </a:spcBef>
              <a:spcAft>
                <a:spcPts val="0"/>
              </a:spcAft>
            </a:pPr>
            <a:r>
              <a:rPr sz="1150" b="0" i="0">
                <a:solidFill>
                  <a:srgbClr val="5B5347"/>
                </a:solidFill>
                <a:latin typeface="Georgia"/>
              </a:rPr>
              <a:t>Captains chase: 816 of 1,227 matches were field-first. Among toss winners the choice divides them — 54.2% of those who elected to field went on to win, against 45.7% of those who batted first.</a:t>
            </a:r>
          </a:p>
        </p:txBody>
      </p:sp>
      <p:cxnSp>
        <p:nvCxnSpPr>
          <p:cNvPr id="6" name="Connector 5"/>
          <p:cNvCxnSpPr/>
          <p:nvPr/>
        </p:nvCxnSpPr>
        <p:spPr>
          <a:xfrm>
            <a:off x="658368" y="2889504"/>
            <a:ext cx="5029200" cy="0"/>
          </a:xfrm>
          <a:prstGeom prst="line">
            <a:avLst/>
          </a:prstGeom>
          <a:ln w="13970">
            <a:solidFill>
              <a:srgbClr val="16130F"/>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2971800"/>
            <a:ext cx="3118104" cy="274320"/>
          </a:xfrm>
          <a:prstGeom prst="rect">
            <a:avLst/>
          </a:prstGeom>
          <a:noFill/>
        </p:spPr>
        <p:txBody>
          <a:bodyPr wrap="square" anchor="t" lIns="0" rIns="0" tIns="0" bIns="0">
            <a:noAutofit/>
          </a:bodyPr>
          <a:lstStyle/>
          <a:p>
            <a:pPr algn="l">
              <a:spcBef>
                <a:spcPts val="0"/>
              </a:spcBef>
              <a:spcAft>
                <a:spcPts val="0"/>
              </a:spcAft>
            </a:pPr>
            <a:r>
              <a:rPr sz="1050" b="0" i="0">
                <a:solidFill>
                  <a:srgbClr val="5B5347"/>
                </a:solidFill>
                <a:latin typeface="Georgia"/>
              </a:rPr>
              <a:t>Chose to field first</a:t>
            </a:r>
          </a:p>
        </p:txBody>
      </p:sp>
      <p:sp>
        <p:nvSpPr>
          <p:cNvPr id="8" name="TextBox 7"/>
          <p:cNvSpPr txBox="1"/>
          <p:nvPr/>
        </p:nvSpPr>
        <p:spPr>
          <a:xfrm>
            <a:off x="3424428" y="2971800"/>
            <a:ext cx="2263140" cy="274320"/>
          </a:xfrm>
          <a:prstGeom prst="rect">
            <a:avLst/>
          </a:prstGeom>
          <a:noFill/>
        </p:spPr>
        <p:txBody>
          <a:bodyPr wrap="square" anchor="t" lIns="0" rIns="0" tIns="0" bIns="0">
            <a:noAutofit/>
          </a:bodyPr>
          <a:lstStyle/>
          <a:p>
            <a:pPr algn="r">
              <a:spcBef>
                <a:spcPts val="0"/>
              </a:spcBef>
              <a:spcAft>
                <a:spcPts val="0"/>
              </a:spcAft>
            </a:pPr>
            <a:r>
              <a:rPr sz="1100" b="0" i="0">
                <a:solidFill>
                  <a:srgbClr val="16130F"/>
                </a:solidFill>
                <a:latin typeface="Consolas"/>
              </a:rPr>
              <a:t>816 matches</a:t>
            </a:r>
          </a:p>
        </p:txBody>
      </p:sp>
      <p:cxnSp>
        <p:nvCxnSpPr>
          <p:cNvPr id="9" name="Connector 8"/>
          <p:cNvCxnSpPr/>
          <p:nvPr/>
        </p:nvCxnSpPr>
        <p:spPr>
          <a:xfrm>
            <a:off x="658368" y="3246120"/>
            <a:ext cx="5029200"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8368" y="3337560"/>
            <a:ext cx="3118104" cy="274320"/>
          </a:xfrm>
          <a:prstGeom prst="rect">
            <a:avLst/>
          </a:prstGeom>
          <a:noFill/>
        </p:spPr>
        <p:txBody>
          <a:bodyPr wrap="square" anchor="t" lIns="0" rIns="0" tIns="0" bIns="0">
            <a:noAutofit/>
          </a:bodyPr>
          <a:lstStyle/>
          <a:p>
            <a:pPr algn="l">
              <a:spcBef>
                <a:spcPts val="0"/>
              </a:spcBef>
              <a:spcAft>
                <a:spcPts val="0"/>
              </a:spcAft>
            </a:pPr>
            <a:r>
              <a:rPr sz="1050" b="0" i="0">
                <a:solidFill>
                  <a:srgbClr val="5B5347"/>
                </a:solidFill>
                <a:latin typeface="Georgia"/>
              </a:rPr>
              <a:t>Chose to bat first</a:t>
            </a:r>
          </a:p>
        </p:txBody>
      </p:sp>
      <p:sp>
        <p:nvSpPr>
          <p:cNvPr id="11" name="TextBox 10"/>
          <p:cNvSpPr txBox="1"/>
          <p:nvPr/>
        </p:nvSpPr>
        <p:spPr>
          <a:xfrm>
            <a:off x="3424428" y="3337560"/>
            <a:ext cx="2263140" cy="274320"/>
          </a:xfrm>
          <a:prstGeom prst="rect">
            <a:avLst/>
          </a:prstGeom>
          <a:noFill/>
        </p:spPr>
        <p:txBody>
          <a:bodyPr wrap="square" anchor="t" lIns="0" rIns="0" tIns="0" bIns="0">
            <a:noAutofit/>
          </a:bodyPr>
          <a:lstStyle/>
          <a:p>
            <a:pPr algn="r">
              <a:spcBef>
                <a:spcPts val="0"/>
              </a:spcBef>
              <a:spcAft>
                <a:spcPts val="0"/>
              </a:spcAft>
            </a:pPr>
            <a:r>
              <a:rPr sz="1100" b="0" i="0">
                <a:solidFill>
                  <a:srgbClr val="16130F"/>
                </a:solidFill>
                <a:latin typeface="Consolas"/>
              </a:rPr>
              <a:t>411 matches</a:t>
            </a:r>
          </a:p>
        </p:txBody>
      </p:sp>
      <p:cxnSp>
        <p:nvCxnSpPr>
          <p:cNvPr id="12" name="Connector 11"/>
          <p:cNvCxnSpPr/>
          <p:nvPr/>
        </p:nvCxnSpPr>
        <p:spPr>
          <a:xfrm>
            <a:off x="658368" y="3611879"/>
            <a:ext cx="5029200"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58368" y="3703320"/>
            <a:ext cx="3118104" cy="274320"/>
          </a:xfrm>
          <a:prstGeom prst="rect">
            <a:avLst/>
          </a:prstGeom>
          <a:noFill/>
        </p:spPr>
        <p:txBody>
          <a:bodyPr wrap="square" anchor="t" lIns="0" rIns="0" tIns="0" bIns="0">
            <a:noAutofit/>
          </a:bodyPr>
          <a:lstStyle/>
          <a:p>
            <a:pPr algn="l">
              <a:spcBef>
                <a:spcPts val="0"/>
              </a:spcBef>
              <a:spcAft>
                <a:spcPts val="0"/>
              </a:spcAft>
            </a:pPr>
            <a:r>
              <a:rPr sz="1050" b="0" i="0">
                <a:solidFill>
                  <a:srgbClr val="5B5347"/>
                </a:solidFill>
                <a:latin typeface="Georgia"/>
              </a:rPr>
              <a:t>Win rate after fielding first</a:t>
            </a:r>
          </a:p>
        </p:txBody>
      </p:sp>
      <p:sp>
        <p:nvSpPr>
          <p:cNvPr id="14" name="TextBox 13"/>
          <p:cNvSpPr txBox="1"/>
          <p:nvPr/>
        </p:nvSpPr>
        <p:spPr>
          <a:xfrm>
            <a:off x="3424428" y="3703320"/>
            <a:ext cx="2263140" cy="274320"/>
          </a:xfrm>
          <a:prstGeom prst="rect">
            <a:avLst/>
          </a:prstGeom>
          <a:noFill/>
        </p:spPr>
        <p:txBody>
          <a:bodyPr wrap="square" anchor="t" lIns="0" rIns="0" tIns="0" bIns="0">
            <a:noAutofit/>
          </a:bodyPr>
          <a:lstStyle/>
          <a:p>
            <a:pPr algn="r">
              <a:spcBef>
                <a:spcPts val="0"/>
              </a:spcBef>
              <a:spcAft>
                <a:spcPts val="0"/>
              </a:spcAft>
            </a:pPr>
            <a:r>
              <a:rPr sz="1100" b="0" i="0">
                <a:solidFill>
                  <a:srgbClr val="0E8F94"/>
                </a:solidFill>
                <a:latin typeface="Consolas"/>
              </a:rPr>
              <a:t>54.2%</a:t>
            </a:r>
          </a:p>
        </p:txBody>
      </p:sp>
      <p:cxnSp>
        <p:nvCxnSpPr>
          <p:cNvPr id="15" name="Connector 14"/>
          <p:cNvCxnSpPr/>
          <p:nvPr/>
        </p:nvCxnSpPr>
        <p:spPr>
          <a:xfrm>
            <a:off x="658368" y="3977639"/>
            <a:ext cx="5029200"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58368" y="4069079"/>
            <a:ext cx="3118104" cy="274320"/>
          </a:xfrm>
          <a:prstGeom prst="rect">
            <a:avLst/>
          </a:prstGeom>
          <a:noFill/>
        </p:spPr>
        <p:txBody>
          <a:bodyPr wrap="square" anchor="t" lIns="0" rIns="0" tIns="0" bIns="0">
            <a:noAutofit/>
          </a:bodyPr>
          <a:lstStyle/>
          <a:p>
            <a:pPr algn="l">
              <a:spcBef>
                <a:spcPts val="0"/>
              </a:spcBef>
              <a:spcAft>
                <a:spcPts val="0"/>
              </a:spcAft>
            </a:pPr>
            <a:r>
              <a:rPr sz="1050" b="0" i="0">
                <a:solidFill>
                  <a:srgbClr val="5B5347"/>
                </a:solidFill>
                <a:latin typeface="Georgia"/>
              </a:rPr>
              <a:t>Win rate after batting first</a:t>
            </a:r>
          </a:p>
        </p:txBody>
      </p:sp>
      <p:sp>
        <p:nvSpPr>
          <p:cNvPr id="17" name="TextBox 16"/>
          <p:cNvSpPr txBox="1"/>
          <p:nvPr/>
        </p:nvSpPr>
        <p:spPr>
          <a:xfrm>
            <a:off x="3424428" y="4069079"/>
            <a:ext cx="2263140" cy="274320"/>
          </a:xfrm>
          <a:prstGeom prst="rect">
            <a:avLst/>
          </a:prstGeom>
          <a:noFill/>
        </p:spPr>
        <p:txBody>
          <a:bodyPr wrap="square" anchor="t" lIns="0" rIns="0" tIns="0" bIns="0">
            <a:noAutofit/>
          </a:bodyPr>
          <a:lstStyle/>
          <a:p>
            <a:pPr algn="r">
              <a:spcBef>
                <a:spcPts val="0"/>
              </a:spcBef>
              <a:spcAft>
                <a:spcPts val="0"/>
              </a:spcAft>
            </a:pPr>
            <a:r>
              <a:rPr sz="1100" b="0" i="0">
                <a:solidFill>
                  <a:srgbClr val="A8102F"/>
                </a:solidFill>
                <a:latin typeface="Consolas"/>
              </a:rPr>
              <a:t>45.7%</a:t>
            </a:r>
          </a:p>
        </p:txBody>
      </p:sp>
      <p:cxnSp>
        <p:nvCxnSpPr>
          <p:cNvPr id="18" name="Connector 17"/>
          <p:cNvCxnSpPr/>
          <p:nvPr/>
        </p:nvCxnSpPr>
        <p:spPr>
          <a:xfrm>
            <a:off x="658368" y="4343399"/>
            <a:ext cx="5029200"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58368" y="4572000"/>
            <a:ext cx="5029200" cy="0"/>
          </a:xfrm>
          <a:prstGeom prst="line">
            <a:avLst/>
          </a:prstGeom>
          <a:ln w="13970">
            <a:solidFill>
              <a:srgbClr val="16130F"/>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58368" y="4736592"/>
            <a:ext cx="5029200" cy="1005840"/>
          </a:xfrm>
          <a:prstGeom prst="rect">
            <a:avLst/>
          </a:prstGeom>
          <a:noFill/>
        </p:spPr>
        <p:txBody>
          <a:bodyPr wrap="square" anchor="t" lIns="0" rIns="0" tIns="0" bIns="0">
            <a:noAutofit/>
          </a:bodyPr>
          <a:lstStyle/>
          <a:p>
            <a:pPr algn="l">
              <a:spcBef>
                <a:spcPts val="0"/>
              </a:spcBef>
              <a:spcAft>
                <a:spcPts val="0"/>
              </a:spcAft>
            </a:pPr>
            <a:r>
              <a:rPr sz="850" b="0" i="0" spc="140">
                <a:solidFill>
                  <a:srgbClr val="A8102F"/>
                </a:solidFill>
                <a:latin typeface="Consolas"/>
              </a:rPr>
              <a:t>RQ2B · SECONDARY FINDING</a:t>
            </a:r>
          </a:p>
          <a:p>
            <a:pPr algn="l">
              <a:lnSpc>
                <a:spcPct val="136000"/>
              </a:lnSpc>
              <a:spcBef>
                <a:spcPts val="400"/>
              </a:spcBef>
              <a:spcAft>
                <a:spcPts val="0"/>
              </a:spcAft>
            </a:pPr>
            <a:r>
              <a:rPr sz="1150" b="0" i="0">
                <a:solidFill>
                  <a:srgbClr val="16130F"/>
                </a:solidFill>
                <a:latin typeface="Georgia"/>
              </a:rPr>
              <a:t>An 8.5-point gap (95% CI 2.6–14.4, χ² = 7.8, p = 0.005, recomputed from the cleaned CSV). It does not survive adjustment — in the regression on slide 20 the same choice sits at OR ≈ 1, so read this as a raw comparison, not an established edge.</a:t>
            </a:r>
          </a:p>
        </p:txBody>
      </p:sp>
      <p:sp>
        <p:nvSpPr>
          <p:cNvPr id="21" name="Rectangle 20"/>
          <p:cNvSpPr/>
          <p:nvPr/>
        </p:nvSpPr>
        <p:spPr>
          <a:xfrm>
            <a:off x="6053328" y="1298448"/>
            <a:ext cx="5477256" cy="4078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53328" y="1298448"/>
            <a:ext cx="5477256" cy="4078224"/>
          </a:xfrm>
          <a:prstGeom prst="rect">
            <a:avLst/>
          </a:prstGeom>
          <a:noFill/>
          <a:ln w="9525">
            <a:solidFill>
              <a:srgbClr val="D9D1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02_toss_decision_result.png"/>
          <p:cNvPicPr>
            <a:picLocks noChangeAspect="1"/>
          </p:cNvPicPr>
          <p:nvPr/>
        </p:nvPicPr>
        <p:blipFill>
          <a:blip r:embed="rId2"/>
          <a:stretch>
            <a:fillRect/>
          </a:stretch>
        </p:blipFill>
        <p:spPr>
          <a:xfrm>
            <a:off x="6144768" y="1389888"/>
            <a:ext cx="5294376" cy="3529584"/>
          </a:xfrm>
          <a:prstGeom prst="rect">
            <a:avLst/>
          </a:prstGeom>
        </p:spPr>
      </p:pic>
      <p:cxnSp>
        <p:nvCxnSpPr>
          <p:cNvPr id="24" name="Connector 23"/>
          <p:cNvCxnSpPr/>
          <p:nvPr/>
        </p:nvCxnSpPr>
        <p:spPr>
          <a:xfrm>
            <a:off x="6144768" y="4992623"/>
            <a:ext cx="5294376"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144768" y="5065775"/>
            <a:ext cx="5294376" cy="310896"/>
          </a:xfrm>
          <a:prstGeom prst="rect">
            <a:avLst/>
          </a:prstGeom>
          <a:noFill/>
        </p:spPr>
        <p:txBody>
          <a:bodyPr wrap="square" anchor="t" lIns="0" rIns="0" tIns="0" bIns="0">
            <a:noAutofit/>
          </a:bodyPr>
          <a:lstStyle/>
          <a:p>
            <a:pPr algn="l">
              <a:lnSpc>
                <a:spcPct val="112000"/>
              </a:lnSpc>
              <a:spcBef>
                <a:spcPts val="0"/>
              </a:spcBef>
              <a:spcAft>
                <a:spcPts val="0"/>
              </a:spcAft>
            </a:pPr>
            <a:r>
              <a:rPr sz="750" b="0" i="0" spc="120">
                <a:solidFill>
                  <a:srgbClr val="A8102F"/>
                </a:solidFill>
                <a:latin typeface="Consolas"/>
              </a:rPr>
              <a:t>FIG. 02  </a:t>
            </a:r>
            <a:r>
              <a:rPr sz="880" b="0" i="0">
                <a:solidFill>
                  <a:srgbClr val="5B5347"/>
                </a:solidFill>
                <a:latin typeface="Georgia"/>
              </a:rPr>
              <a:t>Outcome split within each decision among toss winners — the field-first group converts better.</a:t>
            </a:r>
          </a:p>
        </p:txBody>
      </p:sp>
    </p:spTree>
  </p:cSld>
  <p:clrMapOvr>
    <a:masterClrMapping/>
  </p:clrMapOvr>
  <p:transition spd="med">
    <p:push dir="u"/>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2E9"/>
        </a:solidFill>
        <a:effectLst/>
      </p:bgPr>
    </p:bg>
    <p:spTree>
      <p:nvGrpSpPr>
        <p:cNvPr id="1" name=""/>
        <p:cNvGrpSpPr/>
        <p:nvPr/>
      </p:nvGrpSpPr>
      <p:grpSpPr/>
      <p:sp>
        <p:nvSpPr>
          <p:cNvPr id="2" name="TextBox 1"/>
          <p:cNvSpPr txBox="1"/>
          <p:nvPr/>
        </p:nvSpPr>
        <p:spPr>
          <a:xfrm>
            <a:off x="658368" y="420624"/>
            <a:ext cx="5669280"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8C8375"/>
                </a:solidFill>
                <a:latin typeface="Consolas"/>
              </a:rPr>
              <a:t>05 · DATA ANALYSIS · RQ3</a:t>
            </a:r>
          </a:p>
        </p:txBody>
      </p:sp>
      <p:sp>
        <p:nvSpPr>
          <p:cNvPr id="3" name="TextBox 2"/>
          <p:cNvSpPr txBox="1"/>
          <p:nvPr/>
        </p:nvSpPr>
        <p:spPr>
          <a:xfrm>
            <a:off x="6961327" y="420624"/>
            <a:ext cx="4572000" cy="274320"/>
          </a:xfrm>
          <a:prstGeom prst="rect">
            <a:avLst/>
          </a:prstGeom>
          <a:noFill/>
        </p:spPr>
        <p:txBody>
          <a:bodyPr wrap="square" anchor="t" lIns="0" rIns="0" tIns="0" bIns="0">
            <a:noAutofit/>
          </a:bodyPr>
          <a:lstStyle/>
          <a:p>
            <a:pPr algn="r">
              <a:spcBef>
                <a:spcPts val="0"/>
              </a:spcBef>
              <a:spcAft>
                <a:spcPts val="0"/>
              </a:spcAft>
            </a:pPr>
            <a:r>
              <a:rPr sz="850" b="0" i="0" spc="150">
                <a:solidFill>
                  <a:srgbClr val="8C8375"/>
                </a:solidFill>
                <a:latin typeface="Consolas"/>
              </a:rPr>
              <a:t>T-TEST · P &lt; 0.001</a:t>
            </a:r>
          </a:p>
        </p:txBody>
      </p:sp>
      <p:sp>
        <p:nvSpPr>
          <p:cNvPr id="4" name="TextBox 3"/>
          <p:cNvSpPr txBox="1"/>
          <p:nvPr/>
        </p:nvSpPr>
        <p:spPr>
          <a:xfrm>
            <a:off x="658368" y="841248"/>
            <a:ext cx="5852160" cy="868680"/>
          </a:xfrm>
          <a:prstGeom prst="rect">
            <a:avLst/>
          </a:prstGeom>
          <a:noFill/>
        </p:spPr>
        <p:txBody>
          <a:bodyPr wrap="square" anchor="t" lIns="0" rIns="0" tIns="0" bIns="0">
            <a:noAutofit/>
          </a:bodyPr>
          <a:lstStyle/>
          <a:p>
            <a:pPr algn="l">
              <a:lnSpc>
                <a:spcPct val="102000"/>
              </a:lnSpc>
              <a:spcBef>
                <a:spcPts val="0"/>
              </a:spcBef>
              <a:spcAft>
                <a:spcPts val="0"/>
              </a:spcAft>
            </a:pPr>
            <a:r>
              <a:rPr sz="2500" b="0" i="0" spc="-30">
                <a:solidFill>
                  <a:srgbClr val="16130F"/>
                </a:solidFill>
                <a:latin typeface="Palatino Linotype"/>
              </a:rPr>
              <a:t>Winners start 5.8 runs faster.</a:t>
            </a:r>
          </a:p>
        </p:txBody>
      </p:sp>
      <p:sp>
        <p:nvSpPr>
          <p:cNvPr id="5" name="Rectangle 4"/>
          <p:cNvSpPr/>
          <p:nvPr/>
        </p:nvSpPr>
        <p:spPr>
          <a:xfrm>
            <a:off x="658368" y="1572768"/>
            <a:ext cx="1429512" cy="22860"/>
          </a:xfrm>
          <a:prstGeom prst="rect">
            <a:avLst/>
          </a:prstGeom>
          <a:solidFill>
            <a:srgbClr val="0E8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00784"/>
            <a:ext cx="1429512" cy="502920"/>
          </a:xfrm>
          <a:prstGeom prst="rect">
            <a:avLst/>
          </a:prstGeom>
          <a:noFill/>
        </p:spPr>
        <p:txBody>
          <a:bodyPr wrap="square" anchor="t" lIns="0" rIns="0" tIns="0" bIns="0">
            <a:noAutofit/>
          </a:bodyPr>
          <a:lstStyle/>
          <a:p>
            <a:pPr algn="l">
              <a:spcBef>
                <a:spcPts val="0"/>
              </a:spcBef>
              <a:spcAft>
                <a:spcPts val="0"/>
              </a:spcAft>
            </a:pPr>
            <a:r>
              <a:rPr sz="2500" b="0" i="0" spc="-60">
                <a:solidFill>
                  <a:srgbClr val="16130F"/>
                </a:solidFill>
                <a:latin typeface="Consolas"/>
              </a:rPr>
              <a:t>51.4</a:t>
            </a:r>
          </a:p>
        </p:txBody>
      </p:sp>
      <p:sp>
        <p:nvSpPr>
          <p:cNvPr id="7" name="TextBox 6"/>
          <p:cNvSpPr txBox="1"/>
          <p:nvPr/>
        </p:nvSpPr>
        <p:spPr>
          <a:xfrm>
            <a:off x="658368" y="2212848"/>
            <a:ext cx="1429512" cy="274320"/>
          </a:xfrm>
          <a:prstGeom prst="rect">
            <a:avLst/>
          </a:prstGeom>
          <a:noFill/>
        </p:spPr>
        <p:txBody>
          <a:bodyPr wrap="square" anchor="t" lIns="0" rIns="0" tIns="0" bIns="0">
            <a:noAutofit/>
          </a:bodyPr>
          <a:lstStyle/>
          <a:p>
            <a:pPr algn="l">
              <a:spcBef>
                <a:spcPts val="0"/>
              </a:spcBef>
              <a:spcAft>
                <a:spcPts val="0"/>
              </a:spcAft>
            </a:pPr>
            <a:r>
              <a:rPr sz="1000" b="0" i="0">
                <a:solidFill>
                  <a:srgbClr val="5B5347"/>
                </a:solidFill>
                <a:latin typeface="Georgia"/>
              </a:rPr>
              <a:t>winners</a:t>
            </a:r>
          </a:p>
        </p:txBody>
      </p:sp>
      <p:sp>
        <p:nvSpPr>
          <p:cNvPr id="8" name="TextBox 7"/>
          <p:cNvSpPr txBox="1"/>
          <p:nvPr/>
        </p:nvSpPr>
        <p:spPr>
          <a:xfrm>
            <a:off x="658368" y="2450592"/>
            <a:ext cx="1429512" cy="274320"/>
          </a:xfrm>
          <a:prstGeom prst="rect">
            <a:avLst/>
          </a:prstGeom>
          <a:noFill/>
        </p:spPr>
        <p:txBody>
          <a:bodyPr wrap="square" anchor="t" lIns="0" rIns="0" tIns="0" bIns="0">
            <a:noAutofit/>
          </a:bodyPr>
          <a:lstStyle/>
          <a:p>
            <a:pPr algn="l">
              <a:spcBef>
                <a:spcPts val="0"/>
              </a:spcBef>
              <a:spcAft>
                <a:spcPts val="0"/>
              </a:spcAft>
            </a:pPr>
            <a:r>
              <a:rPr sz="700" b="0" i="0" spc="100">
                <a:solidFill>
                  <a:srgbClr val="8C8375"/>
                </a:solidFill>
                <a:latin typeface="Consolas"/>
              </a:rPr>
              <a:t>MEDIAN 50</a:t>
            </a:r>
          </a:p>
        </p:txBody>
      </p:sp>
      <p:sp>
        <p:nvSpPr>
          <p:cNvPr id="9" name="Rectangle 8"/>
          <p:cNvSpPr/>
          <p:nvPr/>
        </p:nvSpPr>
        <p:spPr>
          <a:xfrm>
            <a:off x="2289047" y="1572768"/>
            <a:ext cx="1429512" cy="22860"/>
          </a:xfrm>
          <a:prstGeom prst="rect">
            <a:avLst/>
          </a:prstGeom>
          <a:solidFill>
            <a:srgbClr val="A81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9047" y="1700784"/>
            <a:ext cx="1429512" cy="502920"/>
          </a:xfrm>
          <a:prstGeom prst="rect">
            <a:avLst/>
          </a:prstGeom>
          <a:noFill/>
        </p:spPr>
        <p:txBody>
          <a:bodyPr wrap="square" anchor="t" lIns="0" rIns="0" tIns="0" bIns="0">
            <a:noAutofit/>
          </a:bodyPr>
          <a:lstStyle/>
          <a:p>
            <a:pPr algn="l">
              <a:spcBef>
                <a:spcPts val="0"/>
              </a:spcBef>
              <a:spcAft>
                <a:spcPts val="0"/>
              </a:spcAft>
            </a:pPr>
            <a:r>
              <a:rPr sz="2500" b="0" i="0" spc="-60">
                <a:solidFill>
                  <a:srgbClr val="16130F"/>
                </a:solidFill>
                <a:latin typeface="Consolas"/>
              </a:rPr>
              <a:t>45.6</a:t>
            </a:r>
          </a:p>
        </p:txBody>
      </p:sp>
      <p:sp>
        <p:nvSpPr>
          <p:cNvPr id="11" name="TextBox 10"/>
          <p:cNvSpPr txBox="1"/>
          <p:nvPr/>
        </p:nvSpPr>
        <p:spPr>
          <a:xfrm>
            <a:off x="2289047" y="2212848"/>
            <a:ext cx="1429512" cy="274320"/>
          </a:xfrm>
          <a:prstGeom prst="rect">
            <a:avLst/>
          </a:prstGeom>
          <a:noFill/>
        </p:spPr>
        <p:txBody>
          <a:bodyPr wrap="square" anchor="t" lIns="0" rIns="0" tIns="0" bIns="0">
            <a:noAutofit/>
          </a:bodyPr>
          <a:lstStyle/>
          <a:p>
            <a:pPr algn="l">
              <a:spcBef>
                <a:spcPts val="0"/>
              </a:spcBef>
              <a:spcAft>
                <a:spcPts val="0"/>
              </a:spcAft>
            </a:pPr>
            <a:r>
              <a:rPr sz="1000" b="0" i="0">
                <a:solidFill>
                  <a:srgbClr val="5B5347"/>
                </a:solidFill>
                <a:latin typeface="Georgia"/>
              </a:rPr>
              <a:t>losers</a:t>
            </a:r>
          </a:p>
        </p:txBody>
      </p:sp>
      <p:sp>
        <p:nvSpPr>
          <p:cNvPr id="12" name="TextBox 11"/>
          <p:cNvSpPr txBox="1"/>
          <p:nvPr/>
        </p:nvSpPr>
        <p:spPr>
          <a:xfrm>
            <a:off x="2289047" y="2450592"/>
            <a:ext cx="1429512" cy="274320"/>
          </a:xfrm>
          <a:prstGeom prst="rect">
            <a:avLst/>
          </a:prstGeom>
          <a:noFill/>
        </p:spPr>
        <p:txBody>
          <a:bodyPr wrap="square" anchor="t" lIns="0" rIns="0" tIns="0" bIns="0">
            <a:noAutofit/>
          </a:bodyPr>
          <a:lstStyle/>
          <a:p>
            <a:pPr algn="l">
              <a:spcBef>
                <a:spcPts val="0"/>
              </a:spcBef>
              <a:spcAft>
                <a:spcPts val="0"/>
              </a:spcAft>
            </a:pPr>
            <a:r>
              <a:rPr sz="700" b="0" i="0" spc="100">
                <a:solidFill>
                  <a:srgbClr val="8C8375"/>
                </a:solidFill>
                <a:latin typeface="Consolas"/>
              </a:rPr>
              <a:t>MEDIAN 45</a:t>
            </a:r>
          </a:p>
        </p:txBody>
      </p:sp>
      <p:sp>
        <p:nvSpPr>
          <p:cNvPr id="13" name="Rectangle 12"/>
          <p:cNvSpPr/>
          <p:nvPr/>
        </p:nvSpPr>
        <p:spPr>
          <a:xfrm>
            <a:off x="3919727" y="1572768"/>
            <a:ext cx="1429512" cy="22860"/>
          </a:xfrm>
          <a:prstGeom prst="rect">
            <a:avLst/>
          </a:prstGeom>
          <a:solidFill>
            <a:srgbClr val="161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919727" y="1700784"/>
            <a:ext cx="1429512" cy="502920"/>
          </a:xfrm>
          <a:prstGeom prst="rect">
            <a:avLst/>
          </a:prstGeom>
          <a:noFill/>
        </p:spPr>
        <p:txBody>
          <a:bodyPr wrap="square" anchor="t" lIns="0" rIns="0" tIns="0" bIns="0">
            <a:noAutofit/>
          </a:bodyPr>
          <a:lstStyle/>
          <a:p>
            <a:pPr algn="l">
              <a:spcBef>
                <a:spcPts val="0"/>
              </a:spcBef>
              <a:spcAft>
                <a:spcPts val="0"/>
              </a:spcAft>
            </a:pPr>
            <a:r>
              <a:rPr sz="2500" b="0" i="0" spc="-60">
                <a:solidFill>
                  <a:srgbClr val="16130F"/>
                </a:solidFill>
                <a:latin typeface="Consolas"/>
              </a:rPr>
              <a:t>59.7%</a:t>
            </a:r>
          </a:p>
        </p:txBody>
      </p:sp>
      <p:sp>
        <p:nvSpPr>
          <p:cNvPr id="15" name="TextBox 14"/>
          <p:cNvSpPr txBox="1"/>
          <p:nvPr/>
        </p:nvSpPr>
        <p:spPr>
          <a:xfrm>
            <a:off x="3919727" y="2212848"/>
            <a:ext cx="1429512" cy="274320"/>
          </a:xfrm>
          <a:prstGeom prst="rect">
            <a:avLst/>
          </a:prstGeom>
          <a:noFill/>
        </p:spPr>
        <p:txBody>
          <a:bodyPr wrap="square" anchor="t" lIns="0" rIns="0" tIns="0" bIns="0">
            <a:noAutofit/>
          </a:bodyPr>
          <a:lstStyle/>
          <a:p>
            <a:pPr algn="l">
              <a:spcBef>
                <a:spcPts val="0"/>
              </a:spcBef>
              <a:spcAft>
                <a:spcPts val="0"/>
              </a:spcAft>
            </a:pPr>
            <a:r>
              <a:rPr sz="1000" b="0" i="0">
                <a:solidFill>
                  <a:srgbClr val="5B5347"/>
                </a:solidFill>
                <a:latin typeface="Georgia"/>
              </a:rPr>
              <a:t>win rate at 50+ runs</a:t>
            </a:r>
          </a:p>
        </p:txBody>
      </p:sp>
      <p:sp>
        <p:nvSpPr>
          <p:cNvPr id="16" name="TextBox 15"/>
          <p:cNvSpPr txBox="1"/>
          <p:nvPr/>
        </p:nvSpPr>
        <p:spPr>
          <a:xfrm>
            <a:off x="3919727" y="2450592"/>
            <a:ext cx="1429512" cy="274320"/>
          </a:xfrm>
          <a:prstGeom prst="rect">
            <a:avLst/>
          </a:prstGeom>
          <a:noFill/>
        </p:spPr>
        <p:txBody>
          <a:bodyPr wrap="square" anchor="t" lIns="0" rIns="0" tIns="0" bIns="0">
            <a:noAutofit/>
          </a:bodyPr>
          <a:lstStyle/>
          <a:p>
            <a:pPr algn="l">
              <a:spcBef>
                <a:spcPts val="0"/>
              </a:spcBef>
              <a:spcAft>
                <a:spcPts val="0"/>
              </a:spcAft>
            </a:pPr>
            <a:r>
              <a:rPr sz="700" b="0" i="0" spc="100">
                <a:solidFill>
                  <a:srgbClr val="8C8375"/>
                </a:solidFill>
                <a:latin typeface="Consolas"/>
              </a:rPr>
              <a:t>VS 42.3% BELOW 50</a:t>
            </a:r>
          </a:p>
        </p:txBody>
      </p:sp>
      <p:sp>
        <p:nvSpPr>
          <p:cNvPr id="17" name="TextBox 16"/>
          <p:cNvSpPr txBox="1"/>
          <p:nvPr/>
        </p:nvSpPr>
        <p:spPr>
          <a:xfrm>
            <a:off x="658368" y="2889504"/>
            <a:ext cx="4892040" cy="1463040"/>
          </a:xfrm>
          <a:prstGeom prst="rect">
            <a:avLst/>
          </a:prstGeom>
          <a:noFill/>
        </p:spPr>
        <p:txBody>
          <a:bodyPr wrap="square" anchor="t" lIns="0" rIns="0" tIns="0" bIns="0">
            <a:noAutofit/>
          </a:bodyPr>
          <a:lstStyle/>
          <a:p>
            <a:pPr algn="l">
              <a:lnSpc>
                <a:spcPct val="142000"/>
              </a:lnSpc>
              <a:spcBef>
                <a:spcPts val="0"/>
              </a:spcBef>
              <a:spcAft>
                <a:spcPts val="0"/>
              </a:spcAft>
            </a:pPr>
            <a:r>
              <a:rPr sz="1150" b="0" i="0">
                <a:solidFill>
                  <a:srgbClr val="5B5347"/>
                </a:solidFill>
                <a:latin typeface="Georgia"/>
              </a:rPr>
              <a:t>The difference is small in absolute terms — under one run an over — but with 2,454 innings the two-sample t-test rejects H0 decisively (p &lt; 0.001).</a:t>
            </a:r>
          </a:p>
        </p:txBody>
      </p:sp>
      <p:cxnSp>
        <p:nvCxnSpPr>
          <p:cNvPr id="18" name="Connector 17"/>
          <p:cNvCxnSpPr/>
          <p:nvPr/>
        </p:nvCxnSpPr>
        <p:spPr>
          <a:xfrm>
            <a:off x="658368" y="3822191"/>
            <a:ext cx="4892039" cy="0"/>
          </a:xfrm>
          <a:prstGeom prst="line">
            <a:avLst/>
          </a:prstGeom>
          <a:ln w="13970">
            <a:solidFill>
              <a:srgbClr val="16130F"/>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58368" y="3986784"/>
            <a:ext cx="4892040" cy="914400"/>
          </a:xfrm>
          <a:prstGeom prst="rect">
            <a:avLst/>
          </a:prstGeom>
          <a:noFill/>
        </p:spPr>
        <p:txBody>
          <a:bodyPr wrap="square" anchor="t" lIns="0" rIns="0" tIns="0" bIns="0">
            <a:noAutofit/>
          </a:bodyPr>
          <a:lstStyle/>
          <a:p>
            <a:pPr algn="l">
              <a:spcBef>
                <a:spcPts val="0"/>
              </a:spcBef>
              <a:spcAft>
                <a:spcPts val="0"/>
              </a:spcAft>
            </a:pPr>
            <a:r>
              <a:rPr sz="850" b="0" i="0" spc="140">
                <a:solidFill>
                  <a:srgbClr val="A8102F"/>
                </a:solidFill>
                <a:latin typeface="Consolas"/>
              </a:rPr>
              <a:t>RQ3</a:t>
            </a:r>
          </a:p>
          <a:p>
            <a:pPr algn="l">
              <a:lnSpc>
                <a:spcPct val="136000"/>
              </a:lnSpc>
              <a:spcBef>
                <a:spcPts val="400"/>
              </a:spcBef>
              <a:spcAft>
                <a:spcPts val="0"/>
              </a:spcAft>
            </a:pPr>
            <a:r>
              <a:rPr sz="1150" b="0" i="0">
                <a:solidFill>
                  <a:srgbClr val="16130F"/>
                </a:solidFill>
                <a:latin typeface="Georgia"/>
              </a:rPr>
              <a:t>Scoring more in the powerplay is a real signal, but a weak one: it moves the odds by about seventeen points, not by the match.</a:t>
            </a:r>
          </a:p>
        </p:txBody>
      </p:sp>
      <p:sp>
        <p:nvSpPr>
          <p:cNvPr id="20" name="Rectangle 19"/>
          <p:cNvSpPr/>
          <p:nvPr/>
        </p:nvSpPr>
        <p:spPr>
          <a:xfrm>
            <a:off x="6053328" y="1133856"/>
            <a:ext cx="5477256" cy="4078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53328" y="1133856"/>
            <a:ext cx="5477256" cy="4078224"/>
          </a:xfrm>
          <a:prstGeom prst="rect">
            <a:avLst/>
          </a:prstGeom>
          <a:noFill/>
          <a:ln w="9525">
            <a:solidFill>
              <a:srgbClr val="D9D1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03_powerplay_runs_by_result.png"/>
          <p:cNvPicPr>
            <a:picLocks noChangeAspect="1"/>
          </p:cNvPicPr>
          <p:nvPr/>
        </p:nvPicPr>
        <p:blipFill>
          <a:blip r:embed="rId2"/>
          <a:stretch>
            <a:fillRect/>
          </a:stretch>
        </p:blipFill>
        <p:spPr>
          <a:xfrm>
            <a:off x="6144768" y="1225296"/>
            <a:ext cx="5294376" cy="3529584"/>
          </a:xfrm>
          <a:prstGeom prst="rect">
            <a:avLst/>
          </a:prstGeom>
        </p:spPr>
      </p:pic>
      <p:cxnSp>
        <p:nvCxnSpPr>
          <p:cNvPr id="23" name="Connector 22"/>
          <p:cNvCxnSpPr/>
          <p:nvPr/>
        </p:nvCxnSpPr>
        <p:spPr>
          <a:xfrm>
            <a:off x="6144768" y="4828031"/>
            <a:ext cx="5294376"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144768" y="4901183"/>
            <a:ext cx="5294376" cy="310896"/>
          </a:xfrm>
          <a:prstGeom prst="rect">
            <a:avLst/>
          </a:prstGeom>
          <a:noFill/>
        </p:spPr>
        <p:txBody>
          <a:bodyPr wrap="square" anchor="t" lIns="0" rIns="0" tIns="0" bIns="0">
            <a:noAutofit/>
          </a:bodyPr>
          <a:lstStyle/>
          <a:p>
            <a:pPr algn="l">
              <a:lnSpc>
                <a:spcPct val="112000"/>
              </a:lnSpc>
              <a:spcBef>
                <a:spcPts val="0"/>
              </a:spcBef>
              <a:spcAft>
                <a:spcPts val="0"/>
              </a:spcAft>
            </a:pPr>
            <a:r>
              <a:rPr sz="750" b="0" i="0" spc="120">
                <a:solidFill>
                  <a:srgbClr val="A8102F"/>
                </a:solidFill>
                <a:latin typeface="Consolas"/>
              </a:rPr>
              <a:t>FIG. 03  </a:t>
            </a:r>
            <a:r>
              <a:rPr sz="880" b="0" i="0">
                <a:solidFill>
                  <a:srgbClr val="5B5347"/>
                </a:solidFill>
                <a:latin typeface="Georgia"/>
              </a:rPr>
              <a:t>Powerplay runs for winners and losers — the distributions overlap heavily.</a:t>
            </a:r>
          </a:p>
        </p:txBody>
      </p:sp>
    </p:spTree>
  </p:cSld>
  <p:clrMapOvr>
    <a:masterClrMapping/>
  </p:clrMapOvr>
  <p:transition spd="med">
    <p:push dir="u"/>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2E9"/>
        </a:solidFill>
        <a:effectLst/>
      </p:bgPr>
    </p:bg>
    <p:spTree>
      <p:nvGrpSpPr>
        <p:cNvPr id="1" name=""/>
        <p:cNvGrpSpPr/>
        <p:nvPr/>
      </p:nvGrpSpPr>
      <p:grpSpPr/>
      <p:sp>
        <p:nvSpPr>
          <p:cNvPr id="2" name="TextBox 1"/>
          <p:cNvSpPr txBox="1"/>
          <p:nvPr/>
        </p:nvSpPr>
        <p:spPr>
          <a:xfrm>
            <a:off x="658368" y="420624"/>
            <a:ext cx="5669280"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8C8375"/>
                </a:solidFill>
                <a:latin typeface="Consolas"/>
              </a:rPr>
              <a:t>05 · DATA ANALYSIS · RQ5</a:t>
            </a:r>
          </a:p>
        </p:txBody>
      </p:sp>
      <p:sp>
        <p:nvSpPr>
          <p:cNvPr id="3" name="TextBox 2"/>
          <p:cNvSpPr txBox="1"/>
          <p:nvPr/>
        </p:nvSpPr>
        <p:spPr>
          <a:xfrm>
            <a:off x="6961327" y="420624"/>
            <a:ext cx="4572000" cy="274320"/>
          </a:xfrm>
          <a:prstGeom prst="rect">
            <a:avLst/>
          </a:prstGeom>
          <a:noFill/>
        </p:spPr>
        <p:txBody>
          <a:bodyPr wrap="square" anchor="t" lIns="0" rIns="0" tIns="0" bIns="0">
            <a:noAutofit/>
          </a:bodyPr>
          <a:lstStyle/>
          <a:p>
            <a:pPr algn="r">
              <a:spcBef>
                <a:spcPts val="0"/>
              </a:spcBef>
              <a:spcAft>
                <a:spcPts val="0"/>
              </a:spcAft>
            </a:pPr>
            <a:r>
              <a:rPr sz="850" b="0" i="0" spc="150">
                <a:solidFill>
                  <a:srgbClr val="8C8375"/>
                </a:solidFill>
                <a:latin typeface="Consolas"/>
              </a:rPr>
              <a:t>16 CELLS · CONDITIONAL PROBABILITY</a:t>
            </a:r>
          </a:p>
        </p:txBody>
      </p:sp>
      <p:sp>
        <p:nvSpPr>
          <p:cNvPr id="4" name="TextBox 3"/>
          <p:cNvSpPr txBox="1"/>
          <p:nvPr/>
        </p:nvSpPr>
        <p:spPr>
          <a:xfrm>
            <a:off x="658368" y="1170432"/>
            <a:ext cx="4937760" cy="1737360"/>
          </a:xfrm>
          <a:prstGeom prst="rect">
            <a:avLst/>
          </a:prstGeom>
          <a:noFill/>
        </p:spPr>
        <p:txBody>
          <a:bodyPr wrap="square" anchor="t" lIns="0" rIns="0" tIns="0" bIns="0">
            <a:noAutofit/>
          </a:bodyPr>
          <a:lstStyle/>
          <a:p>
            <a:pPr algn="l">
              <a:lnSpc>
                <a:spcPct val="108000"/>
              </a:lnSpc>
              <a:spcBef>
                <a:spcPts val="0"/>
              </a:spcBef>
              <a:spcAft>
                <a:spcPts val="0"/>
              </a:spcAft>
            </a:pPr>
            <a:r>
              <a:rPr sz="2800" b="0" i="0" spc="-50">
                <a:solidFill>
                  <a:srgbClr val="16130F"/>
                </a:solidFill>
                <a:latin typeface="Palatino Linotype"/>
              </a:rPr>
              <a:t>Runs raise the ceiling.</a:t>
            </a:r>
          </a:p>
          <a:p>
            <a:pPr algn="l">
              <a:lnSpc>
                <a:spcPct val="108000"/>
              </a:lnSpc>
              <a:spcBef>
                <a:spcPts val="0"/>
              </a:spcBef>
              <a:spcAft>
                <a:spcPts val="0"/>
              </a:spcAft>
            </a:pPr>
            <a:r>
              <a:rPr sz="2800" b="0" i="0" spc="-50">
                <a:solidFill>
                  <a:srgbClr val="A8102F"/>
                </a:solidFill>
                <a:latin typeface="Palatino Linotype"/>
              </a:rPr>
              <a:t>Wickets decide.</a:t>
            </a:r>
          </a:p>
        </p:txBody>
      </p:sp>
      <p:cxnSp>
        <p:nvCxnSpPr>
          <p:cNvPr id="5" name="Connector 4"/>
          <p:cNvCxnSpPr/>
          <p:nvPr/>
        </p:nvCxnSpPr>
        <p:spPr>
          <a:xfrm>
            <a:off x="658368" y="2432304"/>
            <a:ext cx="4937760" cy="0"/>
          </a:xfrm>
          <a:prstGeom prst="line">
            <a:avLst/>
          </a:prstGeom>
          <a:ln w="13970">
            <a:solidFill>
              <a:srgbClr val="16130F"/>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2514600"/>
            <a:ext cx="3061411" cy="274320"/>
          </a:xfrm>
          <a:prstGeom prst="rect">
            <a:avLst/>
          </a:prstGeom>
          <a:noFill/>
        </p:spPr>
        <p:txBody>
          <a:bodyPr wrap="square" anchor="t" lIns="0" rIns="0" tIns="0" bIns="0">
            <a:noAutofit/>
          </a:bodyPr>
          <a:lstStyle/>
          <a:p>
            <a:pPr algn="l">
              <a:spcBef>
                <a:spcPts val="0"/>
              </a:spcBef>
              <a:spcAft>
                <a:spcPts val="0"/>
              </a:spcAft>
            </a:pPr>
            <a:r>
              <a:rPr sz="1050" b="0" i="0">
                <a:solidFill>
                  <a:srgbClr val="5B5347"/>
                </a:solidFill>
                <a:latin typeface="Georgia"/>
              </a:rPr>
              <a:t>60+ runs, no wicket lost</a:t>
            </a:r>
          </a:p>
        </p:txBody>
      </p:sp>
      <p:sp>
        <p:nvSpPr>
          <p:cNvPr id="7" name="TextBox 6"/>
          <p:cNvSpPr txBox="1"/>
          <p:nvPr/>
        </p:nvSpPr>
        <p:spPr>
          <a:xfrm>
            <a:off x="3374136" y="2514600"/>
            <a:ext cx="2221992" cy="274320"/>
          </a:xfrm>
          <a:prstGeom prst="rect">
            <a:avLst/>
          </a:prstGeom>
          <a:noFill/>
        </p:spPr>
        <p:txBody>
          <a:bodyPr wrap="square" anchor="t" lIns="0" rIns="0" tIns="0" bIns="0">
            <a:noAutofit/>
          </a:bodyPr>
          <a:lstStyle/>
          <a:p>
            <a:pPr algn="r">
              <a:spcBef>
                <a:spcPts val="0"/>
              </a:spcBef>
              <a:spcAft>
                <a:spcPts val="0"/>
              </a:spcAft>
            </a:pPr>
            <a:r>
              <a:rPr sz="1100" b="0" i="0">
                <a:solidFill>
                  <a:srgbClr val="0E8F94"/>
                </a:solidFill>
                <a:latin typeface="Consolas"/>
              </a:rPr>
              <a:t>77.1%</a:t>
            </a:r>
          </a:p>
        </p:txBody>
      </p:sp>
      <p:cxnSp>
        <p:nvCxnSpPr>
          <p:cNvPr id="8" name="Connector 7"/>
          <p:cNvCxnSpPr/>
          <p:nvPr/>
        </p:nvCxnSpPr>
        <p:spPr>
          <a:xfrm>
            <a:off x="658368" y="2788920"/>
            <a:ext cx="4937760"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2880360"/>
            <a:ext cx="3061411" cy="274320"/>
          </a:xfrm>
          <a:prstGeom prst="rect">
            <a:avLst/>
          </a:prstGeom>
          <a:noFill/>
        </p:spPr>
        <p:txBody>
          <a:bodyPr wrap="square" anchor="t" lIns="0" rIns="0" tIns="0" bIns="0">
            <a:noAutofit/>
          </a:bodyPr>
          <a:lstStyle/>
          <a:p>
            <a:pPr algn="l">
              <a:spcBef>
                <a:spcPts val="0"/>
              </a:spcBef>
              <a:spcAft>
                <a:spcPts val="0"/>
              </a:spcAft>
            </a:pPr>
            <a:r>
              <a:rPr sz="1050" b="0" i="0">
                <a:solidFill>
                  <a:srgbClr val="5B5347"/>
                </a:solidFill>
                <a:latin typeface="Georgia"/>
              </a:rPr>
              <a:t>60+ runs, 3+ wickets lost</a:t>
            </a:r>
          </a:p>
        </p:txBody>
      </p:sp>
      <p:sp>
        <p:nvSpPr>
          <p:cNvPr id="10" name="TextBox 9"/>
          <p:cNvSpPr txBox="1"/>
          <p:nvPr/>
        </p:nvSpPr>
        <p:spPr>
          <a:xfrm>
            <a:off x="3374136" y="2880360"/>
            <a:ext cx="2221992" cy="274320"/>
          </a:xfrm>
          <a:prstGeom prst="rect">
            <a:avLst/>
          </a:prstGeom>
          <a:noFill/>
        </p:spPr>
        <p:txBody>
          <a:bodyPr wrap="square" anchor="t" lIns="0" rIns="0" tIns="0" bIns="0">
            <a:noAutofit/>
          </a:bodyPr>
          <a:lstStyle/>
          <a:p>
            <a:pPr algn="r">
              <a:spcBef>
                <a:spcPts val="0"/>
              </a:spcBef>
              <a:spcAft>
                <a:spcPts val="0"/>
              </a:spcAft>
            </a:pPr>
            <a:r>
              <a:rPr sz="1100" b="0" i="0">
                <a:solidFill>
                  <a:srgbClr val="16130F"/>
                </a:solidFill>
                <a:latin typeface="Consolas"/>
              </a:rPr>
              <a:t>35.5%</a:t>
            </a:r>
          </a:p>
        </p:txBody>
      </p:sp>
      <p:cxnSp>
        <p:nvCxnSpPr>
          <p:cNvPr id="11" name="Connector 10"/>
          <p:cNvCxnSpPr/>
          <p:nvPr/>
        </p:nvCxnSpPr>
        <p:spPr>
          <a:xfrm>
            <a:off x="658368" y="3154679"/>
            <a:ext cx="4937760"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58368" y="3246120"/>
            <a:ext cx="3061411" cy="274320"/>
          </a:xfrm>
          <a:prstGeom prst="rect">
            <a:avLst/>
          </a:prstGeom>
          <a:noFill/>
        </p:spPr>
        <p:txBody>
          <a:bodyPr wrap="square" anchor="t" lIns="0" rIns="0" tIns="0" bIns="0">
            <a:noAutofit/>
          </a:bodyPr>
          <a:lstStyle/>
          <a:p>
            <a:pPr algn="l">
              <a:spcBef>
                <a:spcPts val="0"/>
              </a:spcBef>
              <a:spcAft>
                <a:spcPts val="0"/>
              </a:spcAft>
            </a:pPr>
            <a:r>
              <a:rPr sz="1050" b="0" i="0">
                <a:solidFill>
                  <a:srgbClr val="5B5347"/>
                </a:solidFill>
                <a:latin typeface="Georgia"/>
              </a:rPr>
              <a:t>Under 40 runs, no wicket lost</a:t>
            </a:r>
          </a:p>
        </p:txBody>
      </p:sp>
      <p:sp>
        <p:nvSpPr>
          <p:cNvPr id="13" name="TextBox 12"/>
          <p:cNvSpPr txBox="1"/>
          <p:nvPr/>
        </p:nvSpPr>
        <p:spPr>
          <a:xfrm>
            <a:off x="3374136" y="3246120"/>
            <a:ext cx="2221992" cy="274320"/>
          </a:xfrm>
          <a:prstGeom prst="rect">
            <a:avLst/>
          </a:prstGeom>
          <a:noFill/>
        </p:spPr>
        <p:txBody>
          <a:bodyPr wrap="square" anchor="t" lIns="0" rIns="0" tIns="0" bIns="0">
            <a:noAutofit/>
          </a:bodyPr>
          <a:lstStyle/>
          <a:p>
            <a:pPr algn="r">
              <a:spcBef>
                <a:spcPts val="0"/>
              </a:spcBef>
              <a:spcAft>
                <a:spcPts val="0"/>
              </a:spcAft>
            </a:pPr>
            <a:r>
              <a:rPr sz="1100" b="0" i="0">
                <a:solidFill>
                  <a:srgbClr val="16130F"/>
                </a:solidFill>
                <a:latin typeface="Consolas"/>
              </a:rPr>
              <a:t>69.7%</a:t>
            </a:r>
          </a:p>
        </p:txBody>
      </p:sp>
      <p:cxnSp>
        <p:nvCxnSpPr>
          <p:cNvPr id="14" name="Connector 13"/>
          <p:cNvCxnSpPr/>
          <p:nvPr/>
        </p:nvCxnSpPr>
        <p:spPr>
          <a:xfrm>
            <a:off x="658368" y="3520439"/>
            <a:ext cx="4937760"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58368" y="3611879"/>
            <a:ext cx="3061411" cy="274320"/>
          </a:xfrm>
          <a:prstGeom prst="rect">
            <a:avLst/>
          </a:prstGeom>
          <a:noFill/>
        </p:spPr>
        <p:txBody>
          <a:bodyPr wrap="square" anchor="t" lIns="0" rIns="0" tIns="0" bIns="0">
            <a:noAutofit/>
          </a:bodyPr>
          <a:lstStyle/>
          <a:p>
            <a:pPr algn="l">
              <a:spcBef>
                <a:spcPts val="0"/>
              </a:spcBef>
              <a:spcAft>
                <a:spcPts val="0"/>
              </a:spcAft>
            </a:pPr>
            <a:r>
              <a:rPr sz="1050" b="0" i="0">
                <a:solidFill>
                  <a:srgbClr val="5B5347"/>
                </a:solidFill>
                <a:latin typeface="Georgia"/>
              </a:rPr>
              <a:t>Under 40 runs, 3+ wickets lost</a:t>
            </a:r>
          </a:p>
        </p:txBody>
      </p:sp>
      <p:sp>
        <p:nvSpPr>
          <p:cNvPr id="16" name="TextBox 15"/>
          <p:cNvSpPr txBox="1"/>
          <p:nvPr/>
        </p:nvSpPr>
        <p:spPr>
          <a:xfrm>
            <a:off x="3374136" y="3611879"/>
            <a:ext cx="2221992" cy="274320"/>
          </a:xfrm>
          <a:prstGeom prst="rect">
            <a:avLst/>
          </a:prstGeom>
          <a:noFill/>
        </p:spPr>
        <p:txBody>
          <a:bodyPr wrap="square" anchor="t" lIns="0" rIns="0" tIns="0" bIns="0">
            <a:noAutofit/>
          </a:bodyPr>
          <a:lstStyle/>
          <a:p>
            <a:pPr algn="r">
              <a:spcBef>
                <a:spcPts val="0"/>
              </a:spcBef>
              <a:spcAft>
                <a:spcPts val="0"/>
              </a:spcAft>
            </a:pPr>
            <a:r>
              <a:rPr sz="1100" b="0" i="0">
                <a:solidFill>
                  <a:srgbClr val="A8102F"/>
                </a:solidFill>
                <a:latin typeface="Consolas"/>
              </a:rPr>
              <a:t>23.1%</a:t>
            </a:r>
          </a:p>
        </p:txBody>
      </p:sp>
      <p:cxnSp>
        <p:nvCxnSpPr>
          <p:cNvPr id="17" name="Connector 16"/>
          <p:cNvCxnSpPr/>
          <p:nvPr/>
        </p:nvCxnSpPr>
        <p:spPr>
          <a:xfrm>
            <a:off x="658368" y="3886200"/>
            <a:ext cx="4937760"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58368" y="4224528"/>
            <a:ext cx="4937760" cy="256032"/>
          </a:xfrm>
          <a:prstGeom prst="rect">
            <a:avLst/>
          </a:prstGeom>
          <a:noFill/>
        </p:spPr>
        <p:txBody>
          <a:bodyPr wrap="square" anchor="t" lIns="0" rIns="0" tIns="0" bIns="0">
            <a:noAutofit/>
          </a:bodyPr>
          <a:lstStyle/>
          <a:p>
            <a:pPr algn="l">
              <a:spcBef>
                <a:spcPts val="0"/>
              </a:spcBef>
              <a:spcAft>
                <a:spcPts val="0"/>
              </a:spcAft>
            </a:pPr>
            <a:r>
              <a:rPr sz="850" b="0" i="0" spc="140">
                <a:solidFill>
                  <a:srgbClr val="8C8375"/>
                </a:solidFill>
                <a:latin typeface="Consolas"/>
              </a:rPr>
              <a:t>MOVE DOWN A COLUMN AND THE COLOUR BARELY CHANGES. MOVE ACROSS A ROW AND IT COLLAPSES.</a:t>
            </a:r>
          </a:p>
        </p:txBody>
      </p:sp>
      <p:sp>
        <p:nvSpPr>
          <p:cNvPr id="19" name="Rectangle 18"/>
          <p:cNvSpPr/>
          <p:nvPr/>
        </p:nvSpPr>
        <p:spPr>
          <a:xfrm>
            <a:off x="5961888" y="1133856"/>
            <a:ext cx="5568696" cy="413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961888" y="1133856"/>
            <a:ext cx="5568696" cy="4139184"/>
          </a:xfrm>
          <a:prstGeom prst="rect">
            <a:avLst/>
          </a:prstGeom>
          <a:noFill/>
          <a:ln w="9525">
            <a:solidFill>
              <a:srgbClr val="D9D1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04_score_wicket_heatmap.png"/>
          <p:cNvPicPr>
            <a:picLocks noChangeAspect="1"/>
          </p:cNvPicPr>
          <p:nvPr/>
        </p:nvPicPr>
        <p:blipFill>
          <a:blip r:embed="rId2"/>
          <a:stretch>
            <a:fillRect/>
          </a:stretch>
        </p:blipFill>
        <p:spPr>
          <a:xfrm>
            <a:off x="6053327" y="1225296"/>
            <a:ext cx="5385816" cy="3590544"/>
          </a:xfrm>
          <a:prstGeom prst="rect">
            <a:avLst/>
          </a:prstGeom>
        </p:spPr>
      </p:pic>
      <p:cxnSp>
        <p:nvCxnSpPr>
          <p:cNvPr id="22" name="Connector 21"/>
          <p:cNvCxnSpPr/>
          <p:nvPr/>
        </p:nvCxnSpPr>
        <p:spPr>
          <a:xfrm>
            <a:off x="6053327" y="4888992"/>
            <a:ext cx="5385816"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053327" y="4962144"/>
            <a:ext cx="5385816" cy="310896"/>
          </a:xfrm>
          <a:prstGeom prst="rect">
            <a:avLst/>
          </a:prstGeom>
          <a:noFill/>
        </p:spPr>
        <p:txBody>
          <a:bodyPr wrap="square" anchor="t" lIns="0" rIns="0" tIns="0" bIns="0">
            <a:noAutofit/>
          </a:bodyPr>
          <a:lstStyle/>
          <a:p>
            <a:pPr algn="l">
              <a:lnSpc>
                <a:spcPct val="112000"/>
              </a:lnSpc>
              <a:spcBef>
                <a:spcPts val="0"/>
              </a:spcBef>
              <a:spcAft>
                <a:spcPts val="0"/>
              </a:spcAft>
            </a:pPr>
            <a:r>
              <a:rPr sz="750" b="0" i="0" spc="120">
                <a:solidFill>
                  <a:srgbClr val="A8102F"/>
                </a:solidFill>
                <a:latin typeface="Consolas"/>
              </a:rPr>
              <a:t>FIG. 04  </a:t>
            </a:r>
            <a:r>
              <a:rPr sz="880" b="0" i="0">
                <a:solidFill>
                  <a:srgbClr val="5B5347"/>
                </a:solidFill>
                <a:latin typeface="Georgia"/>
              </a:rPr>
              <a:t>Win probability by powerplay score band and wickets lost, with cell sample sizes.</a:t>
            </a:r>
          </a:p>
        </p:txBody>
      </p:sp>
    </p:spTree>
  </p:cSld>
  <p:clrMapOvr>
    <a:masterClrMapping/>
  </p:clrMapOvr>
  <p:transition spd="med">
    <p:push dir="u"/>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2E9"/>
        </a:solidFill>
        <a:effectLst/>
      </p:bgPr>
    </p:bg>
    <p:spTree>
      <p:nvGrpSpPr>
        <p:cNvPr id="1" name=""/>
        <p:cNvGrpSpPr/>
        <p:nvPr/>
      </p:nvGrpSpPr>
      <p:grpSpPr/>
      <p:sp>
        <p:nvSpPr>
          <p:cNvPr id="2" name="TextBox 1"/>
          <p:cNvSpPr txBox="1"/>
          <p:nvPr/>
        </p:nvSpPr>
        <p:spPr>
          <a:xfrm>
            <a:off x="658368" y="420624"/>
            <a:ext cx="5669280"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8C8375"/>
                </a:solidFill>
                <a:latin typeface="Consolas"/>
              </a:rPr>
              <a:t>05 · DATA ANALYSIS · RQ4</a:t>
            </a:r>
          </a:p>
        </p:txBody>
      </p:sp>
      <p:sp>
        <p:nvSpPr>
          <p:cNvPr id="3" name="TextBox 2"/>
          <p:cNvSpPr txBox="1"/>
          <p:nvPr/>
        </p:nvSpPr>
        <p:spPr>
          <a:xfrm>
            <a:off x="6961327" y="420624"/>
            <a:ext cx="4572000" cy="274320"/>
          </a:xfrm>
          <a:prstGeom prst="rect">
            <a:avLst/>
          </a:prstGeom>
          <a:noFill/>
        </p:spPr>
        <p:txBody>
          <a:bodyPr wrap="square" anchor="t" lIns="0" rIns="0" tIns="0" bIns="0">
            <a:noAutofit/>
          </a:bodyPr>
          <a:lstStyle/>
          <a:p>
            <a:pPr algn="r">
              <a:spcBef>
                <a:spcPts val="0"/>
              </a:spcBef>
              <a:spcAft>
                <a:spcPts val="0"/>
              </a:spcAft>
            </a:pPr>
            <a:r>
              <a:rPr sz="850" b="0" i="0" spc="150">
                <a:solidFill>
                  <a:srgbClr val="8C8375"/>
                </a:solidFill>
                <a:latin typeface="Consolas"/>
              </a:rPr>
              <a:t>POISSON GOODNESS OF FIT</a:t>
            </a:r>
          </a:p>
        </p:txBody>
      </p:sp>
      <p:sp>
        <p:nvSpPr>
          <p:cNvPr id="4" name="TextBox 3"/>
          <p:cNvSpPr txBox="1"/>
          <p:nvPr/>
        </p:nvSpPr>
        <p:spPr>
          <a:xfrm>
            <a:off x="658368" y="841248"/>
            <a:ext cx="4937760" cy="868680"/>
          </a:xfrm>
          <a:prstGeom prst="rect">
            <a:avLst/>
          </a:prstGeom>
          <a:noFill/>
        </p:spPr>
        <p:txBody>
          <a:bodyPr wrap="square" anchor="t" lIns="0" rIns="0" tIns="0" bIns="0">
            <a:noAutofit/>
          </a:bodyPr>
          <a:lstStyle/>
          <a:p>
            <a:pPr algn="l">
              <a:lnSpc>
                <a:spcPct val="102000"/>
              </a:lnSpc>
              <a:spcBef>
                <a:spcPts val="0"/>
              </a:spcBef>
              <a:spcAft>
                <a:spcPts val="0"/>
              </a:spcAft>
            </a:pPr>
            <a:r>
              <a:rPr sz="2500" b="0" i="0" spc="-30">
                <a:solidFill>
                  <a:srgbClr val="16130F"/>
                </a:solidFill>
                <a:latin typeface="Palatino Linotype"/>
              </a:rPr>
              <a:t>Wickets are not random events.</a:t>
            </a:r>
          </a:p>
        </p:txBody>
      </p:sp>
      <p:sp>
        <p:nvSpPr>
          <p:cNvPr id="5" name="TextBox 4"/>
          <p:cNvSpPr txBox="1"/>
          <p:nvPr/>
        </p:nvSpPr>
        <p:spPr>
          <a:xfrm>
            <a:off x="658368" y="1627632"/>
            <a:ext cx="4892040" cy="1463040"/>
          </a:xfrm>
          <a:prstGeom prst="rect">
            <a:avLst/>
          </a:prstGeom>
          <a:noFill/>
        </p:spPr>
        <p:txBody>
          <a:bodyPr wrap="square" anchor="t" lIns="0" rIns="0" tIns="0" bIns="0">
            <a:noAutofit/>
          </a:bodyPr>
          <a:lstStyle/>
          <a:p>
            <a:pPr algn="l">
              <a:lnSpc>
                <a:spcPct val="142000"/>
              </a:lnSpc>
              <a:spcBef>
                <a:spcPts val="0"/>
              </a:spcBef>
              <a:spcAft>
                <a:spcPts val="0"/>
              </a:spcAft>
            </a:pPr>
            <a:r>
              <a:rPr sz="1150" b="0" i="0">
                <a:solidFill>
                  <a:srgbClr val="5B5347"/>
                </a:solidFill>
                <a:latin typeface="Georgia"/>
              </a:rPr>
              <a:t>If powerplay wickets were memoryless, Poisson with λ = 1.44 would fit. It does not: the observed spread, variance 1.26, is narrower than Poisson demands, and six-wicket powerplays almost never happen.</a:t>
            </a:r>
          </a:p>
        </p:txBody>
      </p:sp>
      <p:cxnSp>
        <p:nvCxnSpPr>
          <p:cNvPr id="6" name="Connector 5"/>
          <p:cNvCxnSpPr/>
          <p:nvPr/>
        </p:nvCxnSpPr>
        <p:spPr>
          <a:xfrm>
            <a:off x="658368" y="2798064"/>
            <a:ext cx="4892039" cy="0"/>
          </a:xfrm>
          <a:prstGeom prst="line">
            <a:avLst/>
          </a:prstGeom>
          <a:ln w="13970">
            <a:solidFill>
              <a:srgbClr val="16130F"/>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2880360"/>
            <a:ext cx="3033064" cy="274320"/>
          </a:xfrm>
          <a:prstGeom prst="rect">
            <a:avLst/>
          </a:prstGeom>
          <a:noFill/>
        </p:spPr>
        <p:txBody>
          <a:bodyPr wrap="square" anchor="t" lIns="0" rIns="0" tIns="0" bIns="0">
            <a:noAutofit/>
          </a:bodyPr>
          <a:lstStyle/>
          <a:p>
            <a:pPr algn="l">
              <a:spcBef>
                <a:spcPts val="0"/>
              </a:spcBef>
              <a:spcAft>
                <a:spcPts val="0"/>
              </a:spcAft>
            </a:pPr>
            <a:r>
              <a:rPr sz="1050" b="0" i="0">
                <a:solidFill>
                  <a:srgbClr val="5B5347"/>
                </a:solidFill>
                <a:latin typeface="Georgia"/>
              </a:rPr>
              <a:t>Mean wickets per innings</a:t>
            </a:r>
          </a:p>
        </p:txBody>
      </p:sp>
      <p:sp>
        <p:nvSpPr>
          <p:cNvPr id="8" name="TextBox 7"/>
          <p:cNvSpPr txBox="1"/>
          <p:nvPr/>
        </p:nvSpPr>
        <p:spPr>
          <a:xfrm>
            <a:off x="3348989" y="2880360"/>
            <a:ext cx="2201418" cy="274320"/>
          </a:xfrm>
          <a:prstGeom prst="rect">
            <a:avLst/>
          </a:prstGeom>
          <a:noFill/>
        </p:spPr>
        <p:txBody>
          <a:bodyPr wrap="square" anchor="t" lIns="0" rIns="0" tIns="0" bIns="0">
            <a:noAutofit/>
          </a:bodyPr>
          <a:lstStyle/>
          <a:p>
            <a:pPr algn="r">
              <a:spcBef>
                <a:spcPts val="0"/>
              </a:spcBef>
              <a:spcAft>
                <a:spcPts val="0"/>
              </a:spcAft>
            </a:pPr>
            <a:r>
              <a:rPr sz="1100" b="0" i="0">
                <a:solidFill>
                  <a:srgbClr val="16130F"/>
                </a:solidFill>
                <a:latin typeface="Consolas"/>
              </a:rPr>
              <a:t>1.44</a:t>
            </a:r>
          </a:p>
        </p:txBody>
      </p:sp>
      <p:cxnSp>
        <p:nvCxnSpPr>
          <p:cNvPr id="9" name="Connector 8"/>
          <p:cNvCxnSpPr/>
          <p:nvPr/>
        </p:nvCxnSpPr>
        <p:spPr>
          <a:xfrm>
            <a:off x="658368" y="3154679"/>
            <a:ext cx="4892039"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8368" y="3246120"/>
            <a:ext cx="3033064" cy="274320"/>
          </a:xfrm>
          <a:prstGeom prst="rect">
            <a:avLst/>
          </a:prstGeom>
          <a:noFill/>
        </p:spPr>
        <p:txBody>
          <a:bodyPr wrap="square" anchor="t" lIns="0" rIns="0" tIns="0" bIns="0">
            <a:noAutofit/>
          </a:bodyPr>
          <a:lstStyle/>
          <a:p>
            <a:pPr algn="l">
              <a:spcBef>
                <a:spcPts val="0"/>
              </a:spcBef>
              <a:spcAft>
                <a:spcPts val="0"/>
              </a:spcAft>
            </a:pPr>
            <a:r>
              <a:rPr sz="1050" b="0" i="0">
                <a:solidFill>
                  <a:srgbClr val="5B5347"/>
                </a:solidFill>
                <a:latin typeface="Georgia"/>
              </a:rPr>
              <a:t>Variance (Poisson: equal to mean)</a:t>
            </a:r>
          </a:p>
        </p:txBody>
      </p:sp>
      <p:sp>
        <p:nvSpPr>
          <p:cNvPr id="11" name="TextBox 10"/>
          <p:cNvSpPr txBox="1"/>
          <p:nvPr/>
        </p:nvSpPr>
        <p:spPr>
          <a:xfrm>
            <a:off x="3348989" y="3246120"/>
            <a:ext cx="2201418" cy="274320"/>
          </a:xfrm>
          <a:prstGeom prst="rect">
            <a:avLst/>
          </a:prstGeom>
          <a:noFill/>
        </p:spPr>
        <p:txBody>
          <a:bodyPr wrap="square" anchor="t" lIns="0" rIns="0" tIns="0" bIns="0">
            <a:noAutofit/>
          </a:bodyPr>
          <a:lstStyle/>
          <a:p>
            <a:pPr algn="r">
              <a:spcBef>
                <a:spcPts val="0"/>
              </a:spcBef>
              <a:spcAft>
                <a:spcPts val="0"/>
              </a:spcAft>
            </a:pPr>
            <a:r>
              <a:rPr sz="1100" b="0" i="0">
                <a:solidFill>
                  <a:srgbClr val="16130F"/>
                </a:solidFill>
                <a:latin typeface="Consolas"/>
              </a:rPr>
              <a:t>1.26</a:t>
            </a:r>
          </a:p>
        </p:txBody>
      </p:sp>
      <p:cxnSp>
        <p:nvCxnSpPr>
          <p:cNvPr id="12" name="Connector 11"/>
          <p:cNvCxnSpPr/>
          <p:nvPr/>
        </p:nvCxnSpPr>
        <p:spPr>
          <a:xfrm>
            <a:off x="658368" y="3520439"/>
            <a:ext cx="4892039"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58368" y="3611879"/>
            <a:ext cx="3033064" cy="274320"/>
          </a:xfrm>
          <a:prstGeom prst="rect">
            <a:avLst/>
          </a:prstGeom>
          <a:noFill/>
        </p:spPr>
        <p:txBody>
          <a:bodyPr wrap="square" anchor="t" lIns="0" rIns="0" tIns="0" bIns="0">
            <a:noAutofit/>
          </a:bodyPr>
          <a:lstStyle/>
          <a:p>
            <a:pPr algn="l">
              <a:spcBef>
                <a:spcPts val="0"/>
              </a:spcBef>
              <a:spcAft>
                <a:spcPts val="0"/>
              </a:spcAft>
            </a:pPr>
            <a:r>
              <a:rPr sz="1050" b="0" i="0">
                <a:solidFill>
                  <a:srgbClr val="5B5347"/>
                </a:solidFill>
                <a:latin typeface="Georgia"/>
              </a:rPr>
              <a:t>Goodness-of-fit test</a:t>
            </a:r>
          </a:p>
        </p:txBody>
      </p:sp>
      <p:sp>
        <p:nvSpPr>
          <p:cNvPr id="14" name="TextBox 13"/>
          <p:cNvSpPr txBox="1"/>
          <p:nvPr/>
        </p:nvSpPr>
        <p:spPr>
          <a:xfrm>
            <a:off x="3348989" y="3611879"/>
            <a:ext cx="2201418" cy="274320"/>
          </a:xfrm>
          <a:prstGeom prst="rect">
            <a:avLst/>
          </a:prstGeom>
          <a:noFill/>
        </p:spPr>
        <p:txBody>
          <a:bodyPr wrap="square" anchor="t" lIns="0" rIns="0" tIns="0" bIns="0">
            <a:noAutofit/>
          </a:bodyPr>
          <a:lstStyle/>
          <a:p>
            <a:pPr algn="r">
              <a:spcBef>
                <a:spcPts val="0"/>
              </a:spcBef>
              <a:spcAft>
                <a:spcPts val="0"/>
              </a:spcAft>
            </a:pPr>
            <a:r>
              <a:rPr sz="1100" b="0" i="0">
                <a:solidFill>
                  <a:srgbClr val="A8102F"/>
                </a:solidFill>
                <a:latin typeface="Consolas"/>
              </a:rPr>
              <a:t>reject H0 · p ≈ 0.002</a:t>
            </a:r>
          </a:p>
        </p:txBody>
      </p:sp>
      <p:cxnSp>
        <p:nvCxnSpPr>
          <p:cNvPr id="15" name="Connector 14"/>
          <p:cNvCxnSpPr/>
          <p:nvPr/>
        </p:nvCxnSpPr>
        <p:spPr>
          <a:xfrm>
            <a:off x="658368" y="3886200"/>
            <a:ext cx="4892039"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8368" y="3986784"/>
            <a:ext cx="4892039" cy="0"/>
          </a:xfrm>
          <a:prstGeom prst="line">
            <a:avLst/>
          </a:prstGeom>
          <a:ln w="13970">
            <a:solidFill>
              <a:srgbClr val="16130F"/>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58368" y="4151376"/>
            <a:ext cx="4892040" cy="914400"/>
          </a:xfrm>
          <a:prstGeom prst="rect">
            <a:avLst/>
          </a:prstGeom>
          <a:noFill/>
        </p:spPr>
        <p:txBody>
          <a:bodyPr wrap="square" anchor="t" lIns="0" rIns="0" tIns="0" bIns="0">
            <a:noAutofit/>
          </a:bodyPr>
          <a:lstStyle/>
          <a:p>
            <a:pPr algn="l">
              <a:spcBef>
                <a:spcPts val="0"/>
              </a:spcBef>
              <a:spcAft>
                <a:spcPts val="0"/>
              </a:spcAft>
            </a:pPr>
            <a:r>
              <a:rPr sz="850" b="0" i="0" spc="140">
                <a:solidFill>
                  <a:srgbClr val="A8102F"/>
                </a:solidFill>
                <a:latin typeface="Consolas"/>
              </a:rPr>
              <a:t>RQ4</a:t>
            </a:r>
          </a:p>
          <a:p>
            <a:pPr algn="l">
              <a:lnSpc>
                <a:spcPct val="136000"/>
              </a:lnSpc>
              <a:spcBef>
                <a:spcPts val="400"/>
              </a:spcBef>
              <a:spcAft>
                <a:spcPts val="0"/>
              </a:spcAft>
            </a:pPr>
            <a:r>
              <a:rPr sz="1150" b="0" i="0">
                <a:solidFill>
                  <a:srgbClr val="16130F"/>
                </a:solidFill>
                <a:latin typeface="Georgia"/>
              </a:rPr>
              <a:t>Wicket loss is under-dispersed — teams actively protect wickets in the powerplay rather than losing them at a constant rate.</a:t>
            </a:r>
          </a:p>
        </p:txBody>
      </p:sp>
      <p:sp>
        <p:nvSpPr>
          <p:cNvPr id="18" name="Rectangle 17"/>
          <p:cNvSpPr/>
          <p:nvPr/>
        </p:nvSpPr>
        <p:spPr>
          <a:xfrm>
            <a:off x="6053328" y="1298448"/>
            <a:ext cx="5477256" cy="4078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053328" y="1298448"/>
            <a:ext cx="5477256" cy="4078224"/>
          </a:xfrm>
          <a:prstGeom prst="rect">
            <a:avLst/>
          </a:prstGeom>
          <a:noFill/>
          <a:ln w="9525">
            <a:solidFill>
              <a:srgbClr val="D9D1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05_poisson_wickets.png"/>
          <p:cNvPicPr>
            <a:picLocks noChangeAspect="1"/>
          </p:cNvPicPr>
          <p:nvPr/>
        </p:nvPicPr>
        <p:blipFill>
          <a:blip r:embed="rId2"/>
          <a:stretch>
            <a:fillRect/>
          </a:stretch>
        </p:blipFill>
        <p:spPr>
          <a:xfrm>
            <a:off x="6144768" y="1389888"/>
            <a:ext cx="5294376" cy="3529584"/>
          </a:xfrm>
          <a:prstGeom prst="rect">
            <a:avLst/>
          </a:prstGeom>
        </p:spPr>
      </p:pic>
      <p:cxnSp>
        <p:nvCxnSpPr>
          <p:cNvPr id="21" name="Connector 20"/>
          <p:cNvCxnSpPr/>
          <p:nvPr/>
        </p:nvCxnSpPr>
        <p:spPr>
          <a:xfrm>
            <a:off x="6144768" y="4992623"/>
            <a:ext cx="5294376"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144768" y="5065775"/>
            <a:ext cx="5294376" cy="310896"/>
          </a:xfrm>
          <a:prstGeom prst="rect">
            <a:avLst/>
          </a:prstGeom>
          <a:noFill/>
        </p:spPr>
        <p:txBody>
          <a:bodyPr wrap="square" anchor="t" lIns="0" rIns="0" tIns="0" bIns="0">
            <a:noAutofit/>
          </a:bodyPr>
          <a:lstStyle/>
          <a:p>
            <a:pPr algn="l">
              <a:lnSpc>
                <a:spcPct val="112000"/>
              </a:lnSpc>
              <a:spcBef>
                <a:spcPts val="0"/>
              </a:spcBef>
              <a:spcAft>
                <a:spcPts val="0"/>
              </a:spcAft>
            </a:pPr>
            <a:r>
              <a:rPr sz="750" b="0" i="0" spc="120">
                <a:solidFill>
                  <a:srgbClr val="A8102F"/>
                </a:solidFill>
                <a:latin typeface="Consolas"/>
              </a:rPr>
              <a:t>FIG. 05  </a:t>
            </a:r>
            <a:r>
              <a:rPr sz="880" b="0" i="0">
                <a:solidFill>
                  <a:srgbClr val="5B5347"/>
                </a:solidFill>
                <a:latin typeface="Georgia"/>
              </a:rPr>
              <a:t>Observed versus Poisson-expected wicket counts — thinner tails than the model predicts.</a:t>
            </a:r>
          </a:p>
        </p:txBody>
      </p:sp>
    </p:spTree>
  </p:cSld>
  <p:clrMapOvr>
    <a:masterClrMapping/>
  </p:clrMapOvr>
  <p:transition spd="med">
    <p:push dir="u"/>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2E9"/>
        </a:solidFill>
        <a:effectLst/>
      </p:bgPr>
    </p:bg>
    <p:spTree>
      <p:nvGrpSpPr>
        <p:cNvPr id="1" name=""/>
        <p:cNvGrpSpPr/>
        <p:nvPr/>
      </p:nvGrpSpPr>
      <p:grpSpPr/>
      <p:sp>
        <p:nvSpPr>
          <p:cNvPr id="2" name="TextBox 1"/>
          <p:cNvSpPr txBox="1"/>
          <p:nvPr/>
        </p:nvSpPr>
        <p:spPr>
          <a:xfrm>
            <a:off x="658368" y="420624"/>
            <a:ext cx="5669280"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8C8375"/>
                </a:solidFill>
                <a:latin typeface="Consolas"/>
              </a:rPr>
              <a:t>05 · DATA ANALYSIS · RQ6</a:t>
            </a:r>
          </a:p>
        </p:txBody>
      </p:sp>
      <p:sp>
        <p:nvSpPr>
          <p:cNvPr id="3" name="TextBox 2"/>
          <p:cNvSpPr txBox="1"/>
          <p:nvPr/>
        </p:nvSpPr>
        <p:spPr>
          <a:xfrm>
            <a:off x="6961327" y="420624"/>
            <a:ext cx="4572000" cy="274320"/>
          </a:xfrm>
          <a:prstGeom prst="rect">
            <a:avLst/>
          </a:prstGeom>
          <a:noFill/>
        </p:spPr>
        <p:txBody>
          <a:bodyPr wrap="square" anchor="t" lIns="0" rIns="0" tIns="0" bIns="0">
            <a:noAutofit/>
          </a:bodyPr>
          <a:lstStyle/>
          <a:p>
            <a:pPr algn="r">
              <a:spcBef>
                <a:spcPts val="0"/>
              </a:spcBef>
              <a:spcAft>
                <a:spcPts val="0"/>
              </a:spcAft>
            </a:pPr>
            <a:r>
              <a:rPr sz="850" b="0" i="0" spc="150">
                <a:solidFill>
                  <a:srgbClr val="8C8375"/>
                </a:solidFill>
                <a:latin typeface="Consolas"/>
              </a:rPr>
              <a:t>LOGISTIC REGRESSION · ODDS RATIOS</a:t>
            </a:r>
          </a:p>
        </p:txBody>
      </p:sp>
      <p:sp>
        <p:nvSpPr>
          <p:cNvPr id="4" name="TextBox 3"/>
          <p:cNvSpPr txBox="1"/>
          <p:nvPr/>
        </p:nvSpPr>
        <p:spPr>
          <a:xfrm>
            <a:off x="658368" y="1170432"/>
            <a:ext cx="5120640" cy="1188720"/>
          </a:xfrm>
          <a:prstGeom prst="rect">
            <a:avLst/>
          </a:prstGeom>
          <a:noFill/>
        </p:spPr>
        <p:txBody>
          <a:bodyPr wrap="square" anchor="t" lIns="0" rIns="0" tIns="0" bIns="0">
            <a:noAutofit/>
          </a:bodyPr>
          <a:lstStyle/>
          <a:p>
            <a:pPr algn="l">
              <a:lnSpc>
                <a:spcPct val="95000"/>
              </a:lnSpc>
              <a:spcBef>
                <a:spcPts val="0"/>
              </a:spcBef>
              <a:spcAft>
                <a:spcPts val="0"/>
              </a:spcAft>
            </a:pPr>
            <a:r>
              <a:rPr sz="5800" b="0" i="0" spc="-140">
                <a:solidFill>
                  <a:srgbClr val="A8102F"/>
                </a:solidFill>
                <a:latin typeface="Palatino Linotype"/>
              </a:rPr>
              <a:t>0.60</a:t>
            </a:r>
            <a:r>
              <a:rPr sz="2200" b="0" i="0">
                <a:solidFill>
                  <a:srgbClr val="8C8375"/>
                </a:solidFill>
                <a:latin typeface="Palatino Linotype"/>
              </a:rPr>
              <a:t> × odds</a:t>
            </a:r>
          </a:p>
        </p:txBody>
      </p:sp>
      <p:sp>
        <p:nvSpPr>
          <p:cNvPr id="5" name="TextBox 4"/>
          <p:cNvSpPr txBox="1"/>
          <p:nvPr/>
        </p:nvSpPr>
        <p:spPr>
          <a:xfrm>
            <a:off x="658368" y="2139696"/>
            <a:ext cx="4937760" cy="731520"/>
          </a:xfrm>
          <a:prstGeom prst="rect">
            <a:avLst/>
          </a:prstGeom>
          <a:noFill/>
        </p:spPr>
        <p:txBody>
          <a:bodyPr wrap="square" anchor="t" lIns="0" rIns="0" tIns="0" bIns="0">
            <a:noAutofit/>
          </a:bodyPr>
          <a:lstStyle/>
          <a:p>
            <a:pPr algn="l">
              <a:lnSpc>
                <a:spcPct val="134000"/>
              </a:lnSpc>
              <a:spcBef>
                <a:spcPts val="0"/>
              </a:spcBef>
              <a:spcAft>
                <a:spcPts val="0"/>
              </a:spcAft>
            </a:pPr>
            <a:r>
              <a:rPr sz="1250" b="0" i="0">
                <a:solidFill>
                  <a:srgbClr val="16130F"/>
                </a:solidFill>
                <a:latin typeface="Georgia"/>
              </a:rPr>
              <a:t>For every extra wicket lost in the powerplay, estimated win odds fall about </a:t>
            </a:r>
            <a:r>
              <a:rPr sz="1250" b="1" i="0">
                <a:solidFill>
                  <a:srgbClr val="16130F"/>
                </a:solidFill>
                <a:latin typeface="Georgia"/>
              </a:rPr>
              <a:t>40%</a:t>
            </a:r>
            <a:r>
              <a:rPr sz="1250" b="0" i="0">
                <a:solidFill>
                  <a:srgbClr val="16130F"/>
                </a:solidFill>
                <a:latin typeface="Georgia"/>
              </a:rPr>
              <a:t>.</a:t>
            </a:r>
          </a:p>
        </p:txBody>
      </p:sp>
      <p:cxnSp>
        <p:nvCxnSpPr>
          <p:cNvPr id="6" name="Connector 5"/>
          <p:cNvCxnSpPr/>
          <p:nvPr/>
        </p:nvCxnSpPr>
        <p:spPr>
          <a:xfrm>
            <a:off x="658368" y="2761488"/>
            <a:ext cx="4937760" cy="0"/>
          </a:xfrm>
          <a:prstGeom prst="line">
            <a:avLst/>
          </a:prstGeom>
          <a:ln w="13970">
            <a:solidFill>
              <a:srgbClr val="16130F"/>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2843784"/>
            <a:ext cx="3061411" cy="274320"/>
          </a:xfrm>
          <a:prstGeom prst="rect">
            <a:avLst/>
          </a:prstGeom>
          <a:noFill/>
        </p:spPr>
        <p:txBody>
          <a:bodyPr wrap="square" anchor="t" lIns="0" rIns="0" tIns="0" bIns="0">
            <a:noAutofit/>
          </a:bodyPr>
          <a:lstStyle/>
          <a:p>
            <a:pPr algn="l">
              <a:spcBef>
                <a:spcPts val="0"/>
              </a:spcBef>
              <a:spcAft>
                <a:spcPts val="0"/>
              </a:spcAft>
            </a:pPr>
            <a:r>
              <a:rPr sz="1050" b="0" i="0">
                <a:solidFill>
                  <a:srgbClr val="5B5347"/>
                </a:solidFill>
                <a:latin typeface="Georgia"/>
              </a:rPr>
              <a:t>Powerplay wickets (per wicket)</a:t>
            </a:r>
          </a:p>
        </p:txBody>
      </p:sp>
      <p:sp>
        <p:nvSpPr>
          <p:cNvPr id="8" name="TextBox 7"/>
          <p:cNvSpPr txBox="1"/>
          <p:nvPr/>
        </p:nvSpPr>
        <p:spPr>
          <a:xfrm>
            <a:off x="3374136" y="2843784"/>
            <a:ext cx="2221992" cy="274320"/>
          </a:xfrm>
          <a:prstGeom prst="rect">
            <a:avLst/>
          </a:prstGeom>
          <a:noFill/>
        </p:spPr>
        <p:txBody>
          <a:bodyPr wrap="square" anchor="t" lIns="0" rIns="0" tIns="0" bIns="0">
            <a:noAutofit/>
          </a:bodyPr>
          <a:lstStyle/>
          <a:p>
            <a:pPr algn="r">
              <a:spcBef>
                <a:spcPts val="0"/>
              </a:spcBef>
              <a:spcAft>
                <a:spcPts val="0"/>
              </a:spcAft>
            </a:pPr>
            <a:r>
              <a:rPr sz="1100" b="0" i="0">
                <a:solidFill>
                  <a:srgbClr val="A8102F"/>
                </a:solidFill>
                <a:latin typeface="Consolas"/>
              </a:rPr>
              <a:t>OR 0.60</a:t>
            </a:r>
          </a:p>
        </p:txBody>
      </p:sp>
      <p:cxnSp>
        <p:nvCxnSpPr>
          <p:cNvPr id="9" name="Connector 8"/>
          <p:cNvCxnSpPr/>
          <p:nvPr/>
        </p:nvCxnSpPr>
        <p:spPr>
          <a:xfrm>
            <a:off x="658368" y="3118103"/>
            <a:ext cx="4937760"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8368" y="3209544"/>
            <a:ext cx="3061411" cy="274320"/>
          </a:xfrm>
          <a:prstGeom prst="rect">
            <a:avLst/>
          </a:prstGeom>
          <a:noFill/>
        </p:spPr>
        <p:txBody>
          <a:bodyPr wrap="square" anchor="t" lIns="0" rIns="0" tIns="0" bIns="0">
            <a:noAutofit/>
          </a:bodyPr>
          <a:lstStyle/>
          <a:p>
            <a:pPr algn="l">
              <a:spcBef>
                <a:spcPts val="0"/>
              </a:spcBef>
              <a:spcAft>
                <a:spcPts val="0"/>
              </a:spcAft>
            </a:pPr>
            <a:r>
              <a:rPr sz="1050" b="0" i="0">
                <a:solidFill>
                  <a:srgbClr val="5B5347"/>
                </a:solidFill>
                <a:latin typeface="Georgia"/>
              </a:rPr>
              <a:t>Powerplay runs (per run)</a:t>
            </a:r>
          </a:p>
        </p:txBody>
      </p:sp>
      <p:sp>
        <p:nvSpPr>
          <p:cNvPr id="11" name="TextBox 10"/>
          <p:cNvSpPr txBox="1"/>
          <p:nvPr/>
        </p:nvSpPr>
        <p:spPr>
          <a:xfrm>
            <a:off x="3374136" y="3209544"/>
            <a:ext cx="2221992" cy="274320"/>
          </a:xfrm>
          <a:prstGeom prst="rect">
            <a:avLst/>
          </a:prstGeom>
          <a:noFill/>
        </p:spPr>
        <p:txBody>
          <a:bodyPr wrap="square" anchor="t" lIns="0" rIns="0" tIns="0" bIns="0">
            <a:noAutofit/>
          </a:bodyPr>
          <a:lstStyle/>
          <a:p>
            <a:pPr algn="r">
              <a:spcBef>
                <a:spcPts val="0"/>
              </a:spcBef>
              <a:spcAft>
                <a:spcPts val="0"/>
              </a:spcAft>
            </a:pPr>
            <a:r>
              <a:rPr sz="1100" b="0" i="0">
                <a:solidFill>
                  <a:srgbClr val="0E8F94"/>
                </a:solidFill>
                <a:latin typeface="Consolas"/>
              </a:rPr>
              <a:t>OR &gt; 1</a:t>
            </a:r>
          </a:p>
        </p:txBody>
      </p:sp>
      <p:cxnSp>
        <p:nvCxnSpPr>
          <p:cNvPr id="12" name="Connector 11"/>
          <p:cNvCxnSpPr/>
          <p:nvPr/>
        </p:nvCxnSpPr>
        <p:spPr>
          <a:xfrm>
            <a:off x="658368" y="3483863"/>
            <a:ext cx="4937760"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58368" y="3575303"/>
            <a:ext cx="3061411" cy="274320"/>
          </a:xfrm>
          <a:prstGeom prst="rect">
            <a:avLst/>
          </a:prstGeom>
          <a:noFill/>
        </p:spPr>
        <p:txBody>
          <a:bodyPr wrap="square" anchor="t" lIns="0" rIns="0" tIns="0" bIns="0">
            <a:noAutofit/>
          </a:bodyPr>
          <a:lstStyle/>
          <a:p>
            <a:pPr algn="l">
              <a:spcBef>
                <a:spcPts val="0"/>
              </a:spcBef>
              <a:spcAft>
                <a:spcPts val="0"/>
              </a:spcAft>
            </a:pPr>
            <a:r>
              <a:rPr sz="1050" b="0" i="0">
                <a:solidFill>
                  <a:srgbClr val="5B5347"/>
                </a:solidFill>
                <a:latin typeface="Georgia"/>
              </a:rPr>
              <a:t>Toss won</a:t>
            </a:r>
          </a:p>
        </p:txBody>
      </p:sp>
      <p:sp>
        <p:nvSpPr>
          <p:cNvPr id="14" name="TextBox 13"/>
          <p:cNvSpPr txBox="1"/>
          <p:nvPr/>
        </p:nvSpPr>
        <p:spPr>
          <a:xfrm>
            <a:off x="3374136" y="3575303"/>
            <a:ext cx="2221992" cy="274320"/>
          </a:xfrm>
          <a:prstGeom prst="rect">
            <a:avLst/>
          </a:prstGeom>
          <a:noFill/>
        </p:spPr>
        <p:txBody>
          <a:bodyPr wrap="square" anchor="t" lIns="0" rIns="0" tIns="0" bIns="0">
            <a:noAutofit/>
          </a:bodyPr>
          <a:lstStyle/>
          <a:p>
            <a:pPr algn="r">
              <a:spcBef>
                <a:spcPts val="0"/>
              </a:spcBef>
              <a:spcAft>
                <a:spcPts val="0"/>
              </a:spcAft>
            </a:pPr>
            <a:r>
              <a:rPr sz="1100" b="0" i="0">
                <a:solidFill>
                  <a:srgbClr val="16130F"/>
                </a:solidFill>
                <a:latin typeface="Consolas"/>
              </a:rPr>
              <a:t>OR ≈ 1</a:t>
            </a:r>
          </a:p>
        </p:txBody>
      </p:sp>
      <p:cxnSp>
        <p:nvCxnSpPr>
          <p:cNvPr id="15" name="Connector 14"/>
          <p:cNvCxnSpPr/>
          <p:nvPr/>
        </p:nvCxnSpPr>
        <p:spPr>
          <a:xfrm>
            <a:off x="658368" y="3849624"/>
            <a:ext cx="4937760"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58368" y="3941063"/>
            <a:ext cx="3061411" cy="274320"/>
          </a:xfrm>
          <a:prstGeom prst="rect">
            <a:avLst/>
          </a:prstGeom>
          <a:noFill/>
        </p:spPr>
        <p:txBody>
          <a:bodyPr wrap="square" anchor="t" lIns="0" rIns="0" tIns="0" bIns="0">
            <a:noAutofit/>
          </a:bodyPr>
          <a:lstStyle/>
          <a:p>
            <a:pPr algn="l">
              <a:spcBef>
                <a:spcPts val="0"/>
              </a:spcBef>
              <a:spcAft>
                <a:spcPts val="0"/>
              </a:spcAft>
            </a:pPr>
            <a:r>
              <a:rPr sz="1050" b="0" i="0">
                <a:solidFill>
                  <a:srgbClr val="5B5347"/>
                </a:solidFill>
                <a:latin typeface="Georgia"/>
              </a:rPr>
              <a:t>Toss decision: field</a:t>
            </a:r>
          </a:p>
        </p:txBody>
      </p:sp>
      <p:sp>
        <p:nvSpPr>
          <p:cNvPr id="17" name="TextBox 16"/>
          <p:cNvSpPr txBox="1"/>
          <p:nvPr/>
        </p:nvSpPr>
        <p:spPr>
          <a:xfrm>
            <a:off x="3374136" y="3941063"/>
            <a:ext cx="2221992" cy="274320"/>
          </a:xfrm>
          <a:prstGeom prst="rect">
            <a:avLst/>
          </a:prstGeom>
          <a:noFill/>
        </p:spPr>
        <p:txBody>
          <a:bodyPr wrap="square" anchor="t" lIns="0" rIns="0" tIns="0" bIns="0">
            <a:noAutofit/>
          </a:bodyPr>
          <a:lstStyle/>
          <a:p>
            <a:pPr algn="r">
              <a:spcBef>
                <a:spcPts val="0"/>
              </a:spcBef>
              <a:spcAft>
                <a:spcPts val="0"/>
              </a:spcAft>
            </a:pPr>
            <a:r>
              <a:rPr sz="1100" b="0" i="0">
                <a:solidFill>
                  <a:srgbClr val="16130F"/>
                </a:solidFill>
                <a:latin typeface="Consolas"/>
              </a:rPr>
              <a:t>OR ≈ 1</a:t>
            </a:r>
          </a:p>
        </p:txBody>
      </p:sp>
      <p:cxnSp>
        <p:nvCxnSpPr>
          <p:cNvPr id="18" name="Connector 17"/>
          <p:cNvCxnSpPr/>
          <p:nvPr/>
        </p:nvCxnSpPr>
        <p:spPr>
          <a:xfrm>
            <a:off x="658368" y="4215383"/>
            <a:ext cx="4937760"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58368" y="4443984"/>
            <a:ext cx="4937760" cy="0"/>
          </a:xfrm>
          <a:prstGeom prst="line">
            <a:avLst/>
          </a:prstGeom>
          <a:ln w="13970">
            <a:solidFill>
              <a:srgbClr val="16130F"/>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58368" y="4608576"/>
            <a:ext cx="4937760" cy="914400"/>
          </a:xfrm>
          <a:prstGeom prst="rect">
            <a:avLst/>
          </a:prstGeom>
          <a:noFill/>
        </p:spPr>
        <p:txBody>
          <a:bodyPr wrap="square" anchor="t" lIns="0" rIns="0" tIns="0" bIns="0">
            <a:noAutofit/>
          </a:bodyPr>
          <a:lstStyle/>
          <a:p>
            <a:pPr algn="l">
              <a:spcBef>
                <a:spcPts val="0"/>
              </a:spcBef>
              <a:spcAft>
                <a:spcPts val="0"/>
              </a:spcAft>
            </a:pPr>
            <a:r>
              <a:rPr sz="850" b="0" i="0" spc="140">
                <a:solidFill>
                  <a:srgbClr val="A8102F"/>
                </a:solidFill>
                <a:latin typeface="Consolas"/>
              </a:rPr>
              <a:t>RQ6</a:t>
            </a:r>
          </a:p>
          <a:p>
            <a:pPr algn="l">
              <a:lnSpc>
                <a:spcPct val="136000"/>
              </a:lnSpc>
              <a:spcBef>
                <a:spcPts val="400"/>
              </a:spcBef>
              <a:spcAft>
                <a:spcPts val="0"/>
              </a:spcAft>
            </a:pPr>
            <a:r>
              <a:rPr sz="1150" b="0" i="0">
                <a:solidFill>
                  <a:srgbClr val="16130F"/>
                </a:solidFill>
                <a:latin typeface="Georgia"/>
              </a:rPr>
              <a:t>The strongest early indicator of an IPL win is not losing wickets in the first six overs. The toss adds nothing once wickets are in the model.</a:t>
            </a:r>
          </a:p>
        </p:txBody>
      </p:sp>
      <p:sp>
        <p:nvSpPr>
          <p:cNvPr id="21" name="Rectangle 20"/>
          <p:cNvSpPr/>
          <p:nvPr/>
        </p:nvSpPr>
        <p:spPr>
          <a:xfrm>
            <a:off x="6053328" y="1298448"/>
            <a:ext cx="5477256" cy="4078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53328" y="1298448"/>
            <a:ext cx="5477256" cy="4078224"/>
          </a:xfrm>
          <a:prstGeom prst="rect">
            <a:avLst/>
          </a:prstGeom>
          <a:noFill/>
          <a:ln w="9525">
            <a:solidFill>
              <a:srgbClr val="D9D1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07_logistic_odds_ratios.png"/>
          <p:cNvPicPr>
            <a:picLocks noChangeAspect="1"/>
          </p:cNvPicPr>
          <p:nvPr/>
        </p:nvPicPr>
        <p:blipFill>
          <a:blip r:embed="rId2"/>
          <a:stretch>
            <a:fillRect/>
          </a:stretch>
        </p:blipFill>
        <p:spPr>
          <a:xfrm>
            <a:off x="6144768" y="1389888"/>
            <a:ext cx="5294376" cy="3529584"/>
          </a:xfrm>
          <a:prstGeom prst="rect">
            <a:avLst/>
          </a:prstGeom>
        </p:spPr>
      </p:pic>
      <p:cxnSp>
        <p:nvCxnSpPr>
          <p:cNvPr id="24" name="Connector 23"/>
          <p:cNvCxnSpPr/>
          <p:nvPr/>
        </p:nvCxnSpPr>
        <p:spPr>
          <a:xfrm>
            <a:off x="6144768" y="4992623"/>
            <a:ext cx="5294376"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144768" y="5065775"/>
            <a:ext cx="5294376" cy="310896"/>
          </a:xfrm>
          <a:prstGeom prst="rect">
            <a:avLst/>
          </a:prstGeom>
          <a:noFill/>
        </p:spPr>
        <p:txBody>
          <a:bodyPr wrap="square" anchor="t" lIns="0" rIns="0" tIns="0" bIns="0">
            <a:noAutofit/>
          </a:bodyPr>
          <a:lstStyle/>
          <a:p>
            <a:pPr algn="l">
              <a:lnSpc>
                <a:spcPct val="112000"/>
              </a:lnSpc>
              <a:spcBef>
                <a:spcPts val="0"/>
              </a:spcBef>
              <a:spcAft>
                <a:spcPts val="0"/>
              </a:spcAft>
            </a:pPr>
            <a:r>
              <a:rPr sz="750" b="0" i="0" spc="120">
                <a:solidFill>
                  <a:srgbClr val="A8102F"/>
                </a:solidFill>
                <a:latin typeface="Consolas"/>
              </a:rPr>
              <a:t>FIG. 07  </a:t>
            </a:r>
            <a:r>
              <a:rPr sz="880" b="0" i="0">
                <a:solidFill>
                  <a:srgbClr val="5B5347"/>
                </a:solidFill>
                <a:latin typeface="Georgia"/>
              </a:rPr>
              <a:t>Odds ratios with 95% confidence intervals for early-match predictors.</a:t>
            </a:r>
          </a:p>
        </p:txBody>
      </p:sp>
    </p:spTree>
  </p:cSld>
  <p:clrMapOvr>
    <a:masterClrMapping/>
  </p:clrMapOvr>
  <p:transition spd="med">
    <p:push dir="u"/>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2E9"/>
        </a:solidFill>
        <a:effectLst/>
      </p:bgPr>
    </p:bg>
    <p:spTree>
      <p:nvGrpSpPr>
        <p:cNvPr id="1" name=""/>
        <p:cNvGrpSpPr/>
        <p:nvPr/>
      </p:nvGrpSpPr>
      <p:grpSpPr/>
      <p:sp>
        <p:nvSpPr>
          <p:cNvPr id="2" name="TextBox 1"/>
          <p:cNvSpPr txBox="1"/>
          <p:nvPr/>
        </p:nvSpPr>
        <p:spPr>
          <a:xfrm>
            <a:off x="658368" y="420624"/>
            <a:ext cx="5669280"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8C8375"/>
                </a:solidFill>
                <a:latin typeface="Consolas"/>
              </a:rPr>
              <a:t>05 · DATA ANALYSIS</a:t>
            </a:r>
          </a:p>
        </p:txBody>
      </p:sp>
      <p:sp>
        <p:nvSpPr>
          <p:cNvPr id="3" name="TextBox 2"/>
          <p:cNvSpPr txBox="1"/>
          <p:nvPr/>
        </p:nvSpPr>
        <p:spPr>
          <a:xfrm>
            <a:off x="6961327" y="420624"/>
            <a:ext cx="4572000" cy="274320"/>
          </a:xfrm>
          <a:prstGeom prst="rect">
            <a:avLst/>
          </a:prstGeom>
          <a:noFill/>
        </p:spPr>
        <p:txBody>
          <a:bodyPr wrap="square" anchor="t" lIns="0" rIns="0" tIns="0" bIns="0">
            <a:noAutofit/>
          </a:bodyPr>
          <a:lstStyle/>
          <a:p>
            <a:pPr algn="r">
              <a:spcBef>
                <a:spcPts val="0"/>
              </a:spcBef>
              <a:spcAft>
                <a:spcPts val="0"/>
              </a:spcAft>
            </a:pPr>
            <a:r>
              <a:rPr sz="850" b="0" i="0" spc="150">
                <a:solidFill>
                  <a:srgbClr val="8C8375"/>
                </a:solidFill>
                <a:latin typeface="Consolas"/>
              </a:rPr>
              <a:t>18 SEASONS · 15 FRANCHISES</a:t>
            </a:r>
          </a:p>
        </p:txBody>
      </p:sp>
      <p:sp>
        <p:nvSpPr>
          <p:cNvPr id="4" name="TextBox 3"/>
          <p:cNvSpPr txBox="1"/>
          <p:nvPr/>
        </p:nvSpPr>
        <p:spPr>
          <a:xfrm>
            <a:off x="658368" y="841248"/>
            <a:ext cx="5852160" cy="868680"/>
          </a:xfrm>
          <a:prstGeom prst="rect">
            <a:avLst/>
          </a:prstGeom>
          <a:noFill/>
        </p:spPr>
        <p:txBody>
          <a:bodyPr wrap="square" anchor="t" lIns="0" rIns="0" tIns="0" bIns="0">
            <a:noAutofit/>
          </a:bodyPr>
          <a:lstStyle/>
          <a:p>
            <a:pPr algn="l">
              <a:lnSpc>
                <a:spcPct val="102000"/>
              </a:lnSpc>
              <a:spcBef>
                <a:spcPts val="0"/>
              </a:spcBef>
              <a:spcAft>
                <a:spcPts val="0"/>
              </a:spcAft>
            </a:pPr>
            <a:r>
              <a:rPr sz="2500" b="0" i="0" spc="-30">
                <a:solidFill>
                  <a:srgbClr val="16130F"/>
                </a:solidFill>
                <a:latin typeface="Palatino Linotype"/>
              </a:rPr>
              <a:t>A fast start is not a habit that wins.</a:t>
            </a:r>
          </a:p>
        </p:txBody>
      </p:sp>
      <p:sp>
        <p:nvSpPr>
          <p:cNvPr id="5" name="TextBox 4"/>
          <p:cNvSpPr txBox="1"/>
          <p:nvPr/>
        </p:nvSpPr>
        <p:spPr>
          <a:xfrm>
            <a:off x="658368" y="1664208"/>
            <a:ext cx="4892040" cy="1463040"/>
          </a:xfrm>
          <a:prstGeom prst="rect">
            <a:avLst/>
          </a:prstGeom>
          <a:noFill/>
        </p:spPr>
        <p:txBody>
          <a:bodyPr wrap="square" anchor="t" lIns="0" rIns="0" tIns="0" bIns="0">
            <a:noAutofit/>
          </a:bodyPr>
          <a:lstStyle/>
          <a:p>
            <a:pPr algn="l">
              <a:lnSpc>
                <a:spcPct val="142000"/>
              </a:lnSpc>
              <a:spcBef>
                <a:spcPts val="0"/>
              </a:spcBef>
              <a:spcAft>
                <a:spcPts val="0"/>
              </a:spcAft>
            </a:pPr>
            <a:r>
              <a:rPr sz="1150" b="0" i="0">
                <a:solidFill>
                  <a:srgbClr val="5B5347"/>
                </a:solidFill>
                <a:latin typeface="Georgia"/>
              </a:rPr>
              <a:t>Teams with the same powerplay run rate convert it into wins at very different rates, and the gap moves season to season. Squad quality, venue and conditions sit behind both the start and the result — which is exactly why this study claims association, not cause.</a:t>
            </a:r>
          </a:p>
        </p:txBody>
      </p:sp>
      <p:cxnSp>
        <p:nvCxnSpPr>
          <p:cNvPr id="6" name="Connector 5"/>
          <p:cNvCxnSpPr/>
          <p:nvPr/>
        </p:nvCxnSpPr>
        <p:spPr>
          <a:xfrm>
            <a:off x="658368" y="3072384"/>
            <a:ext cx="4892039" cy="0"/>
          </a:xfrm>
          <a:prstGeom prst="line">
            <a:avLst/>
          </a:prstGeom>
          <a:ln w="9525">
            <a:solidFill>
              <a:srgbClr val="D9D1C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3255264"/>
            <a:ext cx="4892040" cy="1463040"/>
          </a:xfrm>
          <a:prstGeom prst="rect">
            <a:avLst/>
          </a:prstGeom>
          <a:noFill/>
        </p:spPr>
        <p:txBody>
          <a:bodyPr wrap="square" anchor="t" lIns="0" rIns="0" tIns="0" bIns="0">
            <a:noAutofit/>
          </a:bodyPr>
          <a:lstStyle/>
          <a:p>
            <a:pPr algn="l">
              <a:spcBef>
                <a:spcPts val="0"/>
              </a:spcBef>
              <a:spcAft>
                <a:spcPts val="0"/>
              </a:spcAft>
            </a:pPr>
            <a:r>
              <a:rPr sz="850" b="0" i="0" spc="140">
                <a:solidFill>
                  <a:srgbClr val="A8102F"/>
                </a:solidFill>
                <a:latin typeface="Consolas"/>
              </a:rPr>
              <a:t>CONTEXT WORTH NAMING</a:t>
            </a:r>
          </a:p>
          <a:p>
            <a:pPr algn="l">
              <a:lnSpc>
                <a:spcPct val="136000"/>
              </a:lnSpc>
              <a:spcBef>
                <a:spcPts val="400"/>
              </a:spcBef>
              <a:spcAft>
                <a:spcPts val="0"/>
              </a:spcAft>
            </a:pPr>
            <a:r>
              <a:rPr sz="1100" b="0" i="0">
                <a:solidFill>
                  <a:srgbClr val="5B5347"/>
                </a:solidFill>
                <a:latin typeface="Georgia"/>
              </a:rPr>
              <a:t>Sixty venues, rule changes after 2015, and franchise reshuffles across eighteen seasons all feed into the spread beside you.</a:t>
            </a:r>
          </a:p>
        </p:txBody>
      </p:sp>
      <p:sp>
        <p:nvSpPr>
          <p:cNvPr id="8" name="Rectangle 7"/>
          <p:cNvSpPr/>
          <p:nvPr/>
        </p:nvSpPr>
        <p:spPr>
          <a:xfrm>
            <a:off x="6053328" y="969264"/>
            <a:ext cx="5477256" cy="43990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53328" y="969264"/>
            <a:ext cx="5477256" cy="4399095"/>
          </a:xfrm>
          <a:prstGeom prst="rect">
            <a:avLst/>
          </a:prstGeom>
          <a:noFill/>
          <a:ln w="9525">
            <a:solidFill>
              <a:srgbClr val="D9D1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6_team_season_trends.png"/>
          <p:cNvPicPr>
            <a:picLocks noChangeAspect="1"/>
          </p:cNvPicPr>
          <p:nvPr/>
        </p:nvPicPr>
        <p:blipFill>
          <a:blip r:embed="rId2"/>
          <a:stretch>
            <a:fillRect/>
          </a:stretch>
        </p:blipFill>
        <p:spPr>
          <a:xfrm>
            <a:off x="6144768" y="1060704"/>
            <a:ext cx="5294376" cy="3850455"/>
          </a:xfrm>
          <a:prstGeom prst="rect">
            <a:avLst/>
          </a:prstGeom>
        </p:spPr>
      </p:pic>
      <p:cxnSp>
        <p:nvCxnSpPr>
          <p:cNvPr id="11" name="Connector 10"/>
          <p:cNvCxnSpPr/>
          <p:nvPr/>
        </p:nvCxnSpPr>
        <p:spPr>
          <a:xfrm>
            <a:off x="6144768" y="4984311"/>
            <a:ext cx="5294376"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144768" y="5057463"/>
            <a:ext cx="5294376" cy="310896"/>
          </a:xfrm>
          <a:prstGeom prst="rect">
            <a:avLst/>
          </a:prstGeom>
          <a:noFill/>
        </p:spPr>
        <p:txBody>
          <a:bodyPr wrap="square" anchor="t" lIns="0" rIns="0" tIns="0" bIns="0">
            <a:noAutofit/>
          </a:bodyPr>
          <a:lstStyle/>
          <a:p>
            <a:pPr algn="l">
              <a:lnSpc>
                <a:spcPct val="112000"/>
              </a:lnSpc>
              <a:spcBef>
                <a:spcPts val="0"/>
              </a:spcBef>
              <a:spcAft>
                <a:spcPts val="0"/>
              </a:spcAft>
            </a:pPr>
            <a:r>
              <a:rPr sz="750" b="0" i="0" spc="120">
                <a:solidFill>
                  <a:srgbClr val="A8102F"/>
                </a:solidFill>
                <a:latin typeface="Consolas"/>
              </a:rPr>
              <a:t>FIG. 06  </a:t>
            </a:r>
            <a:r>
              <a:rPr sz="880" b="0" i="0">
                <a:solidFill>
                  <a:srgbClr val="5B5347"/>
                </a:solidFill>
                <a:latin typeface="Georgia"/>
              </a:rPr>
              <a:t>Powerplay run rate and win rate by team and season.</a:t>
            </a:r>
          </a:p>
        </p:txBody>
      </p:sp>
    </p:spTree>
  </p:cSld>
  <p:clrMapOvr>
    <a:masterClrMapping/>
  </p:clrMapOvr>
  <p:transition spd="med">
    <p:push dir="u"/>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6130F"/>
        </a:solidFill>
        <a:effectLst/>
      </p:bgPr>
    </p:bg>
    <p:spTree>
      <p:nvGrpSpPr>
        <p:cNvPr id="1" name=""/>
        <p:cNvGrpSpPr/>
        <p:nvPr/>
      </p:nvGrpSpPr>
      <p:grpSpPr/>
      <p:sp>
        <p:nvSpPr>
          <p:cNvPr id="2" name="TextBox 1"/>
          <p:cNvSpPr txBox="1"/>
          <p:nvPr/>
        </p:nvSpPr>
        <p:spPr>
          <a:xfrm>
            <a:off x="658368" y="1005840"/>
            <a:ext cx="2926080" cy="3108960"/>
          </a:xfrm>
          <a:prstGeom prst="rect">
            <a:avLst/>
          </a:prstGeom>
          <a:noFill/>
        </p:spPr>
        <p:txBody>
          <a:bodyPr wrap="square" anchor="t" lIns="0" rIns="0" tIns="0" bIns="0">
            <a:noAutofit/>
          </a:bodyPr>
          <a:lstStyle/>
          <a:p>
            <a:pPr algn="l">
              <a:spcBef>
                <a:spcPts val="0"/>
              </a:spcBef>
              <a:spcAft>
                <a:spcPts val="0"/>
              </a:spcAft>
            </a:pPr>
            <a:r>
              <a:rPr sz="15000" b="0" i="0" spc="-600">
                <a:ln w="20000">
                  <a:solidFill>
                    <a:srgbClr val="F6F2E9">
                      <a:alpha val="42000"/>
                    </a:srgbClr>
                  </a:solidFill>
                </a:ln>
                <a:noFill/>
                <a:latin typeface="Palatino Linotype"/>
              </a:rPr>
              <a:t>06</a:t>
            </a:r>
          </a:p>
        </p:txBody>
      </p:sp>
      <p:cxnSp>
        <p:nvCxnSpPr>
          <p:cNvPr id="3" name="Connector 2"/>
          <p:cNvCxnSpPr/>
          <p:nvPr/>
        </p:nvCxnSpPr>
        <p:spPr>
          <a:xfrm>
            <a:off x="3310128" y="2103120"/>
            <a:ext cx="1809103" cy="0"/>
          </a:xfrm>
          <a:prstGeom prst="line">
            <a:avLst/>
          </a:prstGeom>
          <a:ln w="13970">
            <a:solidFill>
              <a:srgbClr val="B9B1A1"/>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3310128" y="2304288"/>
            <a:ext cx="8223199"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E8A2B3"/>
                </a:solidFill>
                <a:latin typeface="Consolas"/>
              </a:rPr>
              <a:t>SECTION 06</a:t>
            </a:r>
          </a:p>
        </p:txBody>
      </p:sp>
      <p:sp>
        <p:nvSpPr>
          <p:cNvPr id="5" name="TextBox 4"/>
          <p:cNvSpPr txBox="1"/>
          <p:nvPr/>
        </p:nvSpPr>
        <p:spPr>
          <a:xfrm>
            <a:off x="3310128" y="2670048"/>
            <a:ext cx="8223199" cy="914400"/>
          </a:xfrm>
          <a:prstGeom prst="rect">
            <a:avLst/>
          </a:prstGeom>
          <a:noFill/>
        </p:spPr>
        <p:txBody>
          <a:bodyPr wrap="square" anchor="t" lIns="0" rIns="0" tIns="0" bIns="0">
            <a:noAutofit/>
          </a:bodyPr>
          <a:lstStyle/>
          <a:p>
            <a:pPr algn="l">
              <a:lnSpc>
                <a:spcPct val="103000"/>
              </a:lnSpc>
              <a:spcBef>
                <a:spcPts val="0"/>
              </a:spcBef>
              <a:spcAft>
                <a:spcPts val="0"/>
              </a:spcAft>
            </a:pPr>
            <a:r>
              <a:rPr sz="4000" b="0" i="0" spc="-60">
                <a:solidFill>
                  <a:srgbClr val="F6F2E9"/>
                </a:solidFill>
                <a:latin typeface="Palatino Linotype"/>
              </a:rPr>
              <a:t>Conclusion</a:t>
            </a:r>
          </a:p>
        </p:txBody>
      </p:sp>
      <p:sp>
        <p:nvSpPr>
          <p:cNvPr id="6" name="TextBox 5"/>
          <p:cNvSpPr txBox="1"/>
          <p:nvPr/>
        </p:nvSpPr>
        <p:spPr>
          <a:xfrm>
            <a:off x="3310128" y="3639312"/>
            <a:ext cx="7071951" cy="1005840"/>
          </a:xfrm>
          <a:prstGeom prst="rect">
            <a:avLst/>
          </a:prstGeom>
          <a:noFill/>
        </p:spPr>
        <p:txBody>
          <a:bodyPr wrap="square" anchor="t" lIns="0" rIns="0" tIns="0" bIns="0">
            <a:noAutofit/>
          </a:bodyPr>
          <a:lstStyle/>
          <a:p>
            <a:pPr algn="l">
              <a:lnSpc>
                <a:spcPct val="135000"/>
              </a:lnSpc>
              <a:spcBef>
                <a:spcPts val="0"/>
              </a:spcBef>
              <a:spcAft>
                <a:spcPts val="0"/>
              </a:spcAft>
            </a:pPr>
            <a:r>
              <a:rPr sz="1250" b="0" i="0">
                <a:solidFill>
                  <a:srgbClr val="B9B1A1"/>
                </a:solidFill>
                <a:latin typeface="Georgia"/>
              </a:rPr>
              <a:t>What the tests actually license us to say — and what they do not.</a:t>
            </a:r>
          </a:p>
        </p:txBody>
      </p:sp>
      <p:sp>
        <p:nvSpPr>
          <p:cNvPr id="7" name="TextBox 6"/>
          <p:cNvSpPr txBox="1"/>
          <p:nvPr/>
        </p:nvSpPr>
        <p:spPr>
          <a:xfrm>
            <a:off x="8790127" y="6227064"/>
            <a:ext cx="2743200" cy="256032"/>
          </a:xfrm>
          <a:prstGeom prst="rect">
            <a:avLst/>
          </a:prstGeom>
          <a:noFill/>
        </p:spPr>
        <p:txBody>
          <a:bodyPr wrap="square" anchor="t" lIns="0" rIns="0" tIns="0" bIns="0">
            <a:noAutofit/>
          </a:bodyPr>
          <a:lstStyle/>
          <a:p>
            <a:pPr algn="r">
              <a:spcBef>
                <a:spcPts val="0"/>
              </a:spcBef>
              <a:spcAft>
                <a:spcPts val="0"/>
              </a:spcAft>
            </a:pPr>
            <a:r>
              <a:rPr sz="850" b="0" i="0" spc="150">
                <a:solidFill>
                  <a:srgbClr val="6E6659"/>
                </a:solidFill>
                <a:latin typeface="Consolas"/>
              </a:rPr>
              <a:t>06 · CONCLUSION</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6F2E9"/>
        </a:solidFill>
        <a:effectLst/>
      </p:bgPr>
    </p:bg>
    <p:spTree>
      <p:nvGrpSpPr>
        <p:cNvPr id="1" name=""/>
        <p:cNvGrpSpPr/>
        <p:nvPr/>
      </p:nvGrpSpPr>
      <p:grpSpPr/>
      <p:sp>
        <p:nvSpPr>
          <p:cNvPr id="2" name="TextBox 1"/>
          <p:cNvSpPr txBox="1"/>
          <p:nvPr/>
        </p:nvSpPr>
        <p:spPr>
          <a:xfrm>
            <a:off x="658368" y="420624"/>
            <a:ext cx="5669280"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8C8375"/>
                </a:solidFill>
                <a:latin typeface="Consolas"/>
              </a:rPr>
              <a:t>06 · CONCLUSION</a:t>
            </a:r>
          </a:p>
        </p:txBody>
      </p:sp>
      <p:sp>
        <p:nvSpPr>
          <p:cNvPr id="3" name="TextBox 2"/>
          <p:cNvSpPr txBox="1"/>
          <p:nvPr/>
        </p:nvSpPr>
        <p:spPr>
          <a:xfrm>
            <a:off x="6961327" y="420624"/>
            <a:ext cx="4572000" cy="274320"/>
          </a:xfrm>
          <a:prstGeom prst="rect">
            <a:avLst/>
          </a:prstGeom>
          <a:noFill/>
        </p:spPr>
        <p:txBody>
          <a:bodyPr wrap="square" anchor="t" lIns="0" rIns="0" tIns="0" bIns="0">
            <a:noAutofit/>
          </a:bodyPr>
          <a:lstStyle/>
          <a:p>
            <a:pPr algn="r">
              <a:spcBef>
                <a:spcPts val="0"/>
              </a:spcBef>
              <a:spcAft>
                <a:spcPts val="0"/>
              </a:spcAft>
            </a:pPr>
            <a:r>
              <a:rPr sz="850" b="0" i="0" spc="150">
                <a:solidFill>
                  <a:srgbClr val="8C8375"/>
                </a:solidFill>
                <a:latin typeface="Consolas"/>
              </a:rPr>
              <a:t>SIX ANSWERS</a:t>
            </a:r>
          </a:p>
        </p:txBody>
      </p:sp>
      <p:sp>
        <p:nvSpPr>
          <p:cNvPr id="4" name="TextBox 3"/>
          <p:cNvSpPr txBox="1"/>
          <p:nvPr/>
        </p:nvSpPr>
        <p:spPr>
          <a:xfrm>
            <a:off x="658368" y="822960"/>
            <a:ext cx="10874959" cy="868680"/>
          </a:xfrm>
          <a:prstGeom prst="rect">
            <a:avLst/>
          </a:prstGeom>
          <a:noFill/>
        </p:spPr>
        <p:txBody>
          <a:bodyPr wrap="square" anchor="t" lIns="0" rIns="0" tIns="0" bIns="0">
            <a:noAutofit/>
          </a:bodyPr>
          <a:lstStyle/>
          <a:p>
            <a:pPr algn="l">
              <a:lnSpc>
                <a:spcPct val="102000"/>
              </a:lnSpc>
              <a:spcBef>
                <a:spcPts val="0"/>
              </a:spcBef>
              <a:spcAft>
                <a:spcPts val="0"/>
              </a:spcAft>
            </a:pPr>
            <a:r>
              <a:rPr sz="2400" b="0" i="0" spc="-30">
                <a:solidFill>
                  <a:srgbClr val="16130F"/>
                </a:solidFill>
                <a:latin typeface="Palatino Linotype"/>
              </a:rPr>
              <a:t>Answers, in the order the questions were asked.</a:t>
            </a:r>
          </a:p>
        </p:txBody>
      </p:sp>
      <p:cxnSp>
        <p:nvCxnSpPr>
          <p:cNvPr id="5" name="Connector 4"/>
          <p:cNvCxnSpPr/>
          <p:nvPr/>
        </p:nvCxnSpPr>
        <p:spPr>
          <a:xfrm>
            <a:off x="658368" y="1572768"/>
            <a:ext cx="10874959" cy="0"/>
          </a:xfrm>
          <a:prstGeom prst="line">
            <a:avLst/>
          </a:prstGeom>
          <a:ln w="13970">
            <a:solidFill>
              <a:srgbClr val="16130F"/>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1664208"/>
            <a:ext cx="3914985" cy="274320"/>
          </a:xfrm>
          <a:prstGeom prst="rect">
            <a:avLst/>
          </a:prstGeom>
          <a:noFill/>
        </p:spPr>
        <p:txBody>
          <a:bodyPr wrap="square" anchor="t" lIns="0" rIns="0" tIns="0" bIns="0">
            <a:noAutofit/>
          </a:bodyPr>
          <a:lstStyle/>
          <a:p>
            <a:pPr algn="l">
              <a:spcBef>
                <a:spcPts val="0"/>
              </a:spcBef>
              <a:spcAft>
                <a:spcPts val="0"/>
              </a:spcAft>
            </a:pPr>
            <a:r>
              <a:rPr sz="1100" b="0" i="0">
                <a:solidFill>
                  <a:srgbClr val="5B5347"/>
                </a:solidFill>
                <a:latin typeface="Georgia"/>
              </a:rPr>
              <a:t>RQ1 · Win after the toss</a:t>
            </a:r>
          </a:p>
        </p:txBody>
      </p:sp>
      <p:sp>
        <p:nvSpPr>
          <p:cNvPr id="7" name="TextBox 6"/>
          <p:cNvSpPr txBox="1"/>
          <p:nvPr/>
        </p:nvSpPr>
        <p:spPr>
          <a:xfrm>
            <a:off x="4573353" y="1664208"/>
            <a:ext cx="4349983" cy="274320"/>
          </a:xfrm>
          <a:prstGeom prst="rect">
            <a:avLst/>
          </a:prstGeom>
          <a:noFill/>
        </p:spPr>
        <p:txBody>
          <a:bodyPr wrap="square" anchor="t" lIns="0" rIns="0" tIns="0" bIns="0">
            <a:noAutofit/>
          </a:bodyPr>
          <a:lstStyle/>
          <a:p>
            <a:pPr algn="l">
              <a:spcBef>
                <a:spcPts val="0"/>
              </a:spcBef>
              <a:spcAft>
                <a:spcPts val="0"/>
              </a:spcAft>
            </a:pPr>
            <a:r>
              <a:rPr sz="1100" b="0" i="0">
                <a:solidFill>
                  <a:srgbClr val="16130F"/>
                </a:solidFill>
                <a:latin typeface="Georgia"/>
              </a:rPr>
              <a:t>Marginal</a:t>
            </a:r>
          </a:p>
        </p:txBody>
      </p:sp>
      <p:sp>
        <p:nvSpPr>
          <p:cNvPr id="8" name="TextBox 7"/>
          <p:cNvSpPr txBox="1"/>
          <p:nvPr/>
        </p:nvSpPr>
        <p:spPr>
          <a:xfrm>
            <a:off x="8923336" y="1664208"/>
            <a:ext cx="2609990" cy="274320"/>
          </a:xfrm>
          <a:prstGeom prst="rect">
            <a:avLst/>
          </a:prstGeom>
          <a:noFill/>
        </p:spPr>
        <p:txBody>
          <a:bodyPr wrap="square" anchor="t" lIns="0" rIns="0" tIns="0" bIns="0">
            <a:noAutofit/>
          </a:bodyPr>
          <a:lstStyle/>
          <a:p>
            <a:pPr algn="r">
              <a:spcBef>
                <a:spcPts val="0"/>
              </a:spcBef>
              <a:spcAft>
                <a:spcPts val="0"/>
              </a:spcAft>
            </a:pPr>
            <a:r>
              <a:rPr sz="1100" b="0" i="0">
                <a:solidFill>
                  <a:srgbClr val="16130F"/>
                </a:solidFill>
                <a:latin typeface="Consolas"/>
              </a:rPr>
              <a:t>51.3% · CI 48.5–54.1</a:t>
            </a:r>
          </a:p>
        </p:txBody>
      </p:sp>
      <p:cxnSp>
        <p:nvCxnSpPr>
          <p:cNvPr id="9" name="Connector 8"/>
          <p:cNvCxnSpPr/>
          <p:nvPr/>
        </p:nvCxnSpPr>
        <p:spPr>
          <a:xfrm>
            <a:off x="658368" y="2066544"/>
            <a:ext cx="10874959"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8368" y="2157984"/>
            <a:ext cx="3914985" cy="274320"/>
          </a:xfrm>
          <a:prstGeom prst="rect">
            <a:avLst/>
          </a:prstGeom>
          <a:noFill/>
        </p:spPr>
        <p:txBody>
          <a:bodyPr wrap="square" anchor="t" lIns="0" rIns="0" tIns="0" bIns="0">
            <a:noAutofit/>
          </a:bodyPr>
          <a:lstStyle/>
          <a:p>
            <a:pPr algn="l">
              <a:spcBef>
                <a:spcPts val="0"/>
              </a:spcBef>
              <a:spcAft>
                <a:spcPts val="0"/>
              </a:spcAft>
            </a:pPr>
            <a:r>
              <a:rPr sz="1100" b="0" i="0">
                <a:solidFill>
                  <a:srgbClr val="5B5347"/>
                </a:solidFill>
                <a:latin typeface="Georgia"/>
              </a:rPr>
              <a:t>RQ2 · Toss independent of result</a:t>
            </a:r>
          </a:p>
        </p:txBody>
      </p:sp>
      <p:sp>
        <p:nvSpPr>
          <p:cNvPr id="11" name="TextBox 10"/>
          <p:cNvSpPr txBox="1"/>
          <p:nvPr/>
        </p:nvSpPr>
        <p:spPr>
          <a:xfrm>
            <a:off x="4573353" y="2157984"/>
            <a:ext cx="4349983" cy="274320"/>
          </a:xfrm>
          <a:prstGeom prst="rect">
            <a:avLst/>
          </a:prstGeom>
          <a:noFill/>
        </p:spPr>
        <p:txBody>
          <a:bodyPr wrap="square" anchor="t" lIns="0" rIns="0" tIns="0" bIns="0">
            <a:noAutofit/>
          </a:bodyPr>
          <a:lstStyle/>
          <a:p>
            <a:pPr algn="l">
              <a:spcBef>
                <a:spcPts val="0"/>
              </a:spcBef>
              <a:spcAft>
                <a:spcPts val="0"/>
              </a:spcAft>
            </a:pPr>
            <a:r>
              <a:rPr sz="1100" b="0" i="0">
                <a:solidFill>
                  <a:srgbClr val="16130F"/>
                </a:solidFill>
                <a:latin typeface="Georgia"/>
              </a:rPr>
              <a:t>No evidence of association</a:t>
            </a:r>
          </a:p>
        </p:txBody>
      </p:sp>
      <p:sp>
        <p:nvSpPr>
          <p:cNvPr id="12" name="TextBox 11"/>
          <p:cNvSpPr txBox="1"/>
          <p:nvPr/>
        </p:nvSpPr>
        <p:spPr>
          <a:xfrm>
            <a:off x="8923336" y="2157984"/>
            <a:ext cx="2609990" cy="274320"/>
          </a:xfrm>
          <a:prstGeom prst="rect">
            <a:avLst/>
          </a:prstGeom>
          <a:noFill/>
        </p:spPr>
        <p:txBody>
          <a:bodyPr wrap="square" anchor="t" lIns="0" rIns="0" tIns="0" bIns="0">
            <a:noAutofit/>
          </a:bodyPr>
          <a:lstStyle/>
          <a:p>
            <a:pPr algn="r">
              <a:spcBef>
                <a:spcPts val="0"/>
              </a:spcBef>
              <a:spcAft>
                <a:spcPts val="0"/>
              </a:spcAft>
            </a:pPr>
            <a:r>
              <a:rPr sz="1100" b="0" i="0">
                <a:solidFill>
                  <a:srgbClr val="16130F"/>
                </a:solidFill>
                <a:latin typeface="Consolas"/>
              </a:rPr>
              <a:t>p = 0.183</a:t>
            </a:r>
          </a:p>
        </p:txBody>
      </p:sp>
      <p:cxnSp>
        <p:nvCxnSpPr>
          <p:cNvPr id="13" name="Connector 12"/>
          <p:cNvCxnSpPr/>
          <p:nvPr/>
        </p:nvCxnSpPr>
        <p:spPr>
          <a:xfrm>
            <a:off x="658368" y="2560320"/>
            <a:ext cx="10874959"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58368" y="2651760"/>
            <a:ext cx="3914985" cy="274320"/>
          </a:xfrm>
          <a:prstGeom prst="rect">
            <a:avLst/>
          </a:prstGeom>
          <a:noFill/>
        </p:spPr>
        <p:txBody>
          <a:bodyPr wrap="square" anchor="t" lIns="0" rIns="0" tIns="0" bIns="0">
            <a:noAutofit/>
          </a:bodyPr>
          <a:lstStyle/>
          <a:p>
            <a:pPr algn="l">
              <a:spcBef>
                <a:spcPts val="0"/>
              </a:spcBef>
              <a:spcAft>
                <a:spcPts val="0"/>
              </a:spcAft>
            </a:pPr>
            <a:r>
              <a:rPr sz="1100" b="0" i="0">
                <a:solidFill>
                  <a:srgbClr val="5B5347"/>
                </a:solidFill>
                <a:latin typeface="Georgia"/>
              </a:rPr>
              <a:t>RQ3 · Winners score more</a:t>
            </a:r>
          </a:p>
        </p:txBody>
      </p:sp>
      <p:sp>
        <p:nvSpPr>
          <p:cNvPr id="15" name="TextBox 14"/>
          <p:cNvSpPr txBox="1"/>
          <p:nvPr/>
        </p:nvSpPr>
        <p:spPr>
          <a:xfrm>
            <a:off x="4573353" y="2651760"/>
            <a:ext cx="4349983" cy="274320"/>
          </a:xfrm>
          <a:prstGeom prst="rect">
            <a:avLst/>
          </a:prstGeom>
          <a:noFill/>
        </p:spPr>
        <p:txBody>
          <a:bodyPr wrap="square" anchor="t" lIns="0" rIns="0" tIns="0" bIns="0">
            <a:noAutofit/>
          </a:bodyPr>
          <a:lstStyle/>
          <a:p>
            <a:pPr algn="l">
              <a:spcBef>
                <a:spcPts val="0"/>
              </a:spcBef>
              <a:spcAft>
                <a:spcPts val="0"/>
              </a:spcAft>
            </a:pPr>
            <a:r>
              <a:rPr sz="1100" b="0" i="0">
                <a:solidFill>
                  <a:srgbClr val="16130F"/>
                </a:solidFill>
                <a:latin typeface="Georgia"/>
              </a:rPr>
              <a:t>Yes, narrowly</a:t>
            </a:r>
          </a:p>
        </p:txBody>
      </p:sp>
      <p:sp>
        <p:nvSpPr>
          <p:cNvPr id="16" name="TextBox 15"/>
          <p:cNvSpPr txBox="1"/>
          <p:nvPr/>
        </p:nvSpPr>
        <p:spPr>
          <a:xfrm>
            <a:off x="8923336" y="2651760"/>
            <a:ext cx="2609990" cy="274320"/>
          </a:xfrm>
          <a:prstGeom prst="rect">
            <a:avLst/>
          </a:prstGeom>
          <a:noFill/>
        </p:spPr>
        <p:txBody>
          <a:bodyPr wrap="square" anchor="t" lIns="0" rIns="0" tIns="0" bIns="0">
            <a:noAutofit/>
          </a:bodyPr>
          <a:lstStyle/>
          <a:p>
            <a:pPr algn="r">
              <a:spcBef>
                <a:spcPts val="0"/>
              </a:spcBef>
              <a:spcAft>
                <a:spcPts val="0"/>
              </a:spcAft>
            </a:pPr>
            <a:r>
              <a:rPr sz="1100" b="0" i="0">
                <a:solidFill>
                  <a:srgbClr val="16130F"/>
                </a:solidFill>
                <a:latin typeface="Consolas"/>
              </a:rPr>
              <a:t>51.4 vs 45.6 · p &lt; 0.001</a:t>
            </a:r>
          </a:p>
        </p:txBody>
      </p:sp>
      <p:cxnSp>
        <p:nvCxnSpPr>
          <p:cNvPr id="17" name="Connector 16"/>
          <p:cNvCxnSpPr/>
          <p:nvPr/>
        </p:nvCxnSpPr>
        <p:spPr>
          <a:xfrm>
            <a:off x="658368" y="3054096"/>
            <a:ext cx="10874959"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58368" y="3145536"/>
            <a:ext cx="3914985" cy="274320"/>
          </a:xfrm>
          <a:prstGeom prst="rect">
            <a:avLst/>
          </a:prstGeom>
          <a:noFill/>
        </p:spPr>
        <p:txBody>
          <a:bodyPr wrap="square" anchor="t" lIns="0" rIns="0" tIns="0" bIns="0">
            <a:noAutofit/>
          </a:bodyPr>
          <a:lstStyle/>
          <a:p>
            <a:pPr algn="l">
              <a:spcBef>
                <a:spcPts val="0"/>
              </a:spcBef>
              <a:spcAft>
                <a:spcPts val="0"/>
              </a:spcAft>
            </a:pPr>
            <a:r>
              <a:rPr sz="1100" b="0" i="0">
                <a:solidFill>
                  <a:srgbClr val="5B5347"/>
                </a:solidFill>
                <a:latin typeface="Georgia"/>
              </a:rPr>
              <a:t>RQ4 · Wickets Poisson</a:t>
            </a:r>
          </a:p>
        </p:txBody>
      </p:sp>
      <p:sp>
        <p:nvSpPr>
          <p:cNvPr id="19" name="TextBox 18"/>
          <p:cNvSpPr txBox="1"/>
          <p:nvPr/>
        </p:nvSpPr>
        <p:spPr>
          <a:xfrm>
            <a:off x="4573353" y="3145536"/>
            <a:ext cx="4349983" cy="274320"/>
          </a:xfrm>
          <a:prstGeom prst="rect">
            <a:avLst/>
          </a:prstGeom>
          <a:noFill/>
        </p:spPr>
        <p:txBody>
          <a:bodyPr wrap="square" anchor="t" lIns="0" rIns="0" tIns="0" bIns="0">
            <a:noAutofit/>
          </a:bodyPr>
          <a:lstStyle/>
          <a:p>
            <a:pPr algn="l">
              <a:spcBef>
                <a:spcPts val="0"/>
              </a:spcBef>
              <a:spcAft>
                <a:spcPts val="0"/>
              </a:spcAft>
            </a:pPr>
            <a:r>
              <a:rPr sz="1100" b="0" i="0">
                <a:solidFill>
                  <a:srgbClr val="16130F"/>
                </a:solidFill>
                <a:latin typeface="Georgia"/>
              </a:rPr>
              <a:t>No — thinner tails</a:t>
            </a:r>
          </a:p>
        </p:txBody>
      </p:sp>
      <p:sp>
        <p:nvSpPr>
          <p:cNvPr id="20" name="TextBox 19"/>
          <p:cNvSpPr txBox="1"/>
          <p:nvPr/>
        </p:nvSpPr>
        <p:spPr>
          <a:xfrm>
            <a:off x="8923336" y="3145536"/>
            <a:ext cx="2609990" cy="274320"/>
          </a:xfrm>
          <a:prstGeom prst="rect">
            <a:avLst/>
          </a:prstGeom>
          <a:noFill/>
        </p:spPr>
        <p:txBody>
          <a:bodyPr wrap="square" anchor="t" lIns="0" rIns="0" tIns="0" bIns="0">
            <a:noAutofit/>
          </a:bodyPr>
          <a:lstStyle/>
          <a:p>
            <a:pPr algn="r">
              <a:spcBef>
                <a:spcPts val="0"/>
              </a:spcBef>
              <a:spcAft>
                <a:spcPts val="0"/>
              </a:spcAft>
            </a:pPr>
            <a:r>
              <a:rPr sz="1100" b="0" i="0">
                <a:solidFill>
                  <a:srgbClr val="16130F"/>
                </a:solidFill>
                <a:latin typeface="Consolas"/>
              </a:rPr>
              <a:t>var 1.26 vs mean 1.44</a:t>
            </a:r>
          </a:p>
        </p:txBody>
      </p:sp>
      <p:cxnSp>
        <p:nvCxnSpPr>
          <p:cNvPr id="21" name="Connector 20"/>
          <p:cNvCxnSpPr/>
          <p:nvPr/>
        </p:nvCxnSpPr>
        <p:spPr>
          <a:xfrm>
            <a:off x="658368" y="3547872"/>
            <a:ext cx="10874959"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58368" y="3639312"/>
            <a:ext cx="3914985" cy="274320"/>
          </a:xfrm>
          <a:prstGeom prst="rect">
            <a:avLst/>
          </a:prstGeom>
          <a:noFill/>
        </p:spPr>
        <p:txBody>
          <a:bodyPr wrap="square" anchor="t" lIns="0" rIns="0" tIns="0" bIns="0">
            <a:noAutofit/>
          </a:bodyPr>
          <a:lstStyle/>
          <a:p>
            <a:pPr algn="l">
              <a:spcBef>
                <a:spcPts val="0"/>
              </a:spcBef>
              <a:spcAft>
                <a:spcPts val="0"/>
              </a:spcAft>
            </a:pPr>
            <a:r>
              <a:rPr sz="1100" b="0" i="0">
                <a:solidFill>
                  <a:srgbClr val="5B5347"/>
                </a:solidFill>
                <a:latin typeface="Georgia"/>
              </a:rPr>
              <a:t>RQ5 · Best early situation</a:t>
            </a:r>
          </a:p>
        </p:txBody>
      </p:sp>
      <p:sp>
        <p:nvSpPr>
          <p:cNvPr id="23" name="TextBox 22"/>
          <p:cNvSpPr txBox="1"/>
          <p:nvPr/>
        </p:nvSpPr>
        <p:spPr>
          <a:xfrm>
            <a:off x="4573353" y="3639312"/>
            <a:ext cx="4349983" cy="274320"/>
          </a:xfrm>
          <a:prstGeom prst="rect">
            <a:avLst/>
          </a:prstGeom>
          <a:noFill/>
        </p:spPr>
        <p:txBody>
          <a:bodyPr wrap="square" anchor="t" lIns="0" rIns="0" tIns="0" bIns="0">
            <a:noAutofit/>
          </a:bodyPr>
          <a:lstStyle/>
          <a:p>
            <a:pPr algn="l">
              <a:spcBef>
                <a:spcPts val="0"/>
              </a:spcBef>
              <a:spcAft>
                <a:spcPts val="0"/>
              </a:spcAft>
            </a:pPr>
            <a:r>
              <a:rPr sz="1100" b="0" i="0">
                <a:solidFill>
                  <a:srgbClr val="16130F"/>
                </a:solidFill>
                <a:latin typeface="Georgia"/>
              </a:rPr>
              <a:t>60+ runs, no wicket lost</a:t>
            </a:r>
          </a:p>
        </p:txBody>
      </p:sp>
      <p:sp>
        <p:nvSpPr>
          <p:cNvPr id="24" name="TextBox 23"/>
          <p:cNvSpPr txBox="1"/>
          <p:nvPr/>
        </p:nvSpPr>
        <p:spPr>
          <a:xfrm>
            <a:off x="8923336" y="3639312"/>
            <a:ext cx="2609990" cy="274320"/>
          </a:xfrm>
          <a:prstGeom prst="rect">
            <a:avLst/>
          </a:prstGeom>
          <a:noFill/>
        </p:spPr>
        <p:txBody>
          <a:bodyPr wrap="square" anchor="t" lIns="0" rIns="0" tIns="0" bIns="0">
            <a:noAutofit/>
          </a:bodyPr>
          <a:lstStyle/>
          <a:p>
            <a:pPr algn="r">
              <a:spcBef>
                <a:spcPts val="0"/>
              </a:spcBef>
              <a:spcAft>
                <a:spcPts val="0"/>
              </a:spcAft>
            </a:pPr>
            <a:r>
              <a:rPr sz="1100" b="0" i="0">
                <a:solidFill>
                  <a:srgbClr val="16130F"/>
                </a:solidFill>
                <a:latin typeface="Consolas"/>
              </a:rPr>
              <a:t>77.1% wins</a:t>
            </a:r>
          </a:p>
        </p:txBody>
      </p:sp>
      <p:cxnSp>
        <p:nvCxnSpPr>
          <p:cNvPr id="25" name="Connector 24"/>
          <p:cNvCxnSpPr/>
          <p:nvPr/>
        </p:nvCxnSpPr>
        <p:spPr>
          <a:xfrm>
            <a:off x="658368" y="4041648"/>
            <a:ext cx="10874959"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530352" y="4078224"/>
            <a:ext cx="11130991" cy="402336"/>
          </a:xfrm>
          <a:prstGeom prst="rect">
            <a:avLst/>
          </a:prstGeom>
          <a:solidFill>
            <a:srgbClr val="F1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4133088"/>
            <a:ext cx="3914985" cy="274320"/>
          </a:xfrm>
          <a:prstGeom prst="rect">
            <a:avLst/>
          </a:prstGeom>
          <a:noFill/>
        </p:spPr>
        <p:txBody>
          <a:bodyPr wrap="square" anchor="t" lIns="0" rIns="0" tIns="0" bIns="0">
            <a:noAutofit/>
          </a:bodyPr>
          <a:lstStyle/>
          <a:p>
            <a:pPr algn="l">
              <a:spcBef>
                <a:spcPts val="0"/>
              </a:spcBef>
              <a:spcAft>
                <a:spcPts val="0"/>
              </a:spcAft>
            </a:pPr>
            <a:r>
              <a:rPr sz="1100" b="0" i="0">
                <a:solidFill>
                  <a:srgbClr val="5B5347"/>
                </a:solidFill>
                <a:latin typeface="Georgia"/>
              </a:rPr>
              <a:t>RQ6 · Strongest early signal</a:t>
            </a:r>
          </a:p>
        </p:txBody>
      </p:sp>
      <p:sp>
        <p:nvSpPr>
          <p:cNvPr id="28" name="TextBox 27"/>
          <p:cNvSpPr txBox="1"/>
          <p:nvPr/>
        </p:nvSpPr>
        <p:spPr>
          <a:xfrm>
            <a:off x="4573353" y="4133088"/>
            <a:ext cx="4349983" cy="274320"/>
          </a:xfrm>
          <a:prstGeom prst="rect">
            <a:avLst/>
          </a:prstGeom>
          <a:noFill/>
        </p:spPr>
        <p:txBody>
          <a:bodyPr wrap="square" anchor="t" lIns="0" rIns="0" tIns="0" bIns="0">
            <a:noAutofit/>
          </a:bodyPr>
          <a:lstStyle/>
          <a:p>
            <a:pPr algn="l">
              <a:spcBef>
                <a:spcPts val="0"/>
              </a:spcBef>
              <a:spcAft>
                <a:spcPts val="0"/>
              </a:spcAft>
            </a:pPr>
            <a:r>
              <a:rPr sz="1100" b="1" i="0">
                <a:solidFill>
                  <a:srgbClr val="16130F"/>
                </a:solidFill>
                <a:latin typeface="Georgia"/>
              </a:rPr>
              <a:t>Wickets lost in the powerplay</a:t>
            </a:r>
          </a:p>
        </p:txBody>
      </p:sp>
      <p:sp>
        <p:nvSpPr>
          <p:cNvPr id="29" name="TextBox 28"/>
          <p:cNvSpPr txBox="1"/>
          <p:nvPr/>
        </p:nvSpPr>
        <p:spPr>
          <a:xfrm>
            <a:off x="8923336" y="4133088"/>
            <a:ext cx="2609990" cy="274320"/>
          </a:xfrm>
          <a:prstGeom prst="rect">
            <a:avLst/>
          </a:prstGeom>
          <a:noFill/>
        </p:spPr>
        <p:txBody>
          <a:bodyPr wrap="square" anchor="t" lIns="0" rIns="0" tIns="0" bIns="0">
            <a:noAutofit/>
          </a:bodyPr>
          <a:lstStyle/>
          <a:p>
            <a:pPr algn="r">
              <a:spcBef>
                <a:spcPts val="0"/>
              </a:spcBef>
              <a:spcAft>
                <a:spcPts val="0"/>
              </a:spcAft>
            </a:pPr>
            <a:r>
              <a:rPr sz="1100" b="0" i="0">
                <a:solidFill>
                  <a:srgbClr val="A8102F"/>
                </a:solidFill>
                <a:latin typeface="Consolas"/>
              </a:rPr>
              <a:t>OR 0.60</a:t>
            </a:r>
          </a:p>
        </p:txBody>
      </p:sp>
      <p:cxnSp>
        <p:nvCxnSpPr>
          <p:cNvPr id="30" name="Connector 29"/>
          <p:cNvCxnSpPr/>
          <p:nvPr/>
        </p:nvCxnSpPr>
        <p:spPr>
          <a:xfrm>
            <a:off x="658368" y="4535424"/>
            <a:ext cx="10874959" cy="0"/>
          </a:xfrm>
          <a:prstGeom prst="line">
            <a:avLst/>
          </a:prstGeom>
          <a:ln w="7620">
            <a:solidFill>
              <a:srgbClr val="E7E0D2"/>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58368" y="4700016"/>
            <a:ext cx="10874959" cy="0"/>
          </a:xfrm>
          <a:prstGeom prst="line">
            <a:avLst/>
          </a:prstGeom>
          <a:ln w="13970">
            <a:solidFill>
              <a:srgbClr val="16130F"/>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58368" y="4864608"/>
            <a:ext cx="10874959" cy="914400"/>
          </a:xfrm>
          <a:prstGeom prst="rect">
            <a:avLst/>
          </a:prstGeom>
          <a:noFill/>
        </p:spPr>
        <p:txBody>
          <a:bodyPr wrap="square" anchor="t" lIns="0" rIns="0" tIns="0" bIns="0">
            <a:noAutofit/>
          </a:bodyPr>
          <a:lstStyle/>
          <a:p>
            <a:pPr algn="l">
              <a:spcBef>
                <a:spcPts val="0"/>
              </a:spcBef>
              <a:spcAft>
                <a:spcPts val="0"/>
              </a:spcAft>
            </a:pPr>
            <a:r>
              <a:rPr sz="850" b="0" i="0" spc="140">
                <a:solidFill>
                  <a:srgbClr val="A8102F"/>
                </a:solidFill>
                <a:latin typeface="Consolas"/>
              </a:rPr>
              <a:t>VERDICT</a:t>
            </a:r>
          </a:p>
          <a:p>
            <a:pPr algn="l">
              <a:lnSpc>
                <a:spcPct val="136000"/>
              </a:lnSpc>
              <a:spcBef>
                <a:spcPts val="400"/>
              </a:spcBef>
              <a:spcAft>
                <a:spcPts val="0"/>
              </a:spcAft>
            </a:pPr>
            <a:r>
              <a:rPr sz="1300" b="0" i="0">
                <a:solidFill>
                  <a:srgbClr val="16130F"/>
                </a:solidFill>
                <a:latin typeface="Georgia"/>
              </a:rPr>
              <a:t>The toss is a small advantage at most. A strong, low-wicket powerplay is the clearer sign of an IPL win — and protecting wickets matters more than scoring quickly.</a:t>
            </a:r>
          </a:p>
        </p:txBody>
      </p:sp>
    </p:spTree>
  </p:cSld>
  <p:clrMapOvr>
    <a:masterClrMapping/>
  </p:clrMapOvr>
  <p:transition spd="med">
    <p:push dir="u"/>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6F2E9"/>
        </a:solidFill>
        <a:effectLst/>
      </p:bgPr>
    </p:bg>
    <p:spTree>
      <p:nvGrpSpPr>
        <p:cNvPr id="1" name=""/>
        <p:cNvGrpSpPr/>
        <p:nvPr/>
      </p:nvGrpSpPr>
      <p:grpSpPr/>
      <p:sp>
        <p:nvSpPr>
          <p:cNvPr id="2" name="TextBox 1"/>
          <p:cNvSpPr txBox="1"/>
          <p:nvPr/>
        </p:nvSpPr>
        <p:spPr>
          <a:xfrm>
            <a:off x="658368" y="420624"/>
            <a:ext cx="5669280"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8C8375"/>
                </a:solidFill>
                <a:latin typeface="Consolas"/>
              </a:rPr>
              <a:t>06 · CONCLUSION</a:t>
            </a:r>
          </a:p>
        </p:txBody>
      </p:sp>
      <p:sp>
        <p:nvSpPr>
          <p:cNvPr id="3" name="TextBox 2"/>
          <p:cNvSpPr txBox="1"/>
          <p:nvPr/>
        </p:nvSpPr>
        <p:spPr>
          <a:xfrm>
            <a:off x="6961327" y="420624"/>
            <a:ext cx="4572000" cy="274320"/>
          </a:xfrm>
          <a:prstGeom prst="rect">
            <a:avLst/>
          </a:prstGeom>
          <a:noFill/>
        </p:spPr>
        <p:txBody>
          <a:bodyPr wrap="square" anchor="t" lIns="0" rIns="0" tIns="0" bIns="0">
            <a:noAutofit/>
          </a:bodyPr>
          <a:lstStyle/>
          <a:p>
            <a:pPr algn="r">
              <a:spcBef>
                <a:spcPts val="0"/>
              </a:spcBef>
              <a:spcAft>
                <a:spcPts val="0"/>
              </a:spcAft>
            </a:pPr>
            <a:r>
              <a:rPr sz="850" b="0" i="0" spc="150">
                <a:solidFill>
                  <a:srgbClr val="8C8375"/>
                </a:solidFill>
                <a:latin typeface="Consolas"/>
              </a:rPr>
              <a:t>SCOPE &amp; LIMITS</a:t>
            </a:r>
          </a:p>
        </p:txBody>
      </p:sp>
      <p:sp>
        <p:nvSpPr>
          <p:cNvPr id="4" name="TextBox 3"/>
          <p:cNvSpPr txBox="1"/>
          <p:nvPr/>
        </p:nvSpPr>
        <p:spPr>
          <a:xfrm>
            <a:off x="658368" y="841248"/>
            <a:ext cx="5120640" cy="868680"/>
          </a:xfrm>
          <a:prstGeom prst="rect">
            <a:avLst/>
          </a:prstGeom>
          <a:noFill/>
        </p:spPr>
        <p:txBody>
          <a:bodyPr wrap="square" anchor="t" lIns="0" rIns="0" tIns="0" bIns="0">
            <a:noAutofit/>
          </a:bodyPr>
          <a:lstStyle/>
          <a:p>
            <a:pPr algn="l">
              <a:lnSpc>
                <a:spcPct val="102000"/>
              </a:lnSpc>
              <a:spcBef>
                <a:spcPts val="0"/>
              </a:spcBef>
              <a:spcAft>
                <a:spcPts val="0"/>
              </a:spcAft>
            </a:pPr>
            <a:r>
              <a:rPr sz="2500" b="0" i="0" spc="-30">
                <a:solidFill>
                  <a:srgbClr val="16130F"/>
                </a:solidFill>
                <a:latin typeface="Palatino Linotype"/>
              </a:rPr>
              <a:t>What this cannot tell you.</a:t>
            </a:r>
          </a:p>
        </p:txBody>
      </p:sp>
      <p:sp>
        <p:nvSpPr>
          <p:cNvPr id="5" name="TextBox 4"/>
          <p:cNvSpPr txBox="1"/>
          <p:nvPr/>
        </p:nvSpPr>
        <p:spPr>
          <a:xfrm>
            <a:off x="658368" y="1773936"/>
            <a:ext cx="1143000" cy="274320"/>
          </a:xfrm>
          <a:prstGeom prst="rect">
            <a:avLst/>
          </a:prstGeom>
          <a:noFill/>
        </p:spPr>
        <p:txBody>
          <a:bodyPr wrap="square" anchor="t" lIns="0" rIns="0" tIns="0" bIns="0">
            <a:noAutofit/>
          </a:bodyPr>
          <a:lstStyle/>
          <a:p>
            <a:pPr algn="l">
              <a:spcBef>
                <a:spcPts val="0"/>
              </a:spcBef>
              <a:spcAft>
                <a:spcPts val="0"/>
              </a:spcAft>
            </a:pPr>
            <a:r>
              <a:rPr sz="750" b="0" i="0" spc="120">
                <a:solidFill>
                  <a:srgbClr val="A8102F"/>
                </a:solidFill>
                <a:latin typeface="Consolas"/>
              </a:rPr>
              <a:t>CAUSALITY</a:t>
            </a:r>
          </a:p>
        </p:txBody>
      </p:sp>
      <p:sp>
        <p:nvSpPr>
          <p:cNvPr id="6" name="TextBox 5"/>
          <p:cNvSpPr txBox="1"/>
          <p:nvPr/>
        </p:nvSpPr>
        <p:spPr>
          <a:xfrm>
            <a:off x="1883664" y="1755648"/>
            <a:ext cx="4617720" cy="685800"/>
          </a:xfrm>
          <a:prstGeom prst="rect">
            <a:avLst/>
          </a:prstGeom>
          <a:noFill/>
        </p:spPr>
        <p:txBody>
          <a:bodyPr wrap="square" anchor="t" lIns="0" rIns="0" tIns="0" bIns="0">
            <a:noAutofit/>
          </a:bodyPr>
          <a:lstStyle/>
          <a:p>
            <a:pPr algn="l">
              <a:lnSpc>
                <a:spcPct val="132000"/>
              </a:lnSpc>
              <a:spcBef>
                <a:spcPts val="0"/>
              </a:spcBef>
              <a:spcAft>
                <a:spcPts val="0"/>
              </a:spcAft>
            </a:pPr>
            <a:r>
              <a:rPr sz="1100" b="0" i="0">
                <a:solidFill>
                  <a:srgbClr val="5B5347"/>
                </a:solidFill>
                <a:latin typeface="Georgia"/>
              </a:rPr>
              <a:t>Observational data. Stronger squads produce both good powerplays and wins.</a:t>
            </a:r>
          </a:p>
        </p:txBody>
      </p:sp>
      <p:sp>
        <p:nvSpPr>
          <p:cNvPr id="7" name="TextBox 6"/>
          <p:cNvSpPr txBox="1"/>
          <p:nvPr/>
        </p:nvSpPr>
        <p:spPr>
          <a:xfrm>
            <a:off x="658368" y="2505456"/>
            <a:ext cx="1143000" cy="274320"/>
          </a:xfrm>
          <a:prstGeom prst="rect">
            <a:avLst/>
          </a:prstGeom>
          <a:noFill/>
        </p:spPr>
        <p:txBody>
          <a:bodyPr wrap="square" anchor="t" lIns="0" rIns="0" tIns="0" bIns="0">
            <a:noAutofit/>
          </a:bodyPr>
          <a:lstStyle/>
          <a:p>
            <a:pPr algn="l">
              <a:spcBef>
                <a:spcPts val="0"/>
              </a:spcBef>
              <a:spcAft>
                <a:spcPts val="0"/>
              </a:spcAft>
            </a:pPr>
            <a:r>
              <a:rPr sz="750" b="0" i="0" spc="120">
                <a:solidFill>
                  <a:srgbClr val="A8102F"/>
                </a:solidFill>
                <a:latin typeface="Consolas"/>
              </a:rPr>
              <a:t>CONFOUNDERS</a:t>
            </a:r>
          </a:p>
        </p:txBody>
      </p:sp>
      <p:sp>
        <p:nvSpPr>
          <p:cNvPr id="8" name="TextBox 7"/>
          <p:cNvSpPr txBox="1"/>
          <p:nvPr/>
        </p:nvSpPr>
        <p:spPr>
          <a:xfrm>
            <a:off x="1883664" y="2487168"/>
            <a:ext cx="4617720" cy="685800"/>
          </a:xfrm>
          <a:prstGeom prst="rect">
            <a:avLst/>
          </a:prstGeom>
          <a:noFill/>
        </p:spPr>
        <p:txBody>
          <a:bodyPr wrap="square" anchor="t" lIns="0" rIns="0" tIns="0" bIns="0">
            <a:noAutofit/>
          </a:bodyPr>
          <a:lstStyle/>
          <a:p>
            <a:pPr algn="l">
              <a:lnSpc>
                <a:spcPct val="132000"/>
              </a:lnSpc>
              <a:spcBef>
                <a:spcPts val="0"/>
              </a:spcBef>
              <a:spcAft>
                <a:spcPts val="0"/>
              </a:spcAft>
            </a:pPr>
            <a:r>
              <a:rPr sz="1100" b="0" i="0">
                <a:solidFill>
                  <a:srgbClr val="5B5347"/>
                </a:solidFill>
                <a:latin typeface="Georgia"/>
              </a:rPr>
              <a:t>Opposition, venue, pitch, weather, season and rule changes are unmodelled.</a:t>
            </a:r>
          </a:p>
        </p:txBody>
      </p:sp>
      <p:sp>
        <p:nvSpPr>
          <p:cNvPr id="9" name="TextBox 8"/>
          <p:cNvSpPr txBox="1"/>
          <p:nvPr/>
        </p:nvSpPr>
        <p:spPr>
          <a:xfrm>
            <a:off x="658368" y="3236976"/>
            <a:ext cx="1143000" cy="274320"/>
          </a:xfrm>
          <a:prstGeom prst="rect">
            <a:avLst/>
          </a:prstGeom>
          <a:noFill/>
        </p:spPr>
        <p:txBody>
          <a:bodyPr wrap="square" anchor="t" lIns="0" rIns="0" tIns="0" bIns="0">
            <a:noAutofit/>
          </a:bodyPr>
          <a:lstStyle/>
          <a:p>
            <a:pPr algn="l">
              <a:spcBef>
                <a:spcPts val="0"/>
              </a:spcBef>
              <a:spcAft>
                <a:spcPts val="0"/>
              </a:spcAft>
            </a:pPr>
            <a:r>
              <a:rPr sz="750" b="0" i="0" spc="120">
                <a:solidFill>
                  <a:srgbClr val="A8102F"/>
                </a:solidFill>
                <a:latin typeface="Consolas"/>
              </a:rPr>
              <a:t>REVERSE PATH</a:t>
            </a:r>
          </a:p>
        </p:txBody>
      </p:sp>
      <p:sp>
        <p:nvSpPr>
          <p:cNvPr id="10" name="TextBox 9"/>
          <p:cNvSpPr txBox="1"/>
          <p:nvPr/>
        </p:nvSpPr>
        <p:spPr>
          <a:xfrm>
            <a:off x="1883664" y="3218688"/>
            <a:ext cx="4617720" cy="685800"/>
          </a:xfrm>
          <a:prstGeom prst="rect">
            <a:avLst/>
          </a:prstGeom>
          <a:noFill/>
        </p:spPr>
        <p:txBody>
          <a:bodyPr wrap="square" anchor="t" lIns="0" rIns="0" tIns="0" bIns="0">
            <a:noAutofit/>
          </a:bodyPr>
          <a:lstStyle/>
          <a:p>
            <a:pPr algn="l">
              <a:lnSpc>
                <a:spcPct val="132000"/>
              </a:lnSpc>
              <a:spcBef>
                <a:spcPts val="0"/>
              </a:spcBef>
              <a:spcAft>
                <a:spcPts val="0"/>
              </a:spcAft>
            </a:pPr>
            <a:r>
              <a:rPr sz="1100" b="0" i="0">
                <a:solidFill>
                  <a:srgbClr val="5B5347"/>
                </a:solidFill>
                <a:latin typeface="Georgia"/>
              </a:rPr>
              <a:t>Teams already ahead may bat conservatively — low wickets can be a consequence of winning, not only a cause.</a:t>
            </a:r>
          </a:p>
        </p:txBody>
      </p:sp>
      <p:sp>
        <p:nvSpPr>
          <p:cNvPr id="11" name="TextBox 10"/>
          <p:cNvSpPr txBox="1"/>
          <p:nvPr/>
        </p:nvSpPr>
        <p:spPr>
          <a:xfrm>
            <a:off x="658368" y="3968496"/>
            <a:ext cx="1143000" cy="274320"/>
          </a:xfrm>
          <a:prstGeom prst="rect">
            <a:avLst/>
          </a:prstGeom>
          <a:noFill/>
        </p:spPr>
        <p:txBody>
          <a:bodyPr wrap="square" anchor="t" lIns="0" rIns="0" tIns="0" bIns="0">
            <a:noAutofit/>
          </a:bodyPr>
          <a:lstStyle/>
          <a:p>
            <a:pPr algn="l">
              <a:spcBef>
                <a:spcPts val="0"/>
              </a:spcBef>
              <a:spcAft>
                <a:spcPts val="0"/>
              </a:spcAft>
            </a:pPr>
            <a:r>
              <a:rPr sz="750" b="0" i="0" spc="120">
                <a:solidFill>
                  <a:srgbClr val="A8102F"/>
                </a:solidFill>
                <a:latin typeface="Consolas"/>
              </a:rPr>
              <a:t>GENERALISABILITY</a:t>
            </a:r>
          </a:p>
        </p:txBody>
      </p:sp>
      <p:sp>
        <p:nvSpPr>
          <p:cNvPr id="12" name="TextBox 11"/>
          <p:cNvSpPr txBox="1"/>
          <p:nvPr/>
        </p:nvSpPr>
        <p:spPr>
          <a:xfrm>
            <a:off x="1883664" y="3950208"/>
            <a:ext cx="4617720" cy="685800"/>
          </a:xfrm>
          <a:prstGeom prst="rect">
            <a:avLst/>
          </a:prstGeom>
          <a:noFill/>
        </p:spPr>
        <p:txBody>
          <a:bodyPr wrap="square" anchor="t" lIns="0" rIns="0" tIns="0" bIns="0">
            <a:noAutofit/>
          </a:bodyPr>
          <a:lstStyle/>
          <a:p>
            <a:pPr algn="l">
              <a:lnSpc>
                <a:spcPct val="132000"/>
              </a:lnSpc>
              <a:spcBef>
                <a:spcPts val="0"/>
              </a:spcBef>
              <a:spcAft>
                <a:spcPts val="0"/>
              </a:spcAft>
            </a:pPr>
            <a:r>
              <a:rPr sz="1100" b="0" i="0">
                <a:solidFill>
                  <a:srgbClr val="5B5347"/>
                </a:solidFill>
                <a:latin typeface="Georgia"/>
              </a:rPr>
              <a:t>IPL only. These numbers should not be assumed for other T20 leagues or formats.</a:t>
            </a:r>
          </a:p>
        </p:txBody>
      </p:sp>
      <p:sp>
        <p:nvSpPr>
          <p:cNvPr id="13" name="Rectangle 12"/>
          <p:cNvSpPr/>
          <p:nvPr/>
        </p:nvSpPr>
        <p:spPr>
          <a:xfrm>
            <a:off x="6537960" y="1773936"/>
            <a:ext cx="4992624" cy="1700784"/>
          </a:xfrm>
          <a:prstGeom prst="rect">
            <a:avLst/>
          </a:prstGeom>
          <a:solidFill>
            <a:srgbClr val="F6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37960" y="1773936"/>
            <a:ext cx="4992624" cy="1700784"/>
          </a:xfrm>
          <a:prstGeom prst="rect">
            <a:avLst/>
          </a:prstGeom>
          <a:noFill/>
          <a:ln w="9525">
            <a:solidFill>
              <a:srgbClr val="D9D1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0" y="1975104"/>
            <a:ext cx="4535424" cy="1371600"/>
          </a:xfrm>
          <a:prstGeom prst="rect">
            <a:avLst/>
          </a:prstGeom>
          <a:noFill/>
        </p:spPr>
        <p:txBody>
          <a:bodyPr wrap="square" anchor="t" lIns="0" rIns="0" tIns="0" bIns="0">
            <a:noAutofit/>
          </a:bodyPr>
          <a:lstStyle/>
          <a:p>
            <a:pPr algn="l">
              <a:spcBef>
                <a:spcPts val="0"/>
              </a:spcBef>
              <a:spcAft>
                <a:spcPts val="0"/>
              </a:spcAft>
            </a:pPr>
            <a:r>
              <a:rPr sz="850" b="0" i="0" spc="150">
                <a:solidFill>
                  <a:srgbClr val="A8102F"/>
                </a:solidFill>
                <a:latin typeface="Consolas"/>
              </a:rPr>
              <a:t>HONEST HEADLINE</a:t>
            </a:r>
          </a:p>
          <a:p>
            <a:pPr algn="l">
              <a:lnSpc>
                <a:spcPct val="140000"/>
              </a:lnSpc>
              <a:spcBef>
                <a:spcPts val="800"/>
              </a:spcBef>
              <a:spcAft>
                <a:spcPts val="0"/>
              </a:spcAft>
            </a:pPr>
            <a:r>
              <a:rPr sz="1250" b="0" i="0">
                <a:solidFill>
                  <a:srgbClr val="16130F"/>
                </a:solidFill>
                <a:latin typeface="Georgia"/>
              </a:rPr>
              <a:t>The powerplay </a:t>
            </a:r>
            <a:r>
              <a:rPr sz="1250" b="0" i="1">
                <a:solidFill>
                  <a:srgbClr val="16130F"/>
                </a:solidFill>
                <a:latin typeface="Georgia"/>
              </a:rPr>
              <a:t>describes</a:t>
            </a:r>
            <a:r>
              <a:rPr sz="1250" b="0" i="0">
                <a:solidFill>
                  <a:srgbClr val="16130F"/>
                </a:solidFill>
                <a:latin typeface="Georgia"/>
              </a:rPr>
              <a:t> a winning team well. It does not prove the powerplay </a:t>
            </a:r>
            <a:r>
              <a:rPr sz="1250" b="0" i="1">
                <a:solidFill>
                  <a:srgbClr val="16130F"/>
                </a:solidFill>
                <a:latin typeface="Georgia"/>
              </a:rPr>
              <a:t>made</a:t>
            </a:r>
            <a:r>
              <a:rPr sz="1250" b="0" i="0">
                <a:solidFill>
                  <a:srgbClr val="16130F"/>
                </a:solidFill>
                <a:latin typeface="Georgia"/>
              </a:rPr>
              <a:t> the win — and no observational dataset of 1,227 matches can settle that.</a:t>
            </a:r>
          </a:p>
        </p:txBody>
      </p:sp>
      <p:sp>
        <p:nvSpPr>
          <p:cNvPr id="16" name="TextBox 15"/>
          <p:cNvSpPr txBox="1"/>
          <p:nvPr/>
        </p:nvSpPr>
        <p:spPr>
          <a:xfrm>
            <a:off x="6537960" y="3694176"/>
            <a:ext cx="4992624" cy="256032"/>
          </a:xfrm>
          <a:prstGeom prst="rect">
            <a:avLst/>
          </a:prstGeom>
          <a:noFill/>
        </p:spPr>
        <p:txBody>
          <a:bodyPr wrap="square" anchor="t" lIns="0" rIns="0" tIns="0" bIns="0">
            <a:noAutofit/>
          </a:bodyPr>
          <a:lstStyle/>
          <a:p>
            <a:pPr algn="l">
              <a:spcBef>
                <a:spcPts val="0"/>
              </a:spcBef>
              <a:spcAft>
                <a:spcPts val="0"/>
              </a:spcAft>
            </a:pPr>
            <a:r>
              <a:rPr sz="850" b="0" i="0" spc="140">
                <a:solidFill>
                  <a:srgbClr val="8C8375"/>
                </a:solidFill>
                <a:latin typeface="Consolas"/>
              </a:rPr>
              <a:t>NEXT STEPS: VENUE-NORMALISED BASELINES, A WITHIN-MATCH DESIGN, AND MIXED-EFFECTS MODELS WITH SEASON AND TEAM AS RANDOM EFFECTS.</a:t>
            </a:r>
          </a:p>
        </p:txBody>
      </p:sp>
    </p:spTree>
  </p:cSld>
  <p:clrMapOvr>
    <a:masterClrMapping/>
  </p:clrMapOvr>
  <p:transition spd="med">
    <p:push dir="u"/>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6F2E9"/>
        </a:solidFill>
        <a:effectLst/>
      </p:bgPr>
    </p:bg>
    <p:spTree>
      <p:nvGrpSpPr>
        <p:cNvPr id="1" name=""/>
        <p:cNvGrpSpPr/>
        <p:nvPr/>
      </p:nvGrpSpPr>
      <p:grpSpPr/>
      <p:sp>
        <p:nvSpPr>
          <p:cNvPr id="2" name="TextBox 1"/>
          <p:cNvSpPr txBox="1"/>
          <p:nvPr/>
        </p:nvSpPr>
        <p:spPr>
          <a:xfrm>
            <a:off x="658368" y="420624"/>
            <a:ext cx="7315200" cy="274320"/>
          </a:xfrm>
          <a:prstGeom prst="rect">
            <a:avLst/>
          </a:prstGeom>
          <a:noFill/>
        </p:spPr>
        <p:txBody>
          <a:bodyPr wrap="square" anchor="t" lIns="0" rIns="0" tIns="0" bIns="0">
            <a:noAutofit/>
          </a:bodyPr>
          <a:lstStyle/>
          <a:p>
            <a:pPr algn="l">
              <a:spcBef>
                <a:spcPts val="0"/>
              </a:spcBef>
              <a:spcAft>
                <a:spcPts val="0"/>
              </a:spcAft>
            </a:pPr>
            <a:r>
              <a:rPr sz="850" b="0" i="0" spc="150">
                <a:solidFill>
                  <a:srgbClr val="8C8375"/>
                </a:solidFill>
                <a:latin typeface="Consolas"/>
              </a:rPr>
              <a:t>THE FIRST SIX OVERS</a:t>
            </a:r>
          </a:p>
        </p:txBody>
      </p:sp>
      <p:sp>
        <p:nvSpPr>
          <p:cNvPr id="3" name="TextBox 2"/>
          <p:cNvSpPr txBox="1"/>
          <p:nvPr/>
        </p:nvSpPr>
        <p:spPr>
          <a:xfrm>
            <a:off x="8790127" y="420624"/>
            <a:ext cx="2743200" cy="274320"/>
          </a:xfrm>
          <a:prstGeom prst="rect">
            <a:avLst/>
          </a:prstGeom>
          <a:noFill/>
        </p:spPr>
        <p:txBody>
          <a:bodyPr wrap="square" anchor="t" lIns="0" rIns="0" tIns="0" bIns="0">
            <a:noAutofit/>
          </a:bodyPr>
          <a:lstStyle/>
          <a:p>
            <a:pPr algn="r">
              <a:spcBef>
                <a:spcPts val="0"/>
              </a:spcBef>
              <a:spcAft>
                <a:spcPts val="0"/>
              </a:spcAft>
            </a:pPr>
            <a:r>
              <a:rPr sz="850" b="0" i="0" spc="150">
                <a:solidFill>
                  <a:srgbClr val="8C8375"/>
                </a:solidFill>
                <a:latin typeface="Consolas"/>
              </a:rPr>
              <a:t>26 / 26</a:t>
            </a:r>
          </a:p>
        </p:txBody>
      </p:sp>
      <p:sp>
        <p:nvSpPr>
          <p:cNvPr id="4" name="Rectangle 3"/>
          <p:cNvSpPr/>
          <p:nvPr/>
        </p:nvSpPr>
        <p:spPr>
          <a:xfrm>
            <a:off x="658368" y="2011680"/>
            <a:ext cx="1051560" cy="27432"/>
          </a:xfrm>
          <a:prstGeom prst="rect">
            <a:avLst/>
          </a:prstGeom>
          <a:solidFill>
            <a:srgbClr val="161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2304288"/>
            <a:ext cx="10881360" cy="2194560"/>
          </a:xfrm>
          <a:prstGeom prst="rect">
            <a:avLst/>
          </a:prstGeom>
          <a:noFill/>
        </p:spPr>
        <p:txBody>
          <a:bodyPr wrap="square" anchor="t" lIns="0" rIns="0" tIns="0" bIns="0">
            <a:noAutofit/>
          </a:bodyPr>
          <a:lstStyle/>
          <a:p>
            <a:pPr algn="l">
              <a:lnSpc>
                <a:spcPct val="104000"/>
              </a:lnSpc>
              <a:spcBef>
                <a:spcPts val="0"/>
              </a:spcBef>
              <a:spcAft>
                <a:spcPts val="0"/>
              </a:spcAft>
            </a:pPr>
            <a:r>
              <a:rPr sz="4200" b="0" i="0" spc="-90">
                <a:solidFill>
                  <a:srgbClr val="16130F"/>
                </a:solidFill>
                <a:latin typeface="Palatino Linotype"/>
              </a:rPr>
              <a:t>The toss is a coin.</a:t>
            </a:r>
          </a:p>
          <a:p>
            <a:pPr algn="l">
              <a:lnSpc>
                <a:spcPct val="104000"/>
              </a:lnSpc>
              <a:spcBef>
                <a:spcPts val="0"/>
              </a:spcBef>
              <a:spcAft>
                <a:spcPts val="0"/>
              </a:spcAft>
            </a:pPr>
            <a:r>
              <a:rPr sz="4200" b="0" i="0" spc="-90">
                <a:solidFill>
                  <a:srgbClr val="16130F"/>
                </a:solidFill>
                <a:latin typeface="Palatino Linotype"/>
              </a:rPr>
              <a:t>The powerplay is a </a:t>
            </a:r>
            <a:r>
              <a:rPr sz="4200" b="0" i="0" spc="-90">
                <a:solidFill>
                  <a:srgbClr val="A8102F"/>
                </a:solidFill>
                <a:latin typeface="Palatino Linotype"/>
              </a:rPr>
              <a:t>signal</a:t>
            </a:r>
            <a:r>
              <a:rPr sz="4200" b="0" i="0" spc="-90">
                <a:solidFill>
                  <a:srgbClr val="16130F"/>
                </a:solidFill>
                <a:latin typeface="Palatino Linotype"/>
              </a:rPr>
              <a:t>.</a:t>
            </a:r>
          </a:p>
        </p:txBody>
      </p:sp>
      <p:sp>
        <p:nvSpPr>
          <p:cNvPr id="6" name="TextBox 5"/>
          <p:cNvSpPr txBox="1"/>
          <p:nvPr/>
        </p:nvSpPr>
        <p:spPr>
          <a:xfrm>
            <a:off x="658368" y="4315968"/>
            <a:ext cx="8595360" cy="822960"/>
          </a:xfrm>
          <a:prstGeom prst="rect">
            <a:avLst/>
          </a:prstGeom>
          <a:noFill/>
        </p:spPr>
        <p:txBody>
          <a:bodyPr wrap="square" anchor="t" lIns="0" rIns="0" tIns="0" bIns="0">
            <a:noAutofit/>
          </a:bodyPr>
          <a:lstStyle/>
          <a:p>
            <a:pPr algn="l">
              <a:lnSpc>
                <a:spcPct val="140000"/>
              </a:lnSpc>
              <a:spcBef>
                <a:spcPts val="0"/>
              </a:spcBef>
              <a:spcAft>
                <a:spcPts val="0"/>
              </a:spcAft>
            </a:pPr>
            <a:r>
              <a:rPr sz="1400" b="0" i="0">
                <a:solidFill>
                  <a:srgbClr val="16130F"/>
                </a:solidFill>
                <a:latin typeface="Georgia"/>
              </a:rPr>
              <a:t>And the sharpest part of that signal is not how fast a team scored — it is how few wickets it lost getting there.</a:t>
            </a:r>
          </a:p>
        </p:txBody>
      </p:sp>
      <p:cxnSp>
        <p:nvCxnSpPr>
          <p:cNvPr id="7" name="Connector 6"/>
          <p:cNvCxnSpPr/>
          <p:nvPr/>
        </p:nvCxnSpPr>
        <p:spPr>
          <a:xfrm>
            <a:off x="658368" y="5431536"/>
            <a:ext cx="10874959" cy="0"/>
          </a:xfrm>
          <a:prstGeom prst="line">
            <a:avLst/>
          </a:prstGeom>
          <a:ln w="9525">
            <a:solidFill>
              <a:srgbClr val="D9D1C0"/>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5577840"/>
            <a:ext cx="10874959" cy="274320"/>
          </a:xfrm>
          <a:prstGeom prst="rect">
            <a:avLst/>
          </a:prstGeom>
          <a:noFill/>
        </p:spPr>
        <p:txBody>
          <a:bodyPr wrap="square" anchor="t" lIns="0" rIns="0" tIns="0" bIns="0">
            <a:noAutofit/>
          </a:bodyPr>
          <a:lstStyle/>
          <a:p>
            <a:pPr algn="l">
              <a:spcBef>
                <a:spcPts val="0"/>
              </a:spcBef>
              <a:spcAft>
                <a:spcPts val="0"/>
              </a:spcAft>
            </a:pPr>
            <a:r>
              <a:rPr sz="850" b="0" i="0" spc="140">
                <a:solidFill>
                  <a:srgbClr val="8C8375"/>
                </a:solidFill>
                <a:latin typeface="Consolas"/>
              </a:rPr>
              <a:t>DATA · CRICSHEET BALL-BY-BALL IPL</a:t>
            </a:r>
            <a:r>
              <a:rPr sz="850" b="0" i="0">
                <a:solidFill>
                  <a:srgbClr val="D9D1C0"/>
                </a:solidFill>
                <a:latin typeface="Consolas"/>
              </a:rPr>
              <a:t>      ·      </a:t>
            </a:r>
            <a:r>
              <a:rPr sz="850" b="0" i="0" spc="140">
                <a:solidFill>
                  <a:srgbClr val="8C8375"/>
                </a:solidFill>
                <a:latin typeface="Consolas"/>
              </a:rPr>
              <a:t>1,227 MATCHES · 2,454 INNINGS</a:t>
            </a:r>
            <a:r>
              <a:rPr sz="850" b="0" i="0">
                <a:solidFill>
                  <a:srgbClr val="D9D1C0"/>
                </a:solidFill>
                <a:latin typeface="Consolas"/>
              </a:rPr>
              <a:t>      ·      </a:t>
            </a:r>
            <a:r>
              <a:rPr sz="850" b="0" i="0" spc="140">
                <a:solidFill>
                  <a:srgbClr val="8C8375"/>
                </a:solidFill>
                <a:latin typeface="Consolas"/>
              </a:rPr>
              <a:t>R · R/01_ANALYSIS.R</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First Six Overs — IPL Powerplay Study</dc:title>
  <dc:subject>Do the toss and the first six overs decide an IPL match? 1,227 matches, Cricsheet ball-by-ball data.</dc:subject>
  <dc:creator>The First Six Overs</dc:creator>
  <cp:keywords/>
  <dc:description>Editorial-themed presentation generated by tools/build_deck.py. Figures sourced from output/figures/.</dc:description>
  <cp:lastModifiedBy>Steve Canny</cp:lastModifiedBy>
  <cp:revision>1</cp:revision>
  <dcterms:created xsi:type="dcterms:W3CDTF">2013-01-27T09:14:16Z</dcterms:created>
  <dcterms:modified xsi:type="dcterms:W3CDTF">2013-01-27T09:15:58Z</dcterms:modified>
  <cp:category/>
</cp:coreProperties>
</file>